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4630400" cy="73152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PrismQuant method refinement. Conceptual schematic; scatter and bars are illustrative, not measured data.</a:t>
            </a:r>
          </a:p>
          <a:p>
            <a:r>
              <a:t>Column convention: R = H_g D Pi G, G = I - W Y^T. With Q = D Pi and G prime = Q G Q^T, the online R4 path is H_128 G prime after Q is folded into gate/up weights. Gate uses Pi only; up uses D Pi.</a:t>
            </a:r>
          </a:p>
          <a:p>
            <a:r>
              <a:t>R1 is global and shared across layers. R2 is calibrated from tokens and KV heads pooled within each layer; the same head-dimensional rotation is applied to every head in that layer. R2 inverse compensation is folded into W_O.</a:t>
            </a:r>
          </a:p>
          <a:p>
            <a:r>
              <a:t>K cache is channel-wise after RoPE; V cache is token-wise after R2. Full-precision residual-cache details are intentionally omitted.</a:t>
            </a:r>
          </a:p>
          <a:p>
            <a:r>
              <a:t>The representation panel has identical scales and max-minus-min ranges before/after subtracting the affine offset. Range reduction comes from alignment; a shared component is retained in the representation. The conceptual shared level c_j need not equal the stored minimum z_j.</a:t>
            </a:r>
          </a:p>
          <a:p>
            <a:r>
              <a:t>Operator boxes indicate mathematical order, not kernel-launch boundaries. E17 v3 computes a rank-k projection followed by transform/correction and packing. No speed claims are made.</a:t>
            </a:r>
          </a:p>
          <a:p>
            <a:r>
              <a:t>Implementation source: https://github.com/ForeverBlue816/nar-offline-validation ; checked files: nar/e14_w4a4kv4.py, nar/activation_experiments.py, nar/fold_signed_permutation.py, nar/e17_v3.py.</a:t>
            </a:r>
          </a:p>
          <a:p>
            <a:r>
              <a:t>Every diagram object and all text are native editable PowerPoint elements. Groups can be ungrouped. English and mathematical text use Times New Roman. Superscripts and subscripts are individually positioned editable text objects, preserving legibility across office renderers.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grpSp>
        <p:nvGrpSpPr>
          <p:cNvPr id="2" name="01 Transformer backbone"/>
          <p:cNvGrpSpPr/>
          <p:nvPr/>
        </p:nvGrpSpPr>
        <p:grpSpPr>
          <a:xfrm>
            <a:off x="219456" y="219456"/>
            <a:ext cx="14237208" cy="768096"/>
            <a:chOff x="219456" y="219456"/>
            <a:chExt cx="14237208" cy="768096"/>
          </a:xfrm>
        </p:grpSpPr>
        <p:sp>
          <p:nvSpPr>
            <p:cNvPr id="3" name="Text: tokens"/>
            <p:cNvSpPr txBox="1"/>
            <p:nvPr/>
          </p:nvSpPr>
          <p:spPr>
            <a:xfrm>
              <a:off x="219456" y="521207"/>
              <a:ext cx="630936" cy="320040"/>
            </a:xfrm>
            <a:prstGeom prst="rect">
              <a:avLst/>
            </a:prstGeom>
            <a:noFill/>
            <a:effectLst/>
          </p:spPr>
          <p:txBody>
            <a:bodyPr wrap="none" lIns="0" rIns="0" tIns="0" bIns="0" anchor="ctr">
              <a:noAutofit/>
            </a:bodyPr>
            <a:lstStyle/>
            <a:p>
              <a:pPr algn="l">
                <a:spcBef>
                  <a:spcPts val="0"/>
                </a:spcBef>
                <a:spcAft>
                  <a:spcPts val="0"/>
                </a:spcAft>
              </a:pPr>
              <a:r>
                <a:rPr sz="1800" b="0" i="0" baseline="0" lang="en-US" dirty="0">
                  <a:solidFill>
                    <a:srgbClr val="233E5D"/>
                  </a:solidFill>
                  <a:latin typeface="Times New Roman"/>
                  <a:ea typeface="Times New Roman"/>
                  <a:cs typeface="Times New Roman"/>
                </a:rPr>
                <a:t>tokens</a:t>
              </a:r>
            </a:p>
          </p:txBody>
        </p:sp>
        <p:cxnSp>
          <p:nvCxnSpPr>
            <p:cNvPr id="4" name="Connector 3"/>
            <p:cNvCxnSpPr/>
            <p:nvPr/>
          </p:nvCxnSpPr>
          <p:spPr>
            <a:xfrm>
              <a:off x="832104" y="694944"/>
              <a:ext cx="164592" cy="0"/>
            </a:xfrm>
            <a:prstGeom prst="line">
              <a:avLst/>
            </a:prstGeom>
            <a:ln w="15875">
              <a:solidFill>
                <a:srgbClr val="233E5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 name="Rounded Rectangle 4"/>
            <p:cNvSpPr/>
            <p:nvPr/>
          </p:nvSpPr>
          <p:spPr>
            <a:xfrm>
              <a:off x="996696" y="402336"/>
              <a:ext cx="1435608" cy="585216"/>
            </a:xfrm>
            <a:prstGeom prst="roundRect">
              <a:avLst>
                <a:gd name="adj" fmla="val 9375"/>
              </a:avLst>
            </a:prstGeom>
            <a:solidFill>
              <a:srgbClr val="F4F7ED"/>
            </a:solidFill>
            <a:ln w="12065">
              <a:solidFill>
                <a:srgbClr val="BBC6D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 Embedding"/>
            <p:cNvSpPr txBox="1"/>
            <p:nvPr/>
          </p:nvSpPr>
          <p:spPr>
            <a:xfrm>
              <a:off x="1033271" y="411480"/>
              <a:ext cx="1362456" cy="265176"/>
            </a:xfrm>
            <a:prstGeom prst="rect">
              <a:avLst/>
            </a:prstGeom>
            <a:noFill/>
            <a:effectLst/>
          </p:spPr>
          <p:txBody>
            <a:bodyPr wrap="none" lIns="0" rIns="0" tIns="0" bIns="0" anchor="ctr">
              <a:noAutofit/>
            </a:bodyPr>
            <a:lstStyle/>
            <a:p>
              <a:pPr algn="ctr">
                <a:spcBef>
                  <a:spcPts val="0"/>
                </a:spcBef>
                <a:spcAft>
                  <a:spcPts val="0"/>
                </a:spcAft>
              </a:pPr>
              <a:r>
                <a:rPr sz="1872" b="0" i="0" baseline="0" lang="en-US" dirty="0">
                  <a:solidFill>
                    <a:srgbClr val="233E5D"/>
                  </a:solidFill>
                  <a:latin typeface="Times New Roman"/>
                  <a:ea typeface="Times New Roman"/>
                  <a:cs typeface="Times New Roman"/>
                </a:rPr>
                <a:t>Embedding</a:t>
              </a:r>
            </a:p>
          </p:txBody>
        </p:sp>
        <p:sp>
          <p:nvSpPr>
            <p:cNvPr id="7" name="Text: R"/>
            <p:cNvSpPr txBox="1"/>
            <p:nvPr/>
          </p:nvSpPr>
          <p:spPr>
            <a:xfrm>
              <a:off x="1314485" y="710488"/>
              <a:ext cx="136595" cy="210312"/>
            </a:xfrm>
            <a:prstGeom prst="rect">
              <a:avLst/>
            </a:prstGeom>
            <a:noFill/>
            <a:effectLst/>
          </p:spPr>
          <p:txBody>
            <a:bodyPr wrap="none" lIns="0" rIns="0" tIns="0" bIns="0" anchor="ctr">
              <a:noAutofit/>
            </a:bodyPr>
            <a:lstStyle/>
            <a:p>
              <a:pPr algn="l">
                <a:spcBef>
                  <a:spcPts val="0"/>
                </a:spcBef>
                <a:spcAft>
                  <a:spcPts val="0"/>
                </a:spcAft>
              </a:pPr>
              <a:r>
                <a:rPr sz="1584" b="0" i="1" baseline="0" lang="en-US" dirty="0">
                  <a:solidFill>
                    <a:srgbClr val="644A86"/>
                  </a:solidFill>
                  <a:latin typeface="Times New Roman"/>
                  <a:ea typeface="Times New Roman"/>
                  <a:cs typeface="Times New Roman"/>
                </a:rPr>
                <a:t>R</a:t>
              </a:r>
            </a:p>
          </p:txBody>
        </p:sp>
        <p:sp>
          <p:nvSpPr>
            <p:cNvPr id="8" name="Text: 1"/>
            <p:cNvSpPr txBox="1"/>
            <p:nvPr/>
          </p:nvSpPr>
          <p:spPr>
            <a:xfrm>
              <a:off x="1473941" y="775264"/>
              <a:ext cx="126644" cy="210312"/>
            </a:xfrm>
            <a:prstGeom prst="rect">
              <a:avLst/>
            </a:prstGeom>
            <a:noFill/>
            <a:effectLst/>
          </p:spPr>
          <p:txBody>
            <a:bodyPr wrap="none" lIns="0" rIns="0" tIns="0" bIns="0" anchor="ctr">
              <a:noAutofit/>
            </a:bodyPr>
            <a:lstStyle/>
            <a:p>
              <a:pPr algn="l">
                <a:spcBef>
                  <a:spcPts val="0"/>
                </a:spcBef>
                <a:spcAft>
                  <a:spcPts val="0"/>
                </a:spcAft>
              </a:pPr>
              <a:r>
                <a:rPr sz="1203" b="0" i="0" baseline="0" lang="en-US" dirty="0">
                  <a:solidFill>
                    <a:srgbClr val="644A86"/>
                  </a:solidFill>
                  <a:latin typeface="Times New Roman"/>
                  <a:ea typeface="Times New Roman"/>
                  <a:cs typeface="Times New Roman"/>
                </a:rPr>
                <a:t>1</a:t>
              </a:r>
            </a:p>
          </p:txBody>
        </p:sp>
        <p:sp>
          <p:nvSpPr>
            <p:cNvPr id="9" name="Text:  "/>
            <p:cNvSpPr txBox="1"/>
            <p:nvPr/>
          </p:nvSpPr>
          <p:spPr>
            <a:xfrm>
              <a:off x="1550293" y="710488"/>
              <a:ext cx="64008" cy="210312"/>
            </a:xfrm>
            <a:prstGeom prst="rect">
              <a:avLst/>
            </a:prstGeom>
            <a:noFill/>
            <a:effectLst/>
          </p:spPr>
          <p:txBody>
            <a:bodyPr wrap="none" lIns="0" rIns="0" tIns="0" bIns="0" anchor="ctr">
              <a:noAutofit/>
            </a:bodyPr>
            <a:lstStyle/>
            <a:p>
              <a:pPr algn="l">
                <a:spcBef>
                  <a:spcPts val="0"/>
                </a:spcBef>
                <a:spcAft>
                  <a:spcPts val="0"/>
                </a:spcAft>
              </a:pPr>
              <a:r>
                <a:rPr sz="1584" b="0" i="1" baseline="0" lang="en-US" dirty="0">
                  <a:solidFill>
                    <a:srgbClr val="644A86"/>
                  </a:solidFill>
                  <a:latin typeface="Times New Roman"/>
                  <a:ea typeface="Times New Roman"/>
                  <a:cs typeface="Times New Roman"/>
                </a:rPr>
                <a:t> </a:t>
              </a:r>
            </a:p>
          </p:txBody>
        </p:sp>
        <p:sp>
          <p:nvSpPr>
            <p:cNvPr id="10" name="Text: folded"/>
            <p:cNvSpPr txBox="1"/>
            <p:nvPr/>
          </p:nvSpPr>
          <p:spPr>
            <a:xfrm>
              <a:off x="1600585" y="710488"/>
              <a:ext cx="527644" cy="210312"/>
            </a:xfrm>
            <a:prstGeom prst="rect">
              <a:avLst/>
            </a:prstGeom>
            <a:noFill/>
            <a:effectLst/>
          </p:spPr>
          <p:txBody>
            <a:bodyPr wrap="none" lIns="0" rIns="0" tIns="0" bIns="0" anchor="ctr">
              <a:noAutofit/>
            </a:bodyPr>
            <a:lstStyle/>
            <a:p>
              <a:pPr algn="l">
                <a:spcBef>
                  <a:spcPts val="0"/>
                </a:spcBef>
                <a:spcAft>
                  <a:spcPts val="0"/>
                </a:spcAft>
              </a:pPr>
              <a:r>
                <a:rPr sz="1584" b="0" i="0" baseline="0" lang="en-US" dirty="0">
                  <a:solidFill>
                    <a:srgbClr val="644A86"/>
                  </a:solidFill>
                  <a:latin typeface="Times New Roman"/>
                  <a:ea typeface="Times New Roman"/>
                  <a:cs typeface="Times New Roman"/>
                </a:rPr>
                <a:t>folded</a:t>
              </a:r>
            </a:p>
          </p:txBody>
        </p:sp>
        <p:sp>
          <p:nvSpPr>
            <p:cNvPr id="11" name="Rounded Rectangle 10"/>
            <p:cNvSpPr/>
            <p:nvPr/>
          </p:nvSpPr>
          <p:spPr>
            <a:xfrm>
              <a:off x="2706624" y="484632"/>
              <a:ext cx="1051560" cy="420624"/>
            </a:xfrm>
            <a:prstGeom prst="roundRect">
              <a:avLst>
                <a:gd name="adj" fmla="val 10869"/>
              </a:avLst>
            </a:prstGeom>
            <a:solidFill>
              <a:srgbClr val="FFFFFF"/>
            </a:solidFill>
            <a:ln w="12065">
              <a:solidFill>
                <a:srgbClr val="BBC6D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 RMSNorm"/>
            <p:cNvSpPr txBox="1"/>
            <p:nvPr/>
          </p:nvSpPr>
          <p:spPr>
            <a:xfrm>
              <a:off x="2734056" y="493776"/>
              <a:ext cx="996696" cy="402336"/>
            </a:xfrm>
            <a:prstGeom prst="rect">
              <a:avLst/>
            </a:prstGeom>
            <a:noFill/>
            <a:effectLst/>
          </p:spPr>
          <p:txBody>
            <a:bodyPr wrap="none" lIns="0" rIns="0" tIns="0" bIns="0" anchor="ctr">
              <a:noAutofit/>
            </a:bodyPr>
            <a:lstStyle/>
            <a:p>
              <a:pPr algn="ctr">
                <a:spcBef>
                  <a:spcPts val="0"/>
                </a:spcBef>
                <a:spcAft>
                  <a:spcPts val="0"/>
                </a:spcAft>
              </a:pPr>
              <a:r>
                <a:rPr sz="1728" b="0" i="0" baseline="0" lang="en-US" dirty="0">
                  <a:solidFill>
                    <a:srgbClr val="233E5D"/>
                  </a:solidFill>
                  <a:latin typeface="Times New Roman"/>
                  <a:ea typeface="Times New Roman"/>
                  <a:cs typeface="Times New Roman"/>
                </a:rPr>
                <a:t>RMSNorm</a:t>
              </a:r>
            </a:p>
          </p:txBody>
        </p:sp>
        <p:sp>
          <p:nvSpPr>
            <p:cNvPr id="13" name="Rounded Rectangle 12"/>
            <p:cNvSpPr/>
            <p:nvPr/>
          </p:nvSpPr>
          <p:spPr>
            <a:xfrm>
              <a:off x="6537960" y="484632"/>
              <a:ext cx="1051560" cy="420624"/>
            </a:xfrm>
            <a:prstGeom prst="roundRect">
              <a:avLst>
                <a:gd name="adj" fmla="val 10869"/>
              </a:avLst>
            </a:prstGeom>
            <a:solidFill>
              <a:srgbClr val="FFFFFF"/>
            </a:solidFill>
            <a:ln w="12065">
              <a:solidFill>
                <a:srgbClr val="BBC6D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 RMSNorm"/>
            <p:cNvSpPr txBox="1"/>
            <p:nvPr/>
          </p:nvSpPr>
          <p:spPr>
            <a:xfrm>
              <a:off x="6565392" y="493776"/>
              <a:ext cx="996696" cy="402336"/>
            </a:xfrm>
            <a:prstGeom prst="rect">
              <a:avLst/>
            </a:prstGeom>
            <a:noFill/>
            <a:effectLst/>
          </p:spPr>
          <p:txBody>
            <a:bodyPr wrap="none" lIns="0" rIns="0" tIns="0" bIns="0" anchor="ctr">
              <a:noAutofit/>
            </a:bodyPr>
            <a:lstStyle/>
            <a:p>
              <a:pPr algn="ctr">
                <a:spcBef>
                  <a:spcPts val="0"/>
                </a:spcBef>
                <a:spcAft>
                  <a:spcPts val="0"/>
                </a:spcAft>
              </a:pPr>
              <a:r>
                <a:rPr sz="1728" b="0" i="0" baseline="0" lang="en-US" dirty="0">
                  <a:solidFill>
                    <a:srgbClr val="233E5D"/>
                  </a:solidFill>
                  <a:latin typeface="Times New Roman"/>
                  <a:ea typeface="Times New Roman"/>
                  <a:cs typeface="Times New Roman"/>
                </a:rPr>
                <a:t>RMSNorm</a:t>
              </a:r>
            </a:p>
          </p:txBody>
        </p:sp>
        <p:sp>
          <p:nvSpPr>
            <p:cNvPr id="15" name="Rounded Rectangle 14"/>
            <p:cNvSpPr/>
            <p:nvPr/>
          </p:nvSpPr>
          <p:spPr>
            <a:xfrm>
              <a:off x="10351008" y="484632"/>
              <a:ext cx="1051560" cy="420624"/>
            </a:xfrm>
            <a:prstGeom prst="roundRect">
              <a:avLst>
                <a:gd name="adj" fmla="val 10869"/>
              </a:avLst>
            </a:prstGeom>
            <a:solidFill>
              <a:srgbClr val="FFFFFF"/>
            </a:solidFill>
            <a:ln w="12065">
              <a:solidFill>
                <a:srgbClr val="BBC6D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 RMSNorm"/>
            <p:cNvSpPr txBox="1"/>
            <p:nvPr/>
          </p:nvSpPr>
          <p:spPr>
            <a:xfrm>
              <a:off x="10378440" y="493776"/>
              <a:ext cx="996696" cy="402336"/>
            </a:xfrm>
            <a:prstGeom prst="rect">
              <a:avLst/>
            </a:prstGeom>
            <a:noFill/>
            <a:effectLst/>
          </p:spPr>
          <p:txBody>
            <a:bodyPr wrap="none" lIns="0" rIns="0" tIns="0" bIns="0" anchor="ctr">
              <a:noAutofit/>
            </a:bodyPr>
            <a:lstStyle/>
            <a:p>
              <a:pPr algn="ctr">
                <a:spcBef>
                  <a:spcPts val="0"/>
                </a:spcBef>
                <a:spcAft>
                  <a:spcPts val="0"/>
                </a:spcAft>
              </a:pPr>
              <a:r>
                <a:rPr sz="1728" b="0" i="0" baseline="0" lang="en-US" dirty="0">
                  <a:solidFill>
                    <a:srgbClr val="233E5D"/>
                  </a:solidFill>
                  <a:latin typeface="Times New Roman"/>
                  <a:ea typeface="Times New Roman"/>
                  <a:cs typeface="Times New Roman"/>
                </a:rPr>
                <a:t>RMSNorm</a:t>
              </a:r>
            </a:p>
          </p:txBody>
        </p:sp>
        <p:sp>
          <p:nvSpPr>
            <p:cNvPr id="17" name="Rounded Rectangle 16"/>
            <p:cNvSpPr/>
            <p:nvPr/>
          </p:nvSpPr>
          <p:spPr>
            <a:xfrm>
              <a:off x="4041648" y="484632"/>
              <a:ext cx="1572768" cy="420624"/>
            </a:xfrm>
            <a:prstGeom prst="roundRect">
              <a:avLst>
                <a:gd name="adj" fmla="val 10869"/>
              </a:avLst>
            </a:prstGeom>
            <a:solidFill>
              <a:srgbClr val="F3F5F8"/>
            </a:solidFill>
            <a:ln w="12065">
              <a:solidFill>
                <a:srgbClr val="BBC6D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 Attention (a)"/>
            <p:cNvSpPr txBox="1"/>
            <p:nvPr/>
          </p:nvSpPr>
          <p:spPr>
            <a:xfrm>
              <a:off x="4069080" y="493776"/>
              <a:ext cx="1517904" cy="402336"/>
            </a:xfrm>
            <a:prstGeom prst="rect">
              <a:avLst/>
            </a:prstGeom>
            <a:noFill/>
            <a:effectLst/>
          </p:spPr>
          <p:txBody>
            <a:bodyPr wrap="none" lIns="0" rIns="0" tIns="0" bIns="0" anchor="ctr">
              <a:noAutofit/>
            </a:bodyPr>
            <a:lstStyle/>
            <a:p>
              <a:pPr algn="ctr">
                <a:spcBef>
                  <a:spcPts val="0"/>
                </a:spcBef>
                <a:spcAft>
                  <a:spcPts val="0"/>
                </a:spcAft>
              </a:pPr>
              <a:r>
                <a:rPr sz="1943" b="0" i="0" baseline="0" lang="en-US" dirty="0">
                  <a:solidFill>
                    <a:srgbClr val="233E5D"/>
                  </a:solidFill>
                  <a:latin typeface="Times New Roman"/>
                  <a:ea typeface="Times New Roman"/>
                  <a:cs typeface="Times New Roman"/>
                </a:rPr>
                <a:t>Attention (a)</a:t>
              </a:r>
            </a:p>
          </p:txBody>
        </p:sp>
        <p:sp>
          <p:nvSpPr>
            <p:cNvPr id="19" name="Rounded Rectangle 18"/>
            <p:cNvSpPr/>
            <p:nvPr/>
          </p:nvSpPr>
          <p:spPr>
            <a:xfrm>
              <a:off x="7872983" y="484632"/>
              <a:ext cx="1572768" cy="420624"/>
            </a:xfrm>
            <a:prstGeom prst="roundRect">
              <a:avLst>
                <a:gd name="adj" fmla="val 10869"/>
              </a:avLst>
            </a:prstGeom>
            <a:solidFill>
              <a:srgbClr val="F3F5F8"/>
            </a:solidFill>
            <a:ln w="12065">
              <a:solidFill>
                <a:srgbClr val="BBC6D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 FFN (b)"/>
            <p:cNvSpPr txBox="1"/>
            <p:nvPr/>
          </p:nvSpPr>
          <p:spPr>
            <a:xfrm>
              <a:off x="7900416" y="493776"/>
              <a:ext cx="1517904" cy="402336"/>
            </a:xfrm>
            <a:prstGeom prst="rect">
              <a:avLst/>
            </a:prstGeom>
            <a:noFill/>
            <a:effectLst/>
          </p:spPr>
          <p:txBody>
            <a:bodyPr wrap="none" lIns="0" rIns="0" tIns="0" bIns="0" anchor="ctr">
              <a:noAutofit/>
            </a:bodyPr>
            <a:lstStyle/>
            <a:p>
              <a:pPr algn="ctr">
                <a:spcBef>
                  <a:spcPts val="0"/>
                </a:spcBef>
                <a:spcAft>
                  <a:spcPts val="0"/>
                </a:spcAft>
              </a:pPr>
              <a:r>
                <a:rPr sz="1943" b="0" i="0" baseline="0" lang="en-US" dirty="0">
                  <a:solidFill>
                    <a:srgbClr val="233E5D"/>
                  </a:solidFill>
                  <a:latin typeface="Times New Roman"/>
                  <a:ea typeface="Times New Roman"/>
                  <a:cs typeface="Times New Roman"/>
                </a:rPr>
                <a:t>FFN (b)</a:t>
              </a:r>
            </a:p>
          </p:txBody>
        </p:sp>
        <p:sp>
          <p:nvSpPr>
            <p:cNvPr id="21" name="Oval 20"/>
            <p:cNvSpPr/>
            <p:nvPr/>
          </p:nvSpPr>
          <p:spPr>
            <a:xfrm>
              <a:off x="5943600" y="548640"/>
              <a:ext cx="292608" cy="292608"/>
            </a:xfrm>
            <a:prstGeom prst="ellipse">
              <a:avLst/>
            </a:prstGeom>
            <a:solidFill>
              <a:srgbClr val="FFFFFF"/>
            </a:solidFill>
            <a:ln w="15240">
              <a:solidFill>
                <a:srgbClr val="233E5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2" name="Connector 21"/>
            <p:cNvCxnSpPr/>
            <p:nvPr/>
          </p:nvCxnSpPr>
          <p:spPr>
            <a:xfrm>
              <a:off x="6025896" y="694944"/>
              <a:ext cx="128016" cy="0"/>
            </a:xfrm>
            <a:prstGeom prst="line">
              <a:avLst/>
            </a:prstGeom>
            <a:ln w="13335">
              <a:solidFill>
                <a:srgbClr val="233E5D"/>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a:off x="6089904" y="630936"/>
              <a:ext cx="0" cy="128016"/>
            </a:xfrm>
            <a:prstGeom prst="line">
              <a:avLst/>
            </a:prstGeom>
            <a:ln w="13335">
              <a:solidFill>
                <a:srgbClr val="233E5D"/>
              </a:solidFill>
            </a:ln>
            <a:effectLst/>
          </p:spPr>
          <p:style>
            <a:lnRef idx="2">
              <a:schemeClr val="accent1"/>
            </a:lnRef>
            <a:fillRef idx="0">
              <a:schemeClr val="accent1"/>
            </a:fillRef>
            <a:effectRef idx="0">
              <a:schemeClr val="accent1"/>
            </a:effectRef>
            <a:fontRef idx="minor">
              <a:schemeClr val="tx1"/>
            </a:fontRef>
          </p:style>
        </p:cxnSp>
        <p:sp>
          <p:nvSpPr>
            <p:cNvPr id="24" name="Oval 23"/>
            <p:cNvSpPr/>
            <p:nvPr/>
          </p:nvSpPr>
          <p:spPr>
            <a:xfrm>
              <a:off x="9756648" y="548640"/>
              <a:ext cx="292608" cy="292608"/>
            </a:xfrm>
            <a:prstGeom prst="ellipse">
              <a:avLst/>
            </a:prstGeom>
            <a:solidFill>
              <a:srgbClr val="FFFFFF"/>
            </a:solidFill>
            <a:ln w="15240">
              <a:solidFill>
                <a:srgbClr val="233E5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5" name="Connector 24"/>
            <p:cNvCxnSpPr/>
            <p:nvPr/>
          </p:nvCxnSpPr>
          <p:spPr>
            <a:xfrm>
              <a:off x="9838944" y="694944"/>
              <a:ext cx="128016" cy="0"/>
            </a:xfrm>
            <a:prstGeom prst="line">
              <a:avLst/>
            </a:prstGeom>
            <a:ln w="13335">
              <a:solidFill>
                <a:srgbClr val="233E5D"/>
              </a:solidFill>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a:off x="9902952" y="630936"/>
              <a:ext cx="0" cy="128016"/>
            </a:xfrm>
            <a:prstGeom prst="line">
              <a:avLst/>
            </a:prstGeom>
            <a:ln w="13335">
              <a:solidFill>
                <a:srgbClr val="233E5D"/>
              </a:solidFill>
            </a:ln>
            <a:effectLst/>
          </p:spPr>
          <p:style>
            <a:lnRef idx="2">
              <a:schemeClr val="accent1"/>
            </a:lnRef>
            <a:fillRef idx="0">
              <a:schemeClr val="accent1"/>
            </a:fillRef>
            <a:effectRef idx="0">
              <a:schemeClr val="accent1"/>
            </a:effectRef>
            <a:fontRef idx="minor">
              <a:schemeClr val="tx1"/>
            </a:fontRef>
          </p:style>
        </p:cxnSp>
        <p:sp>
          <p:nvSpPr>
            <p:cNvPr id="27" name="Rounded Rectangle 26"/>
            <p:cNvSpPr/>
            <p:nvPr/>
          </p:nvSpPr>
          <p:spPr>
            <a:xfrm>
              <a:off x="11686032" y="402336"/>
              <a:ext cx="1938528" cy="585216"/>
            </a:xfrm>
            <a:prstGeom prst="roundRect">
              <a:avLst>
                <a:gd name="adj" fmla="val 9375"/>
              </a:avLst>
            </a:prstGeom>
            <a:solidFill>
              <a:srgbClr val="F4F7ED"/>
            </a:solidFill>
            <a:ln w="12065">
              <a:solidFill>
                <a:srgbClr val="BBC6D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 Output head"/>
            <p:cNvSpPr txBox="1"/>
            <p:nvPr/>
          </p:nvSpPr>
          <p:spPr>
            <a:xfrm>
              <a:off x="11722608" y="411480"/>
              <a:ext cx="1865376" cy="265176"/>
            </a:xfrm>
            <a:prstGeom prst="rect">
              <a:avLst/>
            </a:prstGeom>
            <a:noFill/>
            <a:effectLst/>
          </p:spPr>
          <p:txBody>
            <a:bodyPr wrap="none" lIns="0" rIns="0" tIns="0" bIns="0" anchor="ctr">
              <a:noAutofit/>
            </a:bodyPr>
            <a:lstStyle/>
            <a:p>
              <a:pPr algn="ctr">
                <a:spcBef>
                  <a:spcPts val="0"/>
                </a:spcBef>
                <a:spcAft>
                  <a:spcPts val="0"/>
                </a:spcAft>
              </a:pPr>
              <a:r>
                <a:rPr sz="1872" b="0" i="0" baseline="0" lang="en-US" dirty="0">
                  <a:solidFill>
                    <a:srgbClr val="233E5D"/>
                  </a:solidFill>
                  <a:latin typeface="Times New Roman"/>
                  <a:ea typeface="Times New Roman"/>
                  <a:cs typeface="Times New Roman"/>
                </a:rPr>
                <a:t>Output head</a:t>
              </a:r>
            </a:p>
          </p:txBody>
        </p:sp>
        <p:sp>
          <p:nvSpPr>
            <p:cNvPr id="29" name="Text: R"/>
            <p:cNvSpPr txBox="1"/>
            <p:nvPr/>
          </p:nvSpPr>
          <p:spPr>
            <a:xfrm>
              <a:off x="12246819" y="710488"/>
              <a:ext cx="136595" cy="210312"/>
            </a:xfrm>
            <a:prstGeom prst="rect">
              <a:avLst/>
            </a:prstGeom>
            <a:noFill/>
            <a:effectLst/>
          </p:spPr>
          <p:txBody>
            <a:bodyPr wrap="none" lIns="0" rIns="0" tIns="0" bIns="0" anchor="ctr">
              <a:noAutofit/>
            </a:bodyPr>
            <a:lstStyle/>
            <a:p>
              <a:pPr algn="l">
                <a:spcBef>
                  <a:spcPts val="0"/>
                </a:spcBef>
                <a:spcAft>
                  <a:spcPts val="0"/>
                </a:spcAft>
              </a:pPr>
              <a:r>
                <a:rPr sz="1584" b="0" i="1" baseline="0" lang="en-US" dirty="0">
                  <a:solidFill>
                    <a:srgbClr val="644A86"/>
                  </a:solidFill>
                  <a:latin typeface="Times New Roman"/>
                  <a:ea typeface="Times New Roman"/>
                  <a:cs typeface="Times New Roman"/>
                </a:rPr>
                <a:t>R</a:t>
              </a:r>
            </a:p>
          </p:txBody>
        </p:sp>
        <p:sp>
          <p:nvSpPr>
            <p:cNvPr id="30" name="Text: 1"/>
            <p:cNvSpPr txBox="1"/>
            <p:nvPr/>
          </p:nvSpPr>
          <p:spPr>
            <a:xfrm>
              <a:off x="12406275" y="775264"/>
              <a:ext cx="143567" cy="210312"/>
            </a:xfrm>
            <a:prstGeom prst="rect">
              <a:avLst/>
            </a:prstGeom>
            <a:noFill/>
            <a:effectLst/>
          </p:spPr>
          <p:txBody>
            <a:bodyPr wrap="none" lIns="0" rIns="0" tIns="0" bIns="0" anchor="ctr">
              <a:noAutofit/>
            </a:bodyPr>
            <a:lstStyle/>
            <a:p>
              <a:pPr algn="l">
                <a:spcBef>
                  <a:spcPts val="0"/>
                </a:spcBef>
                <a:spcAft>
                  <a:spcPts val="0"/>
                </a:spcAft>
              </a:pPr>
              <a:r>
                <a:rPr sz="1203" b="0" i="0" baseline="0" lang="en-US" dirty="0">
                  <a:solidFill>
                    <a:srgbClr val="644A86"/>
                  </a:solidFill>
                  <a:latin typeface="Times New Roman"/>
                  <a:ea typeface="Times New Roman"/>
                  <a:cs typeface="Times New Roman"/>
                </a:rPr>
                <a:t>1</a:t>
              </a:r>
            </a:p>
          </p:txBody>
        </p:sp>
        <p:sp>
          <p:nvSpPr>
            <p:cNvPr id="31" name="Text: T"/>
            <p:cNvSpPr txBox="1"/>
            <p:nvPr/>
          </p:nvSpPr>
          <p:spPr>
            <a:xfrm>
              <a:off x="12406275" y="654564"/>
              <a:ext cx="143567" cy="210312"/>
            </a:xfrm>
            <a:prstGeom prst="rect">
              <a:avLst/>
            </a:prstGeom>
            <a:noFill/>
            <a:effectLst/>
          </p:spPr>
          <p:txBody>
            <a:bodyPr wrap="none" lIns="0" rIns="0" tIns="0" bIns="0" anchor="ctr">
              <a:noAutofit/>
            </a:bodyPr>
            <a:lstStyle/>
            <a:p>
              <a:pPr algn="l">
                <a:spcBef>
                  <a:spcPts val="0"/>
                </a:spcBef>
                <a:spcAft>
                  <a:spcPts val="0"/>
                </a:spcAft>
              </a:pPr>
              <a:r>
                <a:rPr sz="1203" b="0" i="0" baseline="0" lang="en-US" dirty="0">
                  <a:solidFill>
                    <a:srgbClr val="644A86"/>
                  </a:solidFill>
                  <a:latin typeface="Times New Roman"/>
                  <a:ea typeface="Times New Roman"/>
                  <a:cs typeface="Times New Roman"/>
                </a:rPr>
                <a:t>T</a:t>
              </a:r>
            </a:p>
          </p:txBody>
        </p:sp>
        <p:sp>
          <p:nvSpPr>
            <p:cNvPr id="32" name="Text:  "/>
            <p:cNvSpPr txBox="1"/>
            <p:nvPr/>
          </p:nvSpPr>
          <p:spPr>
            <a:xfrm>
              <a:off x="12499551" y="710488"/>
              <a:ext cx="64008" cy="210312"/>
            </a:xfrm>
            <a:prstGeom prst="rect">
              <a:avLst/>
            </a:prstGeom>
            <a:noFill/>
            <a:effectLst/>
          </p:spPr>
          <p:txBody>
            <a:bodyPr wrap="none" lIns="0" rIns="0" tIns="0" bIns="0" anchor="ctr">
              <a:noAutofit/>
            </a:bodyPr>
            <a:lstStyle/>
            <a:p>
              <a:pPr algn="l">
                <a:spcBef>
                  <a:spcPts val="0"/>
                </a:spcBef>
                <a:spcAft>
                  <a:spcPts val="0"/>
                </a:spcAft>
              </a:pPr>
              <a:r>
                <a:rPr sz="1584" b="0" i="1" baseline="0" lang="en-US" dirty="0">
                  <a:solidFill>
                    <a:srgbClr val="644A86"/>
                  </a:solidFill>
                  <a:latin typeface="Times New Roman"/>
                  <a:ea typeface="Times New Roman"/>
                  <a:cs typeface="Times New Roman"/>
                </a:rPr>
                <a:t> </a:t>
              </a:r>
            </a:p>
          </p:txBody>
        </p:sp>
        <p:sp>
          <p:nvSpPr>
            <p:cNvPr id="33" name="Text: folded"/>
            <p:cNvSpPr txBox="1"/>
            <p:nvPr/>
          </p:nvSpPr>
          <p:spPr>
            <a:xfrm>
              <a:off x="12549843" y="710488"/>
              <a:ext cx="527644" cy="210312"/>
            </a:xfrm>
            <a:prstGeom prst="rect">
              <a:avLst/>
            </a:prstGeom>
            <a:noFill/>
            <a:effectLst/>
          </p:spPr>
          <p:txBody>
            <a:bodyPr wrap="none" lIns="0" rIns="0" tIns="0" bIns="0" anchor="ctr">
              <a:noAutofit/>
            </a:bodyPr>
            <a:lstStyle/>
            <a:p>
              <a:pPr algn="l">
                <a:spcBef>
                  <a:spcPts val="0"/>
                </a:spcBef>
                <a:spcAft>
                  <a:spcPts val="0"/>
                </a:spcAft>
              </a:pPr>
              <a:r>
                <a:rPr sz="1584" b="0" i="0" baseline="0" lang="en-US" dirty="0">
                  <a:solidFill>
                    <a:srgbClr val="644A86"/>
                  </a:solidFill>
                  <a:latin typeface="Times New Roman"/>
                  <a:ea typeface="Times New Roman"/>
                  <a:cs typeface="Times New Roman"/>
                </a:rPr>
                <a:t>folded</a:t>
              </a:r>
            </a:p>
          </p:txBody>
        </p:sp>
        <p:sp>
          <p:nvSpPr>
            <p:cNvPr id="34" name="Text: logits"/>
            <p:cNvSpPr txBox="1"/>
            <p:nvPr/>
          </p:nvSpPr>
          <p:spPr>
            <a:xfrm>
              <a:off x="13862304" y="521207"/>
              <a:ext cx="594360" cy="320040"/>
            </a:xfrm>
            <a:prstGeom prst="rect">
              <a:avLst/>
            </a:prstGeom>
            <a:noFill/>
            <a:effectLst/>
          </p:spPr>
          <p:txBody>
            <a:bodyPr wrap="none" lIns="0" rIns="0" tIns="0" bIns="0" anchor="ctr">
              <a:noAutofit/>
            </a:bodyPr>
            <a:lstStyle/>
            <a:p>
              <a:pPr algn="l">
                <a:spcBef>
                  <a:spcPts val="0"/>
                </a:spcBef>
                <a:spcAft>
                  <a:spcPts val="0"/>
                </a:spcAft>
              </a:pPr>
              <a:r>
                <a:rPr sz="1800" b="0" i="0" baseline="0" lang="en-US" dirty="0">
                  <a:solidFill>
                    <a:srgbClr val="233E5D"/>
                  </a:solidFill>
                  <a:latin typeface="Times New Roman"/>
                  <a:ea typeface="Times New Roman"/>
                  <a:cs typeface="Times New Roman"/>
                </a:rPr>
                <a:t>logits</a:t>
              </a:r>
            </a:p>
          </p:txBody>
        </p:sp>
        <p:cxnSp>
          <p:nvCxnSpPr>
            <p:cNvPr id="35" name="Connector 34"/>
            <p:cNvCxnSpPr/>
            <p:nvPr/>
          </p:nvCxnSpPr>
          <p:spPr>
            <a:xfrm>
              <a:off x="2432304" y="694944"/>
              <a:ext cx="301752" cy="0"/>
            </a:xfrm>
            <a:prstGeom prst="line">
              <a:avLst/>
            </a:prstGeom>
            <a:ln w="15875">
              <a:solidFill>
                <a:srgbClr val="233E5D"/>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36" name="Connector 35"/>
            <p:cNvCxnSpPr/>
            <p:nvPr/>
          </p:nvCxnSpPr>
          <p:spPr>
            <a:xfrm>
              <a:off x="3730752" y="694944"/>
              <a:ext cx="310896" cy="0"/>
            </a:xfrm>
            <a:prstGeom prst="line">
              <a:avLst/>
            </a:prstGeom>
            <a:ln w="15875">
              <a:solidFill>
                <a:srgbClr val="233E5D"/>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37" name="Connector 36"/>
            <p:cNvCxnSpPr/>
            <p:nvPr/>
          </p:nvCxnSpPr>
          <p:spPr>
            <a:xfrm>
              <a:off x="5614416" y="694944"/>
              <a:ext cx="329184" cy="0"/>
            </a:xfrm>
            <a:prstGeom prst="line">
              <a:avLst/>
            </a:prstGeom>
            <a:ln w="15875">
              <a:solidFill>
                <a:srgbClr val="233E5D"/>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38" name="Connector 37"/>
            <p:cNvCxnSpPr/>
            <p:nvPr/>
          </p:nvCxnSpPr>
          <p:spPr>
            <a:xfrm>
              <a:off x="6236208" y="694944"/>
              <a:ext cx="329184" cy="0"/>
            </a:xfrm>
            <a:prstGeom prst="line">
              <a:avLst/>
            </a:prstGeom>
            <a:ln w="15875">
              <a:solidFill>
                <a:srgbClr val="233E5D"/>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39" name="Connector 38"/>
            <p:cNvCxnSpPr/>
            <p:nvPr/>
          </p:nvCxnSpPr>
          <p:spPr>
            <a:xfrm>
              <a:off x="7562088" y="694944"/>
              <a:ext cx="310895" cy="0"/>
            </a:xfrm>
            <a:prstGeom prst="line">
              <a:avLst/>
            </a:prstGeom>
            <a:ln w="15875">
              <a:solidFill>
                <a:srgbClr val="233E5D"/>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40" name="Connector 39"/>
            <p:cNvCxnSpPr/>
            <p:nvPr/>
          </p:nvCxnSpPr>
          <p:spPr>
            <a:xfrm>
              <a:off x="9445752" y="694944"/>
              <a:ext cx="310896" cy="0"/>
            </a:xfrm>
            <a:prstGeom prst="line">
              <a:avLst/>
            </a:prstGeom>
            <a:ln w="15875">
              <a:solidFill>
                <a:srgbClr val="233E5D"/>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41" name="Connector 40"/>
            <p:cNvCxnSpPr/>
            <p:nvPr/>
          </p:nvCxnSpPr>
          <p:spPr>
            <a:xfrm>
              <a:off x="10049256" y="694944"/>
              <a:ext cx="329184" cy="0"/>
            </a:xfrm>
            <a:prstGeom prst="line">
              <a:avLst/>
            </a:prstGeom>
            <a:ln w="15875">
              <a:solidFill>
                <a:srgbClr val="233E5D"/>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42" name="Connector 41"/>
            <p:cNvCxnSpPr/>
            <p:nvPr/>
          </p:nvCxnSpPr>
          <p:spPr>
            <a:xfrm>
              <a:off x="11375136" y="694944"/>
              <a:ext cx="310896" cy="0"/>
            </a:xfrm>
            <a:prstGeom prst="line">
              <a:avLst/>
            </a:prstGeom>
            <a:ln w="15875">
              <a:solidFill>
                <a:srgbClr val="233E5D"/>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43" name="Connector 42"/>
            <p:cNvCxnSpPr/>
            <p:nvPr/>
          </p:nvCxnSpPr>
          <p:spPr>
            <a:xfrm>
              <a:off x="13624560" y="694944"/>
              <a:ext cx="228600" cy="0"/>
            </a:xfrm>
            <a:prstGeom prst="line">
              <a:avLst/>
            </a:prstGeom>
            <a:ln w="15875">
              <a:solidFill>
                <a:srgbClr val="233E5D"/>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44" name="Connector 43"/>
            <p:cNvCxnSpPr/>
            <p:nvPr/>
          </p:nvCxnSpPr>
          <p:spPr>
            <a:xfrm flipV="1">
              <a:off x="2578608" y="228600"/>
              <a:ext cx="0" cy="466344"/>
            </a:xfrm>
            <a:prstGeom prst="line">
              <a:avLst/>
            </a:prstGeom>
            <a:ln w="15875">
              <a:solidFill>
                <a:srgbClr val="233E5D"/>
              </a:solidFill>
            </a:ln>
            <a:effectLst/>
          </p:spPr>
          <p:style>
            <a:lnRef idx="2">
              <a:schemeClr val="accent1"/>
            </a:lnRef>
            <a:fillRef idx="0">
              <a:schemeClr val="accent1"/>
            </a:fillRef>
            <a:effectRef idx="0">
              <a:schemeClr val="accent1"/>
            </a:effectRef>
            <a:fontRef idx="minor">
              <a:schemeClr val="tx1"/>
            </a:fontRef>
          </p:style>
        </p:cxnSp>
        <p:cxnSp>
          <p:nvCxnSpPr>
            <p:cNvPr id="45" name="Connector 44"/>
            <p:cNvCxnSpPr/>
            <p:nvPr/>
          </p:nvCxnSpPr>
          <p:spPr>
            <a:xfrm>
              <a:off x="2578608" y="228600"/>
              <a:ext cx="3511296" cy="0"/>
            </a:xfrm>
            <a:prstGeom prst="line">
              <a:avLst/>
            </a:prstGeom>
            <a:ln w="15875">
              <a:solidFill>
                <a:srgbClr val="233E5D"/>
              </a:solidFill>
            </a:ln>
            <a:effectLst/>
          </p:spPr>
          <p:style>
            <a:lnRef idx="2">
              <a:schemeClr val="accent1"/>
            </a:lnRef>
            <a:fillRef idx="0">
              <a:schemeClr val="accent1"/>
            </a:fillRef>
            <a:effectRef idx="0">
              <a:schemeClr val="accent1"/>
            </a:effectRef>
            <a:fontRef idx="minor">
              <a:schemeClr val="tx1"/>
            </a:fontRef>
          </p:style>
        </p:cxnSp>
        <p:cxnSp>
          <p:nvCxnSpPr>
            <p:cNvPr id="46" name="Connector 45"/>
            <p:cNvCxnSpPr/>
            <p:nvPr/>
          </p:nvCxnSpPr>
          <p:spPr>
            <a:xfrm>
              <a:off x="6089904" y="228600"/>
              <a:ext cx="0" cy="320040"/>
            </a:xfrm>
            <a:prstGeom prst="line">
              <a:avLst/>
            </a:prstGeom>
            <a:ln w="15875">
              <a:solidFill>
                <a:srgbClr val="233E5D"/>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47" name="Connector 46"/>
            <p:cNvCxnSpPr/>
            <p:nvPr/>
          </p:nvCxnSpPr>
          <p:spPr>
            <a:xfrm flipV="1">
              <a:off x="6400800" y="228600"/>
              <a:ext cx="0" cy="466344"/>
            </a:xfrm>
            <a:prstGeom prst="line">
              <a:avLst/>
            </a:prstGeom>
            <a:ln w="15875">
              <a:solidFill>
                <a:srgbClr val="233E5D"/>
              </a:solidFill>
            </a:ln>
            <a:effectLst/>
          </p:spPr>
          <p:style>
            <a:lnRef idx="2">
              <a:schemeClr val="accent1"/>
            </a:lnRef>
            <a:fillRef idx="0">
              <a:schemeClr val="accent1"/>
            </a:fillRef>
            <a:effectRef idx="0">
              <a:schemeClr val="accent1"/>
            </a:effectRef>
            <a:fontRef idx="minor">
              <a:schemeClr val="tx1"/>
            </a:fontRef>
          </p:style>
        </p:cxnSp>
        <p:cxnSp>
          <p:nvCxnSpPr>
            <p:cNvPr id="48" name="Connector 47"/>
            <p:cNvCxnSpPr/>
            <p:nvPr/>
          </p:nvCxnSpPr>
          <p:spPr>
            <a:xfrm>
              <a:off x="6400800" y="228600"/>
              <a:ext cx="3502152" cy="0"/>
            </a:xfrm>
            <a:prstGeom prst="line">
              <a:avLst/>
            </a:prstGeom>
            <a:ln w="15875">
              <a:solidFill>
                <a:srgbClr val="233E5D"/>
              </a:solidFill>
            </a:ln>
            <a:effectLst/>
          </p:spPr>
          <p:style>
            <a:lnRef idx="2">
              <a:schemeClr val="accent1"/>
            </a:lnRef>
            <a:fillRef idx="0">
              <a:schemeClr val="accent1"/>
            </a:fillRef>
            <a:effectRef idx="0">
              <a:schemeClr val="accent1"/>
            </a:effectRef>
            <a:fontRef idx="minor">
              <a:schemeClr val="tx1"/>
            </a:fontRef>
          </p:style>
        </p:cxnSp>
        <p:cxnSp>
          <p:nvCxnSpPr>
            <p:cNvPr id="49" name="Connector 48"/>
            <p:cNvCxnSpPr/>
            <p:nvPr/>
          </p:nvCxnSpPr>
          <p:spPr>
            <a:xfrm>
              <a:off x="9902952" y="228600"/>
              <a:ext cx="0" cy="320040"/>
            </a:xfrm>
            <a:prstGeom prst="line">
              <a:avLst/>
            </a:prstGeom>
            <a:ln w="15875">
              <a:solidFill>
                <a:srgbClr val="233E5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0" name="Oval 49"/>
            <p:cNvSpPr/>
            <p:nvPr/>
          </p:nvSpPr>
          <p:spPr>
            <a:xfrm>
              <a:off x="2558491" y="674827"/>
              <a:ext cx="40233" cy="40233"/>
            </a:xfrm>
            <a:prstGeom prst="ellipse">
              <a:avLst/>
            </a:prstGeom>
            <a:solidFill>
              <a:srgbClr val="233E5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Oval 50"/>
            <p:cNvSpPr/>
            <p:nvPr/>
          </p:nvSpPr>
          <p:spPr>
            <a:xfrm>
              <a:off x="6380683" y="674827"/>
              <a:ext cx="40233" cy="40233"/>
            </a:xfrm>
            <a:prstGeom prst="ellipse">
              <a:avLst/>
            </a:prstGeom>
            <a:solidFill>
              <a:srgbClr val="233E5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 final"/>
            <p:cNvSpPr txBox="1"/>
            <p:nvPr/>
          </p:nvSpPr>
          <p:spPr>
            <a:xfrm>
              <a:off x="10515600" y="219456"/>
              <a:ext cx="777240" cy="210312"/>
            </a:xfrm>
            <a:prstGeom prst="rect">
              <a:avLst/>
            </a:prstGeom>
            <a:noFill/>
            <a:effectLst/>
          </p:spPr>
          <p:txBody>
            <a:bodyPr wrap="none" lIns="0" rIns="0" tIns="0" bIns="0" anchor="ctr">
              <a:noAutofit/>
            </a:bodyPr>
            <a:lstStyle/>
            <a:p>
              <a:pPr algn="ctr">
                <a:spcBef>
                  <a:spcPts val="0"/>
                </a:spcBef>
                <a:spcAft>
                  <a:spcPts val="0"/>
                </a:spcAft>
              </a:pPr>
              <a:r>
                <a:rPr sz="1584" b="0" i="0" baseline="0" lang="en-US" dirty="0">
                  <a:solidFill>
                    <a:srgbClr val="557087"/>
                  </a:solidFill>
                  <a:latin typeface="Times New Roman"/>
                  <a:ea typeface="Times New Roman"/>
                  <a:cs typeface="Times New Roman"/>
                </a:rPr>
                <a:t>final</a:t>
              </a:r>
            </a:p>
          </p:txBody>
        </p:sp>
      </p:grpSp>
      <p:grpSp>
        <p:nvGrpSpPr>
          <p:cNvPr id="53" name="02 Construct"/>
          <p:cNvGrpSpPr/>
          <p:nvPr/>
        </p:nvGrpSpPr>
        <p:grpSpPr>
          <a:xfrm>
            <a:off x="219456" y="1207008"/>
            <a:ext cx="3346704" cy="1975104"/>
            <a:chOff x="219456" y="1207008"/>
            <a:chExt cx="3346704" cy="1975104"/>
          </a:xfrm>
        </p:grpSpPr>
        <p:sp>
          <p:nvSpPr>
            <p:cNvPr id="54" name="Panel construct"/>
            <p:cNvSpPr/>
            <p:nvPr/>
          </p:nvSpPr>
          <p:spPr>
            <a:xfrm>
              <a:off x="219456" y="1207008"/>
              <a:ext cx="3346704" cy="1975104"/>
            </a:xfrm>
            <a:prstGeom prst="roundRect">
              <a:avLst>
                <a:gd name="adj" fmla="val 4629"/>
              </a:avLst>
            </a:prstGeom>
            <a:solidFill>
              <a:srgbClr val="F3F5F8"/>
            </a:solidFill>
            <a:ln w="10160">
              <a:solidFill>
                <a:srgbClr val="BBC6D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 Construct"/>
            <p:cNvSpPr txBox="1"/>
            <p:nvPr/>
          </p:nvSpPr>
          <p:spPr>
            <a:xfrm>
              <a:off x="384048" y="1271016"/>
              <a:ext cx="3017520" cy="228600"/>
            </a:xfrm>
            <a:prstGeom prst="rect">
              <a:avLst/>
            </a:prstGeom>
            <a:noFill/>
            <a:effectLst/>
          </p:spPr>
          <p:txBody>
            <a:bodyPr wrap="none" lIns="0" rIns="0" tIns="0" bIns="0" anchor="ctr">
              <a:noAutofit/>
            </a:bodyPr>
            <a:lstStyle/>
            <a:p>
              <a:pPr algn="l">
                <a:spcBef>
                  <a:spcPts val="0"/>
                </a:spcBef>
                <a:spcAft>
                  <a:spcPts val="0"/>
                </a:spcAft>
              </a:pPr>
              <a:r>
                <a:rPr sz="1655" b="1" i="0" baseline="0" lang="en-US" dirty="0">
                  <a:solidFill>
                    <a:srgbClr val="644A86"/>
                  </a:solidFill>
                  <a:latin typeface="Times New Roman"/>
                  <a:ea typeface="Times New Roman"/>
                  <a:cs typeface="Times New Roman"/>
                </a:rPr>
                <a:t>Construct</a:t>
              </a:r>
            </a:p>
          </p:txBody>
        </p:sp>
        <p:sp>
          <p:nvSpPr>
            <p:cNvPr id="56" name="Text: Spectral alignment"/>
            <p:cNvSpPr txBox="1"/>
            <p:nvPr/>
          </p:nvSpPr>
          <p:spPr>
            <a:xfrm>
              <a:off x="384048" y="1508760"/>
              <a:ext cx="3017520" cy="292608"/>
            </a:xfrm>
            <a:prstGeom prst="rect">
              <a:avLst/>
            </a:prstGeom>
            <a:noFill/>
            <a:effectLst/>
          </p:spPr>
          <p:txBody>
            <a:bodyPr wrap="none" lIns="0" rIns="0" tIns="0" bIns="0" anchor="ctr">
              <a:noAutofit/>
            </a:bodyPr>
            <a:lstStyle/>
            <a:p>
              <a:pPr algn="l">
                <a:spcBef>
                  <a:spcPts val="0"/>
                </a:spcBef>
                <a:spcAft>
                  <a:spcPts val="0"/>
                </a:spcAft>
              </a:pPr>
              <a:r>
                <a:rPr sz="2016" b="1" i="0" baseline="0" lang="en-US" dirty="0">
                  <a:solidFill>
                    <a:srgbClr val="233E5D"/>
                  </a:solidFill>
                  <a:latin typeface="Times New Roman"/>
                  <a:ea typeface="Times New Roman"/>
                  <a:cs typeface="Times New Roman"/>
                </a:rPr>
                <a:t>Spectral alignment</a:t>
              </a:r>
            </a:p>
          </p:txBody>
        </p:sp>
        <p:sp>
          <p:nvSpPr>
            <p:cNvPr id="57" name="Oval 56"/>
            <p:cNvSpPr/>
            <p:nvPr/>
          </p:nvSpPr>
          <p:spPr>
            <a:xfrm>
              <a:off x="564642" y="2543952"/>
              <a:ext cx="22860" cy="22860"/>
            </a:xfrm>
            <a:prstGeom prst="ellipse">
              <a:avLst/>
            </a:prstGeom>
            <a:solidFill>
              <a:srgbClr val="477F9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Oval 57"/>
            <p:cNvSpPr/>
            <p:nvPr/>
          </p:nvSpPr>
          <p:spPr>
            <a:xfrm>
              <a:off x="635050" y="2495489"/>
              <a:ext cx="28346" cy="28346"/>
            </a:xfrm>
            <a:prstGeom prst="ellipse">
              <a:avLst/>
            </a:prstGeom>
            <a:solidFill>
              <a:srgbClr val="BBC6D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Oval 58"/>
            <p:cNvSpPr/>
            <p:nvPr/>
          </p:nvSpPr>
          <p:spPr>
            <a:xfrm>
              <a:off x="696315" y="2502255"/>
              <a:ext cx="33832" cy="33832"/>
            </a:xfrm>
            <a:prstGeom prst="ellipse">
              <a:avLst/>
            </a:prstGeom>
            <a:solidFill>
              <a:srgbClr val="BBC6D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Oval 59"/>
            <p:cNvSpPr/>
            <p:nvPr/>
          </p:nvSpPr>
          <p:spPr>
            <a:xfrm>
              <a:off x="784098" y="2441539"/>
              <a:ext cx="22860" cy="22860"/>
            </a:xfrm>
            <a:prstGeom prst="ellipse">
              <a:avLst/>
            </a:prstGeom>
            <a:solidFill>
              <a:srgbClr val="BBC6D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Oval 60"/>
            <p:cNvSpPr/>
            <p:nvPr/>
          </p:nvSpPr>
          <p:spPr>
            <a:xfrm>
              <a:off x="808786" y="2485064"/>
              <a:ext cx="28346" cy="28346"/>
            </a:xfrm>
            <a:prstGeom prst="ellipse">
              <a:avLst/>
            </a:prstGeom>
            <a:solidFill>
              <a:srgbClr val="477F9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Oval 61"/>
            <p:cNvSpPr/>
            <p:nvPr/>
          </p:nvSpPr>
          <p:spPr>
            <a:xfrm>
              <a:off x="879195" y="2408803"/>
              <a:ext cx="33832" cy="33832"/>
            </a:xfrm>
            <a:prstGeom prst="ellipse">
              <a:avLst/>
            </a:prstGeom>
            <a:solidFill>
              <a:srgbClr val="BBC6D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Oval 62"/>
            <p:cNvSpPr/>
            <p:nvPr/>
          </p:nvSpPr>
          <p:spPr>
            <a:xfrm>
              <a:off x="948690" y="2368204"/>
              <a:ext cx="22860" cy="22860"/>
            </a:xfrm>
            <a:prstGeom prst="ellipse">
              <a:avLst/>
            </a:prstGeom>
            <a:solidFill>
              <a:srgbClr val="BBC6D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Oval 63"/>
            <p:cNvSpPr/>
            <p:nvPr/>
          </p:nvSpPr>
          <p:spPr>
            <a:xfrm>
              <a:off x="973378" y="2411730"/>
              <a:ext cx="28346" cy="28346"/>
            </a:xfrm>
            <a:prstGeom prst="ellipse">
              <a:avLst/>
            </a:prstGeom>
            <a:solidFill>
              <a:srgbClr val="BBC6D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Oval 64"/>
            <p:cNvSpPr/>
            <p:nvPr/>
          </p:nvSpPr>
          <p:spPr>
            <a:xfrm>
              <a:off x="1034643" y="2352476"/>
              <a:ext cx="33832" cy="33832"/>
            </a:xfrm>
            <a:prstGeom prst="ellipse">
              <a:avLst/>
            </a:prstGeom>
            <a:solidFill>
              <a:srgbClr val="477F9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Oval 65"/>
            <p:cNvSpPr/>
            <p:nvPr/>
          </p:nvSpPr>
          <p:spPr>
            <a:xfrm>
              <a:off x="1113282" y="2291394"/>
              <a:ext cx="22860" cy="22860"/>
            </a:xfrm>
            <a:prstGeom prst="ellipse">
              <a:avLst/>
            </a:prstGeom>
            <a:solidFill>
              <a:srgbClr val="BBC6D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Oval 66"/>
            <p:cNvSpPr/>
            <p:nvPr/>
          </p:nvSpPr>
          <p:spPr>
            <a:xfrm>
              <a:off x="1119682" y="2361986"/>
              <a:ext cx="28346" cy="28346"/>
            </a:xfrm>
            <a:prstGeom prst="ellipse">
              <a:avLst/>
            </a:prstGeom>
            <a:solidFill>
              <a:srgbClr val="BBC6D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Oval 67"/>
            <p:cNvSpPr/>
            <p:nvPr/>
          </p:nvSpPr>
          <p:spPr>
            <a:xfrm>
              <a:off x="1171803" y="2302367"/>
              <a:ext cx="33832" cy="33832"/>
            </a:xfrm>
            <a:prstGeom prst="ellipse">
              <a:avLst/>
            </a:prstGeom>
            <a:solidFill>
              <a:srgbClr val="BBC6D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Oval 68"/>
            <p:cNvSpPr/>
            <p:nvPr/>
          </p:nvSpPr>
          <p:spPr>
            <a:xfrm>
              <a:off x="1241298" y="2320838"/>
              <a:ext cx="22860" cy="22860"/>
            </a:xfrm>
            <a:prstGeom prst="ellipse">
              <a:avLst/>
            </a:prstGeom>
            <a:solidFill>
              <a:srgbClr val="477F9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Oval 69"/>
            <p:cNvSpPr/>
            <p:nvPr/>
          </p:nvSpPr>
          <p:spPr>
            <a:xfrm>
              <a:off x="1284274" y="2243480"/>
              <a:ext cx="28346" cy="28346"/>
            </a:xfrm>
            <a:prstGeom prst="ellipse">
              <a:avLst/>
            </a:prstGeom>
            <a:solidFill>
              <a:srgbClr val="BBC6D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Oval 70"/>
            <p:cNvSpPr/>
            <p:nvPr/>
          </p:nvSpPr>
          <p:spPr>
            <a:xfrm>
              <a:off x="1363827" y="2254453"/>
              <a:ext cx="33832" cy="33832"/>
            </a:xfrm>
            <a:prstGeom prst="ellipse">
              <a:avLst/>
            </a:prstGeom>
            <a:solidFill>
              <a:srgbClr val="BBC6D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Oval 71"/>
            <p:cNvSpPr/>
            <p:nvPr/>
          </p:nvSpPr>
          <p:spPr>
            <a:xfrm>
              <a:off x="1405890" y="2188433"/>
              <a:ext cx="22860" cy="22860"/>
            </a:xfrm>
            <a:prstGeom prst="ellipse">
              <a:avLst/>
            </a:prstGeom>
            <a:solidFill>
              <a:srgbClr val="BBC6D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Oval 72"/>
            <p:cNvSpPr/>
            <p:nvPr/>
          </p:nvSpPr>
          <p:spPr>
            <a:xfrm>
              <a:off x="1467154" y="2191725"/>
              <a:ext cx="28346" cy="28346"/>
            </a:xfrm>
            <a:prstGeom prst="ellipse">
              <a:avLst/>
            </a:prstGeom>
            <a:solidFill>
              <a:srgbClr val="477F9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Oval 73"/>
            <p:cNvSpPr/>
            <p:nvPr/>
          </p:nvSpPr>
          <p:spPr>
            <a:xfrm>
              <a:off x="1500987" y="2228667"/>
              <a:ext cx="33832" cy="33832"/>
            </a:xfrm>
            <a:prstGeom prst="ellipse">
              <a:avLst/>
            </a:prstGeom>
            <a:solidFill>
              <a:srgbClr val="BBC6D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Oval 74"/>
            <p:cNvSpPr/>
            <p:nvPr/>
          </p:nvSpPr>
          <p:spPr>
            <a:xfrm>
              <a:off x="1579626" y="2146736"/>
              <a:ext cx="22860" cy="22860"/>
            </a:xfrm>
            <a:prstGeom prst="ellipse">
              <a:avLst/>
            </a:prstGeom>
            <a:solidFill>
              <a:srgbClr val="BBC6D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Oval 75"/>
            <p:cNvSpPr/>
            <p:nvPr/>
          </p:nvSpPr>
          <p:spPr>
            <a:xfrm>
              <a:off x="1659178" y="2091690"/>
              <a:ext cx="28346" cy="28346"/>
            </a:xfrm>
            <a:prstGeom prst="ellipse">
              <a:avLst/>
            </a:prstGeom>
            <a:solidFill>
              <a:srgbClr val="BBC6D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Oval 76"/>
            <p:cNvSpPr/>
            <p:nvPr/>
          </p:nvSpPr>
          <p:spPr>
            <a:xfrm>
              <a:off x="1720443" y="2094981"/>
              <a:ext cx="33832" cy="33832"/>
            </a:xfrm>
            <a:prstGeom prst="ellipse">
              <a:avLst/>
            </a:prstGeom>
            <a:solidFill>
              <a:srgbClr val="477F9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Oval 77"/>
            <p:cNvSpPr/>
            <p:nvPr/>
          </p:nvSpPr>
          <p:spPr>
            <a:xfrm>
              <a:off x="1780794" y="2040117"/>
              <a:ext cx="22860" cy="22860"/>
            </a:xfrm>
            <a:prstGeom prst="ellipse">
              <a:avLst/>
            </a:prstGeom>
            <a:solidFill>
              <a:srgbClr val="BBC6D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Oval 78"/>
            <p:cNvSpPr/>
            <p:nvPr/>
          </p:nvSpPr>
          <p:spPr>
            <a:xfrm>
              <a:off x="1832914" y="2049993"/>
              <a:ext cx="28346" cy="28346"/>
            </a:xfrm>
            <a:prstGeom prst="ellipse">
              <a:avLst/>
            </a:prstGeom>
            <a:solidFill>
              <a:srgbClr val="BBC6D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Oval 79"/>
            <p:cNvSpPr/>
            <p:nvPr/>
          </p:nvSpPr>
          <p:spPr>
            <a:xfrm>
              <a:off x="1894179" y="1983790"/>
              <a:ext cx="33832" cy="33832"/>
            </a:xfrm>
            <a:prstGeom prst="ellipse">
              <a:avLst/>
            </a:prstGeom>
            <a:solidFill>
              <a:srgbClr val="BBC6D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81" name="Connector 80"/>
            <p:cNvCxnSpPr/>
            <p:nvPr/>
          </p:nvCxnSpPr>
          <p:spPr>
            <a:xfrm flipV="1">
              <a:off x="493776" y="1993392"/>
              <a:ext cx="1481328" cy="630936"/>
            </a:xfrm>
            <a:prstGeom prst="line">
              <a:avLst/>
            </a:prstGeom>
            <a:ln w="15240">
              <a:solidFill>
                <a:srgbClr val="477F9F"/>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82" name="Connector 81"/>
            <p:cNvCxnSpPr/>
            <p:nvPr/>
          </p:nvCxnSpPr>
          <p:spPr>
            <a:xfrm>
              <a:off x="1069848" y="2029968"/>
              <a:ext cx="283464" cy="548640"/>
            </a:xfrm>
            <a:prstGeom prst="line">
              <a:avLst/>
            </a:prstGeom>
            <a:ln w="10795">
              <a:solidFill>
                <a:srgbClr val="BBC6D2"/>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3" name="Text: v"/>
            <p:cNvSpPr txBox="1"/>
            <p:nvPr/>
          </p:nvSpPr>
          <p:spPr>
            <a:xfrm>
              <a:off x="1591056" y="1776222"/>
              <a:ext cx="115178" cy="228600"/>
            </a:xfrm>
            <a:prstGeom prst="rect">
              <a:avLst/>
            </a:prstGeom>
            <a:noFill/>
            <a:effectLst/>
          </p:spPr>
          <p:txBody>
            <a:bodyPr wrap="none" lIns="0" rIns="0" tIns="0" bIns="0" anchor="ctr">
              <a:noAutofit/>
            </a:bodyPr>
            <a:lstStyle/>
            <a:p>
              <a:pPr algn="l">
                <a:spcBef>
                  <a:spcPts val="0"/>
                </a:spcBef>
                <a:spcAft>
                  <a:spcPts val="0"/>
                </a:spcAft>
              </a:pPr>
              <a:r>
                <a:rPr sz="1800" b="0" i="1" baseline="0" lang="en-US" dirty="0">
                  <a:solidFill>
                    <a:srgbClr val="233E5D"/>
                  </a:solidFill>
                  <a:latin typeface="Times New Roman"/>
                  <a:ea typeface="Times New Roman"/>
                  <a:cs typeface="Times New Roman"/>
                </a:rPr>
                <a:t>v</a:t>
              </a:r>
            </a:p>
          </p:txBody>
        </p:sp>
        <p:sp>
          <p:nvSpPr>
            <p:cNvPr id="84" name="Text: 1"/>
            <p:cNvSpPr txBox="1"/>
            <p:nvPr/>
          </p:nvSpPr>
          <p:spPr>
            <a:xfrm>
              <a:off x="1729094" y="1849831"/>
              <a:ext cx="137160" cy="228600"/>
            </a:xfrm>
            <a:prstGeom prst="rect">
              <a:avLst/>
            </a:prstGeom>
            <a:noFill/>
            <a:effectLst/>
          </p:spPr>
          <p:txBody>
            <a:bodyPr wrap="none" lIns="0" rIns="0" tIns="0" bIns="0" anchor="ctr">
              <a:noAutofit/>
            </a:bodyPr>
            <a:lstStyle/>
            <a:p>
              <a:pPr algn="l">
                <a:spcBef>
                  <a:spcPts val="0"/>
                </a:spcBef>
                <a:spcAft>
                  <a:spcPts val="0"/>
                </a:spcAft>
              </a:pPr>
              <a:r>
                <a:rPr sz="1368" b="0" i="0" baseline="0" lang="en-US" dirty="0">
                  <a:solidFill>
                    <a:srgbClr val="233E5D"/>
                  </a:solidFill>
                  <a:latin typeface="Times New Roman"/>
                  <a:ea typeface="Times New Roman"/>
                  <a:cs typeface="Times New Roman"/>
                </a:rPr>
                <a:t>1</a:t>
              </a:r>
            </a:p>
          </p:txBody>
        </p:sp>
        <p:sp>
          <p:nvSpPr>
            <p:cNvPr id="85" name="Text: v"/>
            <p:cNvSpPr txBox="1"/>
            <p:nvPr/>
          </p:nvSpPr>
          <p:spPr>
            <a:xfrm>
              <a:off x="1517904" y="2388870"/>
              <a:ext cx="115178" cy="228600"/>
            </a:xfrm>
            <a:prstGeom prst="rect">
              <a:avLst/>
            </a:prstGeom>
            <a:noFill/>
            <a:effectLst/>
          </p:spPr>
          <p:txBody>
            <a:bodyPr wrap="none" lIns="0" rIns="0" tIns="0" bIns="0" anchor="ctr">
              <a:noAutofit/>
            </a:bodyPr>
            <a:lstStyle/>
            <a:p>
              <a:pPr algn="l">
                <a:spcBef>
                  <a:spcPts val="0"/>
                </a:spcBef>
                <a:spcAft>
                  <a:spcPts val="0"/>
                </a:spcAft>
              </a:pPr>
              <a:r>
                <a:rPr sz="1800" b="0" i="1" baseline="0" lang="en-US" dirty="0">
                  <a:solidFill>
                    <a:srgbClr val="233E5D"/>
                  </a:solidFill>
                  <a:latin typeface="Times New Roman"/>
                  <a:ea typeface="Times New Roman"/>
                  <a:cs typeface="Times New Roman"/>
                </a:rPr>
                <a:t>v</a:t>
              </a:r>
            </a:p>
          </p:txBody>
        </p:sp>
        <p:sp>
          <p:nvSpPr>
            <p:cNvPr id="86" name="Text: 2"/>
            <p:cNvSpPr txBox="1"/>
            <p:nvPr/>
          </p:nvSpPr>
          <p:spPr>
            <a:xfrm>
              <a:off x="1655942" y="2462479"/>
              <a:ext cx="137160" cy="228600"/>
            </a:xfrm>
            <a:prstGeom prst="rect">
              <a:avLst/>
            </a:prstGeom>
            <a:noFill/>
            <a:effectLst/>
          </p:spPr>
          <p:txBody>
            <a:bodyPr wrap="none" lIns="0" rIns="0" tIns="0" bIns="0" anchor="ctr">
              <a:noAutofit/>
            </a:bodyPr>
            <a:lstStyle/>
            <a:p>
              <a:pPr algn="l">
                <a:spcBef>
                  <a:spcPts val="0"/>
                </a:spcBef>
                <a:spcAft>
                  <a:spcPts val="0"/>
                </a:spcAft>
              </a:pPr>
              <a:r>
                <a:rPr sz="1368" b="0" i="0" baseline="0" lang="en-US" dirty="0">
                  <a:solidFill>
                    <a:srgbClr val="233E5D"/>
                  </a:solidFill>
                  <a:latin typeface="Times New Roman"/>
                  <a:ea typeface="Times New Roman"/>
                  <a:cs typeface="Times New Roman"/>
                </a:rPr>
                <a:t>2</a:t>
              </a:r>
            </a:p>
          </p:txBody>
        </p:sp>
        <p:sp>
          <p:nvSpPr>
            <p:cNvPr id="87" name="Text: R = H"/>
            <p:cNvSpPr txBox="1"/>
            <p:nvPr/>
          </p:nvSpPr>
          <p:spPr>
            <a:xfrm>
              <a:off x="2148840" y="1948586"/>
              <a:ext cx="609940" cy="310896"/>
            </a:xfrm>
            <a:prstGeom prst="rect">
              <a:avLst/>
            </a:prstGeom>
            <a:noFill/>
            <a:effectLst/>
          </p:spPr>
          <p:txBody>
            <a:bodyPr wrap="none" lIns="0" rIns="0" tIns="0" bIns="0" anchor="ctr">
              <a:noAutofit/>
            </a:bodyPr>
            <a:lstStyle/>
            <a:p>
              <a:pPr algn="l">
                <a:spcBef>
                  <a:spcPts val="0"/>
                </a:spcBef>
                <a:spcAft>
                  <a:spcPts val="0"/>
                </a:spcAft>
              </a:pPr>
              <a:r>
                <a:rPr sz="1872" b="0" i="1" baseline="0" lang="en-US" dirty="0">
                  <a:solidFill>
                    <a:srgbClr val="233E5D"/>
                  </a:solidFill>
                  <a:latin typeface="Times New Roman"/>
                  <a:ea typeface="Times New Roman"/>
                  <a:cs typeface="Times New Roman"/>
                </a:rPr>
                <a:t>R = H</a:t>
              </a:r>
            </a:p>
          </p:txBody>
        </p:sp>
        <p:sp>
          <p:nvSpPr>
            <p:cNvPr id="88" name="Text: g"/>
            <p:cNvSpPr txBox="1"/>
            <p:nvPr/>
          </p:nvSpPr>
          <p:spPr>
            <a:xfrm>
              <a:off x="2781640" y="2025139"/>
              <a:ext cx="140589" cy="310896"/>
            </a:xfrm>
            <a:prstGeom prst="rect">
              <a:avLst/>
            </a:prstGeom>
            <a:noFill/>
            <a:effectLst/>
          </p:spPr>
          <p:txBody>
            <a:bodyPr wrap="none" lIns="0" rIns="0" tIns="0" bIns="0" anchor="ctr">
              <a:noAutofit/>
            </a:bodyPr>
            <a:lstStyle/>
            <a:p>
              <a:pPr algn="l">
                <a:spcBef>
                  <a:spcPts val="0"/>
                </a:spcBef>
                <a:spcAft>
                  <a:spcPts val="0"/>
                </a:spcAft>
              </a:pPr>
              <a:r>
                <a:rPr sz="1422" b="0" i="0" baseline="0" lang="en-US" dirty="0">
                  <a:solidFill>
                    <a:srgbClr val="233E5D"/>
                  </a:solidFill>
                  <a:latin typeface="Times New Roman"/>
                  <a:ea typeface="Times New Roman"/>
                  <a:cs typeface="Times New Roman"/>
                </a:rPr>
                <a:t>g</a:t>
              </a:r>
            </a:p>
          </p:txBody>
        </p:sp>
        <p:sp>
          <p:nvSpPr>
            <p:cNvPr id="89" name="Text: DΠG"/>
            <p:cNvSpPr txBox="1"/>
            <p:nvPr/>
          </p:nvSpPr>
          <p:spPr>
            <a:xfrm>
              <a:off x="2871937" y="1948586"/>
              <a:ext cx="528794" cy="310896"/>
            </a:xfrm>
            <a:prstGeom prst="rect">
              <a:avLst/>
            </a:prstGeom>
            <a:noFill/>
            <a:effectLst/>
          </p:spPr>
          <p:txBody>
            <a:bodyPr wrap="none" lIns="0" rIns="0" tIns="0" bIns="0" anchor="ctr">
              <a:noAutofit/>
            </a:bodyPr>
            <a:lstStyle/>
            <a:p>
              <a:pPr algn="l">
                <a:spcBef>
                  <a:spcPts val="0"/>
                </a:spcBef>
                <a:spcAft>
                  <a:spcPts val="0"/>
                </a:spcAft>
              </a:pPr>
              <a:r>
                <a:rPr sz="1872" b="0" i="1" baseline="0" lang="en-US" dirty="0">
                  <a:solidFill>
                    <a:srgbClr val="233E5D"/>
                  </a:solidFill>
                  <a:latin typeface="Times New Roman"/>
                  <a:ea typeface="Times New Roman"/>
                  <a:cs typeface="Times New Roman"/>
                </a:rPr>
                <a:t>DΠG</a:t>
              </a:r>
            </a:p>
          </p:txBody>
        </p:sp>
        <p:sp>
          <p:nvSpPr>
            <p:cNvPr id="90" name="Text: G = I − WY"/>
            <p:cNvSpPr txBox="1"/>
            <p:nvPr/>
          </p:nvSpPr>
          <p:spPr>
            <a:xfrm>
              <a:off x="2148840" y="2314346"/>
              <a:ext cx="1153465" cy="310896"/>
            </a:xfrm>
            <a:prstGeom prst="rect">
              <a:avLst/>
            </a:prstGeom>
            <a:noFill/>
            <a:effectLst/>
          </p:spPr>
          <p:txBody>
            <a:bodyPr wrap="none" lIns="0" rIns="0" tIns="0" bIns="0" anchor="ctr">
              <a:noAutofit/>
            </a:bodyPr>
            <a:lstStyle/>
            <a:p>
              <a:pPr algn="l">
                <a:spcBef>
                  <a:spcPts val="0"/>
                </a:spcBef>
                <a:spcAft>
                  <a:spcPts val="0"/>
                </a:spcAft>
              </a:pPr>
              <a:r>
                <a:rPr sz="1872" b="0" i="1" baseline="0" lang="en-US" dirty="0">
                  <a:solidFill>
                    <a:srgbClr val="233E5D"/>
                  </a:solidFill>
                  <a:latin typeface="Times New Roman"/>
                  <a:ea typeface="Times New Roman"/>
                  <a:cs typeface="Times New Roman"/>
                </a:rPr>
                <a:t>G = I − WY</a:t>
              </a:r>
            </a:p>
          </p:txBody>
        </p:sp>
        <p:sp>
          <p:nvSpPr>
            <p:cNvPr id="91" name="Text: T"/>
            <p:cNvSpPr txBox="1"/>
            <p:nvPr/>
          </p:nvSpPr>
          <p:spPr>
            <a:xfrm>
              <a:off x="3325165" y="2248253"/>
              <a:ext cx="160605" cy="310896"/>
            </a:xfrm>
            <a:prstGeom prst="rect">
              <a:avLst/>
            </a:prstGeom>
            <a:noFill/>
            <a:effectLst/>
          </p:spPr>
          <p:txBody>
            <a:bodyPr wrap="none" lIns="0" rIns="0" tIns="0" bIns="0" anchor="ctr">
              <a:noAutofit/>
            </a:bodyPr>
            <a:lstStyle/>
            <a:p>
              <a:pPr algn="l">
                <a:spcBef>
                  <a:spcPts val="0"/>
                </a:spcBef>
                <a:spcAft>
                  <a:spcPts val="0"/>
                </a:spcAft>
              </a:pPr>
              <a:r>
                <a:rPr sz="1422" b="0" i="0" baseline="0" lang="en-US" dirty="0">
                  <a:solidFill>
                    <a:srgbClr val="233E5D"/>
                  </a:solidFill>
                  <a:latin typeface="Times New Roman"/>
                  <a:ea typeface="Times New Roman"/>
                  <a:cs typeface="Times New Roman"/>
                </a:rPr>
                <a:t>T</a:t>
              </a:r>
            </a:p>
          </p:txBody>
        </p:sp>
        <p:sp>
          <p:nvSpPr>
            <p:cNvPr id="92" name="Text: Σ  →  V"/>
            <p:cNvSpPr txBox="1"/>
            <p:nvPr/>
          </p:nvSpPr>
          <p:spPr>
            <a:xfrm>
              <a:off x="1072148" y="2768803"/>
              <a:ext cx="834325" cy="256032"/>
            </a:xfrm>
            <a:prstGeom prst="rect">
              <a:avLst/>
            </a:prstGeom>
            <a:noFill/>
            <a:effectLst/>
          </p:spPr>
          <p:txBody>
            <a:bodyPr wrap="none" lIns="0" rIns="0" tIns="0" bIns="0" anchor="ctr">
              <a:noAutofit/>
            </a:bodyPr>
            <a:lstStyle/>
            <a:p>
              <a:pPr algn="l">
                <a:spcBef>
                  <a:spcPts val="0"/>
                </a:spcBef>
                <a:spcAft>
                  <a:spcPts val="0"/>
                </a:spcAft>
              </a:pPr>
              <a:r>
                <a:rPr sz="2016" b="0" i="1" baseline="0" lang="en-US" dirty="0">
                  <a:solidFill>
                    <a:srgbClr val="233E5D"/>
                  </a:solidFill>
                  <a:latin typeface="Times New Roman"/>
                  <a:ea typeface="Times New Roman"/>
                  <a:cs typeface="Times New Roman"/>
                </a:rPr>
                <a:t>Σ  →  V</a:t>
              </a:r>
            </a:p>
          </p:txBody>
        </p:sp>
        <p:sp>
          <p:nvSpPr>
            <p:cNvPr id="93" name="Text: k"/>
            <p:cNvSpPr txBox="1"/>
            <p:nvPr/>
          </p:nvSpPr>
          <p:spPr>
            <a:xfrm>
              <a:off x="1929333" y="2851245"/>
              <a:ext cx="147675" cy="256032"/>
            </a:xfrm>
            <a:prstGeom prst="rect">
              <a:avLst/>
            </a:prstGeom>
            <a:noFill/>
            <a:effectLst/>
          </p:spPr>
          <p:txBody>
            <a:bodyPr wrap="none" lIns="0" rIns="0" tIns="0" bIns="0" anchor="ctr">
              <a:noAutofit/>
            </a:bodyPr>
            <a:lstStyle/>
            <a:p>
              <a:pPr algn="l">
                <a:spcBef>
                  <a:spcPts val="0"/>
                </a:spcBef>
                <a:spcAft>
                  <a:spcPts val="0"/>
                </a:spcAft>
              </a:pPr>
              <a:r>
                <a:rPr sz="1532" b="0" i="0" baseline="0" lang="en-US" dirty="0">
                  <a:solidFill>
                    <a:srgbClr val="233E5D"/>
                  </a:solidFill>
                  <a:latin typeface="Times New Roman"/>
                  <a:ea typeface="Times New Roman"/>
                  <a:cs typeface="Times New Roman"/>
                </a:rPr>
                <a:t>k</a:t>
              </a:r>
            </a:p>
          </p:txBody>
        </p:sp>
        <p:sp>
          <p:nvSpPr>
            <p:cNvPr id="94" name="Text:   →  R"/>
            <p:cNvSpPr txBox="1"/>
            <p:nvPr/>
          </p:nvSpPr>
          <p:spPr>
            <a:xfrm>
              <a:off x="2026717" y="2768803"/>
              <a:ext cx="682178" cy="256032"/>
            </a:xfrm>
            <a:prstGeom prst="rect">
              <a:avLst/>
            </a:prstGeom>
            <a:noFill/>
            <a:effectLst/>
          </p:spPr>
          <p:txBody>
            <a:bodyPr wrap="none" lIns="0" rIns="0" tIns="0" bIns="0" anchor="ctr">
              <a:noAutofit/>
            </a:bodyPr>
            <a:lstStyle/>
            <a:p>
              <a:pPr algn="l">
                <a:spcBef>
                  <a:spcPts val="0"/>
                </a:spcBef>
                <a:spcAft>
                  <a:spcPts val="0"/>
                </a:spcAft>
              </a:pPr>
              <a:r>
                <a:rPr sz="2016" b="0" i="1" baseline="0" lang="en-US" dirty="0">
                  <a:solidFill>
                    <a:srgbClr val="233E5D"/>
                  </a:solidFill>
                  <a:latin typeface="Times New Roman"/>
                  <a:ea typeface="Times New Roman"/>
                  <a:cs typeface="Times New Roman"/>
                </a:rPr>
                <a:t>  →  R</a:t>
              </a:r>
            </a:p>
          </p:txBody>
        </p:sp>
      </p:grpSp>
      <p:grpSp>
        <p:nvGrpSpPr>
          <p:cNvPr id="95" name="02 Represent"/>
          <p:cNvGrpSpPr/>
          <p:nvPr/>
        </p:nvGrpSpPr>
        <p:grpSpPr>
          <a:xfrm>
            <a:off x="3694176" y="1207008"/>
            <a:ext cx="3621024" cy="1975104"/>
            <a:chOff x="3694176" y="1207008"/>
            <a:chExt cx="3621024" cy="1975104"/>
          </a:xfrm>
        </p:grpSpPr>
        <p:sp>
          <p:nvSpPr>
            <p:cNvPr id="96" name="Panel represent"/>
            <p:cNvSpPr/>
            <p:nvPr/>
          </p:nvSpPr>
          <p:spPr>
            <a:xfrm>
              <a:off x="3694176" y="1207008"/>
              <a:ext cx="3621024" cy="1975104"/>
            </a:xfrm>
            <a:prstGeom prst="roundRect">
              <a:avLst>
                <a:gd name="adj" fmla="val 4629"/>
              </a:avLst>
            </a:prstGeom>
            <a:solidFill>
              <a:srgbClr val="F3F5F8"/>
            </a:solidFill>
            <a:ln w="10160">
              <a:solidFill>
                <a:srgbClr val="BBC6D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7" name="Text: Represent"/>
            <p:cNvSpPr txBox="1"/>
            <p:nvPr/>
          </p:nvSpPr>
          <p:spPr>
            <a:xfrm>
              <a:off x="3858768" y="1271016"/>
              <a:ext cx="3291840" cy="228600"/>
            </a:xfrm>
            <a:prstGeom prst="rect">
              <a:avLst/>
            </a:prstGeom>
            <a:noFill/>
            <a:effectLst/>
          </p:spPr>
          <p:txBody>
            <a:bodyPr wrap="none" lIns="0" rIns="0" tIns="0" bIns="0" anchor="ctr">
              <a:noAutofit/>
            </a:bodyPr>
            <a:lstStyle/>
            <a:p>
              <a:pPr algn="l">
                <a:spcBef>
                  <a:spcPts val="0"/>
                </a:spcBef>
                <a:spcAft>
                  <a:spcPts val="0"/>
                </a:spcAft>
              </a:pPr>
              <a:r>
                <a:rPr sz="1655" b="1" i="0" baseline="0" lang="en-US" dirty="0">
                  <a:solidFill>
                    <a:srgbClr val="644A86"/>
                  </a:solidFill>
                  <a:latin typeface="Times New Roman"/>
                  <a:ea typeface="Times New Roman"/>
                  <a:cs typeface="Times New Roman"/>
                </a:rPr>
                <a:t>Represent</a:t>
              </a:r>
            </a:p>
          </p:txBody>
        </p:sp>
        <p:sp>
          <p:nvSpPr>
            <p:cNvPr id="98" name="Text: Exploit the affine offset"/>
            <p:cNvSpPr txBox="1"/>
            <p:nvPr/>
          </p:nvSpPr>
          <p:spPr>
            <a:xfrm>
              <a:off x="3858768" y="1508760"/>
              <a:ext cx="3291840" cy="292608"/>
            </a:xfrm>
            <a:prstGeom prst="rect">
              <a:avLst/>
            </a:prstGeom>
            <a:noFill/>
            <a:effectLst/>
          </p:spPr>
          <p:txBody>
            <a:bodyPr wrap="none" lIns="0" rIns="0" tIns="0" bIns="0" anchor="ctr">
              <a:noAutofit/>
            </a:bodyPr>
            <a:lstStyle/>
            <a:p>
              <a:pPr algn="l">
                <a:spcBef>
                  <a:spcPts val="0"/>
                </a:spcBef>
                <a:spcAft>
                  <a:spcPts val="0"/>
                </a:spcAft>
              </a:pPr>
              <a:r>
                <a:rPr sz="2016" b="1" i="0" baseline="0" lang="en-US" dirty="0">
                  <a:solidFill>
                    <a:srgbClr val="233E5D"/>
                  </a:solidFill>
                  <a:latin typeface="Times New Roman"/>
                  <a:ea typeface="Times New Roman"/>
                  <a:cs typeface="Times New Roman"/>
                </a:rPr>
                <a:t>Exploit the affine offset</a:t>
              </a:r>
            </a:p>
          </p:txBody>
        </p:sp>
        <p:sp>
          <p:nvSpPr>
            <p:cNvPr id="99" name="Text: Aligned group · same scale and range"/>
            <p:cNvSpPr txBox="1"/>
            <p:nvPr/>
          </p:nvSpPr>
          <p:spPr>
            <a:xfrm>
              <a:off x="3858768" y="1819656"/>
              <a:ext cx="3291840" cy="228600"/>
            </a:xfrm>
            <a:prstGeom prst="rect">
              <a:avLst/>
            </a:prstGeom>
            <a:noFill/>
            <a:effectLst/>
          </p:spPr>
          <p:txBody>
            <a:bodyPr wrap="none" lIns="0" rIns="0" tIns="0" bIns="0" anchor="ctr">
              <a:noAutofit/>
            </a:bodyPr>
            <a:lstStyle/>
            <a:p>
              <a:pPr algn="l">
                <a:spcBef>
                  <a:spcPts val="0"/>
                </a:spcBef>
                <a:spcAft>
                  <a:spcPts val="0"/>
                </a:spcAft>
              </a:pPr>
              <a:r>
                <a:rPr sz="1584" b="0" i="0" baseline="0" lang="en-US" dirty="0">
                  <a:solidFill>
                    <a:srgbClr val="557087"/>
                  </a:solidFill>
                  <a:latin typeface="Times New Roman"/>
                  <a:ea typeface="Times New Roman"/>
                  <a:cs typeface="Times New Roman"/>
                </a:rPr>
                <a:t>Aligned group · same scale and range</a:t>
              </a:r>
            </a:p>
          </p:txBody>
        </p:sp>
        <p:sp>
          <p:nvSpPr>
            <p:cNvPr id="100" name="Rectangle 99"/>
            <p:cNvSpPr/>
            <p:nvPr/>
          </p:nvSpPr>
          <p:spPr>
            <a:xfrm>
              <a:off x="3977639" y="2249424"/>
              <a:ext cx="128016" cy="420624"/>
            </a:xfrm>
            <a:prstGeom prst="rect">
              <a:avLst/>
            </a:prstGeom>
            <a:solidFill>
              <a:srgbClr val="477F9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1" name="Rectangle 100"/>
            <p:cNvSpPr/>
            <p:nvPr/>
          </p:nvSpPr>
          <p:spPr>
            <a:xfrm>
              <a:off x="4187952" y="2130552"/>
              <a:ext cx="128016" cy="539496"/>
            </a:xfrm>
            <a:prstGeom prst="rect">
              <a:avLst/>
            </a:prstGeom>
            <a:solidFill>
              <a:srgbClr val="477F9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2" name="Rectangle 101"/>
            <p:cNvSpPr/>
            <p:nvPr/>
          </p:nvSpPr>
          <p:spPr>
            <a:xfrm>
              <a:off x="4398264" y="2212848"/>
              <a:ext cx="128016" cy="457200"/>
            </a:xfrm>
            <a:prstGeom prst="rect">
              <a:avLst/>
            </a:prstGeom>
            <a:solidFill>
              <a:srgbClr val="477F9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3" name="Rectangle 102"/>
            <p:cNvSpPr/>
            <p:nvPr/>
          </p:nvSpPr>
          <p:spPr>
            <a:xfrm>
              <a:off x="4608576" y="2103120"/>
              <a:ext cx="128016" cy="566928"/>
            </a:xfrm>
            <a:prstGeom prst="rect">
              <a:avLst/>
            </a:prstGeom>
            <a:solidFill>
              <a:srgbClr val="477F9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4" name="Rectangle 103"/>
            <p:cNvSpPr/>
            <p:nvPr/>
          </p:nvSpPr>
          <p:spPr>
            <a:xfrm>
              <a:off x="4818888" y="2176272"/>
              <a:ext cx="128016" cy="493776"/>
            </a:xfrm>
            <a:prstGeom prst="rect">
              <a:avLst/>
            </a:prstGeom>
            <a:solidFill>
              <a:srgbClr val="477F9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05" name="Connector 104"/>
            <p:cNvCxnSpPr/>
            <p:nvPr/>
          </p:nvCxnSpPr>
          <p:spPr>
            <a:xfrm>
              <a:off x="5971032" y="2670048"/>
              <a:ext cx="128016" cy="0"/>
            </a:xfrm>
            <a:prstGeom prst="line">
              <a:avLst/>
            </a:prstGeom>
            <a:ln w="15240">
              <a:solidFill>
                <a:srgbClr val="477F9F"/>
              </a:solidFill>
            </a:ln>
            <a:effectLst/>
          </p:spPr>
          <p:style>
            <a:lnRef idx="2">
              <a:schemeClr val="accent1"/>
            </a:lnRef>
            <a:fillRef idx="0">
              <a:schemeClr val="accent1"/>
            </a:fillRef>
            <a:effectRef idx="0">
              <a:schemeClr val="accent1"/>
            </a:effectRef>
            <a:fontRef idx="minor">
              <a:schemeClr val="tx1"/>
            </a:fontRef>
          </p:style>
        </p:cxnSp>
        <p:sp>
          <p:nvSpPr>
            <p:cNvPr id="106" name="Rectangle 105"/>
            <p:cNvSpPr/>
            <p:nvPr/>
          </p:nvSpPr>
          <p:spPr>
            <a:xfrm>
              <a:off x="6181344" y="2551176"/>
              <a:ext cx="128016" cy="118872"/>
            </a:xfrm>
            <a:prstGeom prst="rect">
              <a:avLst/>
            </a:prstGeom>
            <a:solidFill>
              <a:srgbClr val="477F9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Rectangle 106"/>
            <p:cNvSpPr/>
            <p:nvPr/>
          </p:nvSpPr>
          <p:spPr>
            <a:xfrm>
              <a:off x="6391656" y="2633472"/>
              <a:ext cx="128016" cy="36576"/>
            </a:xfrm>
            <a:prstGeom prst="rect">
              <a:avLst/>
            </a:prstGeom>
            <a:solidFill>
              <a:srgbClr val="477F9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Rectangle 107"/>
            <p:cNvSpPr/>
            <p:nvPr/>
          </p:nvSpPr>
          <p:spPr>
            <a:xfrm>
              <a:off x="6601968" y="2523744"/>
              <a:ext cx="128016" cy="146304"/>
            </a:xfrm>
            <a:prstGeom prst="rect">
              <a:avLst/>
            </a:prstGeom>
            <a:solidFill>
              <a:srgbClr val="477F9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9" name="Rectangle 108"/>
            <p:cNvSpPr/>
            <p:nvPr/>
          </p:nvSpPr>
          <p:spPr>
            <a:xfrm>
              <a:off x="6812280" y="2596896"/>
              <a:ext cx="128016" cy="73152"/>
            </a:xfrm>
            <a:prstGeom prst="rect">
              <a:avLst/>
            </a:prstGeom>
            <a:solidFill>
              <a:srgbClr val="477F9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0" name="Connector 109"/>
            <p:cNvCxnSpPr/>
            <p:nvPr/>
          </p:nvCxnSpPr>
          <p:spPr>
            <a:xfrm>
              <a:off x="3913632" y="2670048"/>
              <a:ext cx="1133856" cy="0"/>
            </a:xfrm>
            <a:prstGeom prst="line">
              <a:avLst/>
            </a:prstGeom>
            <a:ln w="7620">
              <a:solidFill>
                <a:srgbClr val="BBC6D2"/>
              </a:solidFill>
            </a:ln>
            <a:effectLst/>
          </p:spPr>
          <p:style>
            <a:lnRef idx="2">
              <a:schemeClr val="accent1"/>
            </a:lnRef>
            <a:fillRef idx="0">
              <a:schemeClr val="accent1"/>
            </a:fillRef>
            <a:effectRef idx="0">
              <a:schemeClr val="accent1"/>
            </a:effectRef>
            <a:fontRef idx="minor">
              <a:schemeClr val="tx1"/>
            </a:fontRef>
          </p:style>
        </p:cxnSp>
        <p:cxnSp>
          <p:nvCxnSpPr>
            <p:cNvPr id="111" name="Connector 110"/>
            <p:cNvCxnSpPr/>
            <p:nvPr/>
          </p:nvCxnSpPr>
          <p:spPr>
            <a:xfrm>
              <a:off x="5907024" y="2670048"/>
              <a:ext cx="1133856" cy="0"/>
            </a:xfrm>
            <a:prstGeom prst="line">
              <a:avLst/>
            </a:prstGeom>
            <a:ln w="7620">
              <a:solidFill>
                <a:srgbClr val="BBC6D2"/>
              </a:solidFill>
            </a:ln>
            <a:effectLst/>
          </p:spPr>
          <p:style>
            <a:lnRef idx="2">
              <a:schemeClr val="accent1"/>
            </a:lnRef>
            <a:fillRef idx="0">
              <a:schemeClr val="accent1"/>
            </a:fillRef>
            <a:effectRef idx="0">
              <a:schemeClr val="accent1"/>
            </a:effectRef>
            <a:fontRef idx="minor">
              <a:schemeClr val="tx1"/>
            </a:fontRef>
          </p:style>
        </p:cxnSp>
        <p:cxnSp>
          <p:nvCxnSpPr>
            <p:cNvPr id="112" name="Connector 111"/>
            <p:cNvCxnSpPr/>
            <p:nvPr/>
          </p:nvCxnSpPr>
          <p:spPr>
            <a:xfrm>
              <a:off x="3904487" y="2249424"/>
              <a:ext cx="1161289" cy="0"/>
            </a:xfrm>
            <a:prstGeom prst="line">
              <a:avLst/>
            </a:prstGeom>
            <a:ln w="12700">
              <a:solidFill>
                <a:srgbClr val="789989"/>
              </a:solidFill>
              <a:prstDash val="dash"/>
            </a:ln>
            <a:effectLst/>
          </p:spPr>
          <p:style>
            <a:lnRef idx="2">
              <a:schemeClr val="accent1"/>
            </a:lnRef>
            <a:fillRef idx="0">
              <a:schemeClr val="accent1"/>
            </a:fillRef>
            <a:effectRef idx="0">
              <a:schemeClr val="accent1"/>
            </a:effectRef>
            <a:fontRef idx="minor">
              <a:schemeClr val="tx1"/>
            </a:fontRef>
          </p:style>
        </p:cxnSp>
        <p:sp>
          <p:nvSpPr>
            <p:cNvPr id="113" name="Text: affine offset"/>
            <p:cNvSpPr txBox="1"/>
            <p:nvPr/>
          </p:nvSpPr>
          <p:spPr>
            <a:xfrm>
              <a:off x="3895344" y="2688336"/>
              <a:ext cx="1289304" cy="237744"/>
            </a:xfrm>
            <a:prstGeom prst="rect">
              <a:avLst/>
            </a:prstGeom>
            <a:noFill/>
            <a:effectLst/>
          </p:spPr>
          <p:txBody>
            <a:bodyPr wrap="none" lIns="0" rIns="0" tIns="0" bIns="0" anchor="ctr">
              <a:noAutofit/>
            </a:bodyPr>
            <a:lstStyle/>
            <a:p>
              <a:pPr algn="ctr">
                <a:spcBef>
                  <a:spcPts val="0"/>
                </a:spcBef>
                <a:spcAft>
                  <a:spcPts val="0"/>
                </a:spcAft>
              </a:pPr>
              <a:r>
                <a:rPr sz="1584" b="0" i="0" baseline="0" lang="en-US" dirty="0">
                  <a:solidFill>
                    <a:srgbClr val="789989"/>
                  </a:solidFill>
                  <a:latin typeface="Times New Roman"/>
                  <a:ea typeface="Times New Roman"/>
                  <a:cs typeface="Times New Roman"/>
                </a:rPr>
                <a:t>affine offset</a:t>
              </a:r>
            </a:p>
          </p:txBody>
        </p:sp>
        <p:cxnSp>
          <p:nvCxnSpPr>
            <p:cNvPr id="114" name="Connector 113"/>
            <p:cNvCxnSpPr/>
            <p:nvPr/>
          </p:nvCxnSpPr>
          <p:spPr>
            <a:xfrm>
              <a:off x="5285232" y="2377440"/>
              <a:ext cx="411480" cy="0"/>
            </a:xfrm>
            <a:prstGeom prst="line">
              <a:avLst/>
            </a:prstGeom>
            <a:ln w="12700">
              <a:solidFill>
                <a:srgbClr val="557087"/>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15" name="Text: − z"/>
            <p:cNvSpPr txBox="1"/>
            <p:nvPr/>
          </p:nvSpPr>
          <p:spPr>
            <a:xfrm>
              <a:off x="5351365" y="2042769"/>
              <a:ext cx="302073" cy="256032"/>
            </a:xfrm>
            <a:prstGeom prst="rect">
              <a:avLst/>
            </a:prstGeom>
            <a:noFill/>
            <a:effectLst/>
          </p:spPr>
          <p:txBody>
            <a:bodyPr wrap="none" lIns="0" rIns="0" tIns="0" bIns="0" anchor="ctr">
              <a:noAutofit/>
            </a:bodyPr>
            <a:lstStyle/>
            <a:p>
              <a:pPr algn="l">
                <a:spcBef>
                  <a:spcPts val="0"/>
                </a:spcBef>
                <a:spcAft>
                  <a:spcPts val="0"/>
                </a:spcAft>
              </a:pPr>
              <a:r>
                <a:rPr sz="1728" b="0" i="1" baseline="0" lang="en-US" dirty="0">
                  <a:solidFill>
                    <a:srgbClr val="233E5D"/>
                  </a:solidFill>
                  <a:latin typeface="Times New Roman"/>
                  <a:ea typeface="Times New Roman"/>
                  <a:cs typeface="Times New Roman"/>
                </a:rPr>
                <a:t>− z</a:t>
              </a:r>
            </a:p>
          </p:txBody>
        </p:sp>
        <p:cxnSp>
          <p:nvCxnSpPr>
            <p:cNvPr id="116" name="Connector 115"/>
            <p:cNvCxnSpPr/>
            <p:nvPr/>
          </p:nvCxnSpPr>
          <p:spPr>
            <a:xfrm flipH="1">
              <a:off x="5084064" y="2103120"/>
              <a:ext cx="36576" cy="0"/>
            </a:xfrm>
            <a:prstGeom prst="line">
              <a:avLst/>
            </a:prstGeom>
            <a:ln w="10160">
              <a:solidFill>
                <a:srgbClr val="644A86"/>
              </a:solidFill>
            </a:ln>
            <a:effectLst/>
          </p:spPr>
          <p:style>
            <a:lnRef idx="2">
              <a:schemeClr val="accent1"/>
            </a:lnRef>
            <a:fillRef idx="0">
              <a:schemeClr val="accent1"/>
            </a:fillRef>
            <a:effectRef idx="0">
              <a:schemeClr val="accent1"/>
            </a:effectRef>
            <a:fontRef idx="minor">
              <a:schemeClr val="tx1"/>
            </a:fontRef>
          </p:style>
        </p:cxnSp>
        <p:cxnSp>
          <p:nvCxnSpPr>
            <p:cNvPr id="117" name="Connector 116"/>
            <p:cNvCxnSpPr/>
            <p:nvPr/>
          </p:nvCxnSpPr>
          <p:spPr>
            <a:xfrm>
              <a:off x="5084064" y="2103120"/>
              <a:ext cx="0" cy="146304"/>
            </a:xfrm>
            <a:prstGeom prst="line">
              <a:avLst/>
            </a:prstGeom>
            <a:ln w="10160">
              <a:solidFill>
                <a:srgbClr val="644A86"/>
              </a:solidFill>
            </a:ln>
            <a:effectLst/>
          </p:spPr>
          <p:style>
            <a:lnRef idx="2">
              <a:schemeClr val="accent1"/>
            </a:lnRef>
            <a:fillRef idx="0">
              <a:schemeClr val="accent1"/>
            </a:fillRef>
            <a:effectRef idx="0">
              <a:schemeClr val="accent1"/>
            </a:effectRef>
            <a:fontRef idx="minor">
              <a:schemeClr val="tx1"/>
            </a:fontRef>
          </p:style>
        </p:cxnSp>
        <p:cxnSp>
          <p:nvCxnSpPr>
            <p:cNvPr id="118" name="Connector 117"/>
            <p:cNvCxnSpPr/>
            <p:nvPr/>
          </p:nvCxnSpPr>
          <p:spPr>
            <a:xfrm>
              <a:off x="5084064" y="2249424"/>
              <a:ext cx="36576" cy="0"/>
            </a:xfrm>
            <a:prstGeom prst="line">
              <a:avLst/>
            </a:prstGeom>
            <a:ln w="10160">
              <a:solidFill>
                <a:srgbClr val="644A86"/>
              </a:solidFill>
            </a:ln>
            <a:effectLst/>
          </p:spPr>
          <p:style>
            <a:lnRef idx="2">
              <a:schemeClr val="accent1"/>
            </a:lnRef>
            <a:fillRef idx="0">
              <a:schemeClr val="accent1"/>
            </a:fillRef>
            <a:effectRef idx="0">
              <a:schemeClr val="accent1"/>
            </a:effectRef>
            <a:fontRef idx="minor">
              <a:schemeClr val="tx1"/>
            </a:fontRef>
          </p:style>
        </p:cxnSp>
        <p:cxnSp>
          <p:nvCxnSpPr>
            <p:cNvPr id="119" name="Connector 118"/>
            <p:cNvCxnSpPr/>
            <p:nvPr/>
          </p:nvCxnSpPr>
          <p:spPr>
            <a:xfrm flipH="1">
              <a:off x="7059168" y="2523744"/>
              <a:ext cx="36576" cy="0"/>
            </a:xfrm>
            <a:prstGeom prst="line">
              <a:avLst/>
            </a:prstGeom>
            <a:ln w="10160">
              <a:solidFill>
                <a:srgbClr val="644A86"/>
              </a:solidFill>
            </a:ln>
            <a:effectLst/>
          </p:spPr>
          <p:style>
            <a:lnRef idx="2">
              <a:schemeClr val="accent1"/>
            </a:lnRef>
            <a:fillRef idx="0">
              <a:schemeClr val="accent1"/>
            </a:fillRef>
            <a:effectRef idx="0">
              <a:schemeClr val="accent1"/>
            </a:effectRef>
            <a:fontRef idx="minor">
              <a:schemeClr val="tx1"/>
            </a:fontRef>
          </p:style>
        </p:cxnSp>
        <p:cxnSp>
          <p:nvCxnSpPr>
            <p:cNvPr id="120" name="Connector 119"/>
            <p:cNvCxnSpPr/>
            <p:nvPr/>
          </p:nvCxnSpPr>
          <p:spPr>
            <a:xfrm>
              <a:off x="7059168" y="2523744"/>
              <a:ext cx="0" cy="146304"/>
            </a:xfrm>
            <a:prstGeom prst="line">
              <a:avLst/>
            </a:prstGeom>
            <a:ln w="10160">
              <a:solidFill>
                <a:srgbClr val="644A86"/>
              </a:solidFill>
            </a:ln>
            <a:effectLst/>
          </p:spPr>
          <p:style>
            <a:lnRef idx="2">
              <a:schemeClr val="accent1"/>
            </a:lnRef>
            <a:fillRef idx="0">
              <a:schemeClr val="accent1"/>
            </a:fillRef>
            <a:effectRef idx="0">
              <a:schemeClr val="accent1"/>
            </a:effectRef>
            <a:fontRef idx="minor">
              <a:schemeClr val="tx1"/>
            </a:fontRef>
          </p:style>
        </p:cxnSp>
        <p:cxnSp>
          <p:nvCxnSpPr>
            <p:cNvPr id="121" name="Connector 120"/>
            <p:cNvCxnSpPr/>
            <p:nvPr/>
          </p:nvCxnSpPr>
          <p:spPr>
            <a:xfrm>
              <a:off x="7059168" y="2670048"/>
              <a:ext cx="36576" cy="0"/>
            </a:xfrm>
            <a:prstGeom prst="line">
              <a:avLst/>
            </a:prstGeom>
            <a:ln w="10160">
              <a:solidFill>
                <a:srgbClr val="644A86"/>
              </a:solidFill>
            </a:ln>
            <a:effectLst/>
          </p:spPr>
          <p:style>
            <a:lnRef idx="2">
              <a:schemeClr val="accent1"/>
            </a:lnRef>
            <a:fillRef idx="0">
              <a:schemeClr val="accent1"/>
            </a:fillRef>
            <a:effectRef idx="0">
              <a:schemeClr val="accent1"/>
            </a:effectRef>
            <a:fontRef idx="minor">
              <a:schemeClr val="tx1"/>
            </a:fontRef>
          </p:style>
        </p:cxnSp>
        <p:sp>
          <p:nvSpPr>
            <p:cNvPr id="122" name="Text: INT4 variation"/>
            <p:cNvSpPr txBox="1"/>
            <p:nvPr/>
          </p:nvSpPr>
          <p:spPr>
            <a:xfrm>
              <a:off x="5861304" y="2688336"/>
              <a:ext cx="1271016" cy="237744"/>
            </a:xfrm>
            <a:prstGeom prst="rect">
              <a:avLst/>
            </a:prstGeom>
            <a:noFill/>
            <a:effectLst/>
          </p:spPr>
          <p:txBody>
            <a:bodyPr wrap="none" lIns="0" rIns="0" tIns="0" bIns="0" anchor="ctr">
              <a:noAutofit/>
            </a:bodyPr>
            <a:lstStyle/>
            <a:p>
              <a:pPr algn="ctr">
                <a:spcBef>
                  <a:spcPts val="0"/>
                </a:spcBef>
                <a:spcAft>
                  <a:spcPts val="0"/>
                </a:spcAft>
              </a:pPr>
              <a:r>
                <a:rPr sz="1584" b="0" i="0" baseline="0" lang="en-US" dirty="0">
                  <a:solidFill>
                    <a:srgbClr val="477F9F"/>
                  </a:solidFill>
                  <a:latin typeface="Times New Roman"/>
                  <a:ea typeface="Times New Roman"/>
                  <a:cs typeface="Times New Roman"/>
                </a:rPr>
                <a:t>INT4 variation</a:t>
              </a:r>
            </a:p>
          </p:txBody>
        </p:sp>
        <p:sp>
          <p:nvSpPr>
            <p:cNvPr id="123" name="Text: shared level + within-group variation"/>
            <p:cNvSpPr txBox="1"/>
            <p:nvPr/>
          </p:nvSpPr>
          <p:spPr>
            <a:xfrm>
              <a:off x="3840480" y="2926080"/>
              <a:ext cx="3337560" cy="210312"/>
            </a:xfrm>
            <a:prstGeom prst="rect">
              <a:avLst/>
            </a:prstGeom>
            <a:noFill/>
            <a:effectLst/>
          </p:spPr>
          <p:txBody>
            <a:bodyPr wrap="none" lIns="0" rIns="0" tIns="0" bIns="0" anchor="ctr">
              <a:noAutofit/>
            </a:bodyPr>
            <a:lstStyle/>
            <a:p>
              <a:pPr algn="ctr">
                <a:spcBef>
                  <a:spcPts val="0"/>
                </a:spcBef>
                <a:spcAft>
                  <a:spcPts val="0"/>
                </a:spcAft>
              </a:pPr>
              <a:r>
                <a:rPr sz="1584" b="0" i="0" baseline="0" lang="en-US" dirty="0">
                  <a:solidFill>
                    <a:srgbClr val="233E5D"/>
                  </a:solidFill>
                  <a:latin typeface="Times New Roman"/>
                  <a:ea typeface="Times New Roman"/>
                  <a:cs typeface="Times New Roman"/>
                </a:rPr>
                <a:t>shared level + within-group variation</a:t>
              </a:r>
            </a:p>
          </p:txBody>
        </p:sp>
      </p:grpSp>
      <p:grpSp>
        <p:nvGrpSpPr>
          <p:cNvPr id="124" name="02 Deploy"/>
          <p:cNvGrpSpPr/>
          <p:nvPr/>
        </p:nvGrpSpPr>
        <p:grpSpPr>
          <a:xfrm>
            <a:off x="7443216" y="1207008"/>
            <a:ext cx="6967728" cy="1975104"/>
            <a:chOff x="7443216" y="1207008"/>
            <a:chExt cx="6967728" cy="1975104"/>
          </a:xfrm>
        </p:grpSpPr>
        <p:sp>
          <p:nvSpPr>
            <p:cNvPr id="125" name="Panel deploy"/>
            <p:cNvSpPr/>
            <p:nvPr/>
          </p:nvSpPr>
          <p:spPr>
            <a:xfrm>
              <a:off x="7443216" y="1207008"/>
              <a:ext cx="6967728" cy="1975104"/>
            </a:xfrm>
            <a:prstGeom prst="roundRect">
              <a:avLst>
                <a:gd name="adj" fmla="val 4629"/>
              </a:avLst>
            </a:prstGeom>
            <a:solidFill>
              <a:srgbClr val="F3F5F8"/>
            </a:solidFill>
            <a:ln w="10160">
              <a:solidFill>
                <a:srgbClr val="BBC6D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6" name="Text: Deploy"/>
            <p:cNvSpPr txBox="1"/>
            <p:nvPr/>
          </p:nvSpPr>
          <p:spPr>
            <a:xfrm>
              <a:off x="7607808" y="1271016"/>
              <a:ext cx="6638544" cy="228600"/>
            </a:xfrm>
            <a:prstGeom prst="rect">
              <a:avLst/>
            </a:prstGeom>
            <a:noFill/>
            <a:effectLst/>
          </p:spPr>
          <p:txBody>
            <a:bodyPr wrap="none" lIns="0" rIns="0" tIns="0" bIns="0" anchor="ctr">
              <a:noAutofit/>
            </a:bodyPr>
            <a:lstStyle/>
            <a:p>
              <a:pPr algn="l">
                <a:spcBef>
                  <a:spcPts val="0"/>
                </a:spcBef>
                <a:spcAft>
                  <a:spcPts val="0"/>
                </a:spcAft>
              </a:pPr>
              <a:r>
                <a:rPr sz="1655" b="1" i="0" baseline="0" lang="en-US" dirty="0">
                  <a:solidFill>
                    <a:srgbClr val="644A86"/>
                  </a:solidFill>
                  <a:latin typeface="Times New Roman"/>
                  <a:ea typeface="Times New Roman"/>
                  <a:cs typeface="Times New Roman"/>
                </a:rPr>
                <a:t>Deploy</a:t>
              </a:r>
            </a:p>
          </p:txBody>
        </p:sp>
        <p:sp>
          <p:nvSpPr>
            <p:cNvPr id="127" name="Text: One principle, three sites"/>
            <p:cNvSpPr txBox="1"/>
            <p:nvPr/>
          </p:nvSpPr>
          <p:spPr>
            <a:xfrm>
              <a:off x="7607808" y="1508760"/>
              <a:ext cx="6638544" cy="292608"/>
            </a:xfrm>
            <a:prstGeom prst="rect">
              <a:avLst/>
            </a:prstGeom>
            <a:noFill/>
            <a:effectLst/>
          </p:spPr>
          <p:txBody>
            <a:bodyPr wrap="none" lIns="0" rIns="0" tIns="0" bIns="0" anchor="ctr">
              <a:noAutofit/>
            </a:bodyPr>
            <a:lstStyle/>
            <a:p>
              <a:pPr algn="l">
                <a:spcBef>
                  <a:spcPts val="0"/>
                </a:spcBef>
                <a:spcAft>
                  <a:spcPts val="0"/>
                </a:spcAft>
              </a:pPr>
              <a:r>
                <a:rPr sz="2016" b="1" i="0" baseline="0" lang="en-US" dirty="0">
                  <a:solidFill>
                    <a:srgbClr val="233E5D"/>
                  </a:solidFill>
                  <a:latin typeface="Times New Roman"/>
                  <a:ea typeface="Times New Roman"/>
                  <a:cs typeface="Times New Roman"/>
                </a:rPr>
                <a:t>One principle, three sites</a:t>
              </a:r>
            </a:p>
          </p:txBody>
        </p:sp>
        <p:sp>
          <p:nvSpPr>
            <p:cNvPr id="128" name="Rounded Rectangle 127"/>
            <p:cNvSpPr/>
            <p:nvPr/>
          </p:nvSpPr>
          <p:spPr>
            <a:xfrm>
              <a:off x="7607808" y="1856231"/>
              <a:ext cx="448056" cy="356616"/>
            </a:xfrm>
            <a:prstGeom prst="roundRect">
              <a:avLst>
                <a:gd name="adj" fmla="val 12820"/>
              </a:avLst>
            </a:prstGeom>
            <a:solidFill>
              <a:srgbClr val="EFEAF5"/>
            </a:solidFill>
            <a:ln w="12065">
              <a:solidFill>
                <a:srgbClr val="644A8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9" name="Text: R"/>
            <p:cNvSpPr txBox="1"/>
            <p:nvPr/>
          </p:nvSpPr>
          <p:spPr>
            <a:xfrm>
              <a:off x="7686657" y="1826971"/>
              <a:ext cx="170114" cy="338328"/>
            </a:xfrm>
            <a:prstGeom prst="rect">
              <a:avLst/>
            </a:prstGeom>
            <a:noFill/>
            <a:effectLst/>
          </p:spPr>
          <p:txBody>
            <a:bodyPr wrap="none" lIns="0" rIns="0" tIns="0" bIns="0" anchor="ctr">
              <a:noAutofit/>
            </a:bodyPr>
            <a:lstStyle/>
            <a:p>
              <a:pPr algn="l">
                <a:spcBef>
                  <a:spcPts val="0"/>
                </a:spcBef>
                <a:spcAft>
                  <a:spcPts val="0"/>
                </a:spcAft>
              </a:pPr>
              <a:r>
                <a:rPr sz="2016" b="0" i="1" baseline="0" lang="en-US" dirty="0">
                  <a:solidFill>
                    <a:srgbClr val="644A86"/>
                  </a:solidFill>
                  <a:latin typeface="Times New Roman"/>
                  <a:ea typeface="Times New Roman"/>
                  <a:cs typeface="Times New Roman"/>
                </a:rPr>
                <a:t>R</a:t>
              </a:r>
            </a:p>
          </p:txBody>
        </p:sp>
        <p:sp>
          <p:nvSpPr>
            <p:cNvPr id="130" name="Text: 1"/>
            <p:cNvSpPr txBox="1"/>
            <p:nvPr/>
          </p:nvSpPr>
          <p:spPr>
            <a:xfrm>
              <a:off x="7879631" y="1909413"/>
              <a:ext cx="147675" cy="338328"/>
            </a:xfrm>
            <a:prstGeom prst="rect">
              <a:avLst/>
            </a:prstGeom>
            <a:noFill/>
            <a:effectLst/>
          </p:spPr>
          <p:txBody>
            <a:bodyPr wrap="none" lIns="0" rIns="0" tIns="0" bIns="0" anchor="ctr">
              <a:noAutofit/>
            </a:bodyPr>
            <a:lstStyle/>
            <a:p>
              <a:pPr algn="l">
                <a:spcBef>
                  <a:spcPts val="0"/>
                </a:spcBef>
                <a:spcAft>
                  <a:spcPts val="0"/>
                </a:spcAft>
              </a:pPr>
              <a:r>
                <a:rPr sz="1532" b="0" i="0" baseline="0" lang="en-US" dirty="0">
                  <a:solidFill>
                    <a:srgbClr val="644A86"/>
                  </a:solidFill>
                  <a:latin typeface="Times New Roman"/>
                  <a:ea typeface="Times New Roman"/>
                  <a:cs typeface="Times New Roman"/>
                </a:rPr>
                <a:t>1</a:t>
              </a:r>
            </a:p>
          </p:txBody>
        </p:sp>
        <p:sp>
          <p:nvSpPr>
            <p:cNvPr id="131" name="Rounded Rectangle 130"/>
            <p:cNvSpPr/>
            <p:nvPr/>
          </p:nvSpPr>
          <p:spPr>
            <a:xfrm>
              <a:off x="7607808" y="2286000"/>
              <a:ext cx="448056" cy="356616"/>
            </a:xfrm>
            <a:prstGeom prst="roundRect">
              <a:avLst>
                <a:gd name="adj" fmla="val 12820"/>
              </a:avLst>
            </a:prstGeom>
            <a:solidFill>
              <a:srgbClr val="EFEAF5"/>
            </a:solidFill>
            <a:ln w="12065">
              <a:solidFill>
                <a:srgbClr val="644A8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2" name="Text: R"/>
            <p:cNvSpPr txBox="1"/>
            <p:nvPr/>
          </p:nvSpPr>
          <p:spPr>
            <a:xfrm>
              <a:off x="7686657" y="2256739"/>
              <a:ext cx="170114" cy="338328"/>
            </a:xfrm>
            <a:prstGeom prst="rect">
              <a:avLst/>
            </a:prstGeom>
            <a:noFill/>
            <a:effectLst/>
          </p:spPr>
          <p:txBody>
            <a:bodyPr wrap="none" lIns="0" rIns="0" tIns="0" bIns="0" anchor="ctr">
              <a:noAutofit/>
            </a:bodyPr>
            <a:lstStyle/>
            <a:p>
              <a:pPr algn="l">
                <a:spcBef>
                  <a:spcPts val="0"/>
                </a:spcBef>
                <a:spcAft>
                  <a:spcPts val="0"/>
                </a:spcAft>
              </a:pPr>
              <a:r>
                <a:rPr sz="2016" b="0" i="1" baseline="0" lang="en-US" dirty="0">
                  <a:solidFill>
                    <a:srgbClr val="644A86"/>
                  </a:solidFill>
                  <a:latin typeface="Times New Roman"/>
                  <a:ea typeface="Times New Roman"/>
                  <a:cs typeface="Times New Roman"/>
                </a:rPr>
                <a:t>R</a:t>
              </a:r>
            </a:p>
          </p:txBody>
        </p:sp>
        <p:sp>
          <p:nvSpPr>
            <p:cNvPr id="133" name="Text: 2"/>
            <p:cNvSpPr txBox="1"/>
            <p:nvPr/>
          </p:nvSpPr>
          <p:spPr>
            <a:xfrm>
              <a:off x="7879631" y="2339181"/>
              <a:ext cx="147675" cy="338328"/>
            </a:xfrm>
            <a:prstGeom prst="rect">
              <a:avLst/>
            </a:prstGeom>
            <a:noFill/>
            <a:effectLst/>
          </p:spPr>
          <p:txBody>
            <a:bodyPr wrap="none" lIns="0" rIns="0" tIns="0" bIns="0" anchor="ctr">
              <a:noAutofit/>
            </a:bodyPr>
            <a:lstStyle/>
            <a:p>
              <a:pPr algn="l">
                <a:spcBef>
                  <a:spcPts val="0"/>
                </a:spcBef>
                <a:spcAft>
                  <a:spcPts val="0"/>
                </a:spcAft>
              </a:pPr>
              <a:r>
                <a:rPr sz="1532" b="0" i="0" baseline="0" lang="en-US" dirty="0">
                  <a:solidFill>
                    <a:srgbClr val="644A86"/>
                  </a:solidFill>
                  <a:latin typeface="Times New Roman"/>
                  <a:ea typeface="Times New Roman"/>
                  <a:cs typeface="Times New Roman"/>
                </a:rPr>
                <a:t>2</a:t>
              </a:r>
            </a:p>
          </p:txBody>
        </p:sp>
        <p:sp>
          <p:nvSpPr>
            <p:cNvPr id="134" name="Rounded Rectangle 133"/>
            <p:cNvSpPr/>
            <p:nvPr/>
          </p:nvSpPr>
          <p:spPr>
            <a:xfrm>
              <a:off x="7607808" y="2715768"/>
              <a:ext cx="448056" cy="356616"/>
            </a:xfrm>
            <a:prstGeom prst="roundRect">
              <a:avLst>
                <a:gd name="adj" fmla="val 12820"/>
              </a:avLst>
            </a:prstGeom>
            <a:solidFill>
              <a:srgbClr val="EFEAF5"/>
            </a:solidFill>
            <a:ln w="12065">
              <a:solidFill>
                <a:srgbClr val="644A8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5" name="Text: R"/>
            <p:cNvSpPr txBox="1"/>
            <p:nvPr/>
          </p:nvSpPr>
          <p:spPr>
            <a:xfrm>
              <a:off x="7686657" y="2686507"/>
              <a:ext cx="170114" cy="338328"/>
            </a:xfrm>
            <a:prstGeom prst="rect">
              <a:avLst/>
            </a:prstGeom>
            <a:noFill/>
            <a:effectLst/>
          </p:spPr>
          <p:txBody>
            <a:bodyPr wrap="none" lIns="0" rIns="0" tIns="0" bIns="0" anchor="ctr">
              <a:noAutofit/>
            </a:bodyPr>
            <a:lstStyle/>
            <a:p>
              <a:pPr algn="l">
                <a:spcBef>
                  <a:spcPts val="0"/>
                </a:spcBef>
                <a:spcAft>
                  <a:spcPts val="0"/>
                </a:spcAft>
              </a:pPr>
              <a:r>
                <a:rPr sz="2016" b="0" i="1" baseline="0" lang="en-US" dirty="0">
                  <a:solidFill>
                    <a:srgbClr val="644A86"/>
                  </a:solidFill>
                  <a:latin typeface="Times New Roman"/>
                  <a:ea typeface="Times New Roman"/>
                  <a:cs typeface="Times New Roman"/>
                </a:rPr>
                <a:t>R</a:t>
              </a:r>
            </a:p>
          </p:txBody>
        </p:sp>
        <p:sp>
          <p:nvSpPr>
            <p:cNvPr id="136" name="Text: 4"/>
            <p:cNvSpPr txBox="1"/>
            <p:nvPr/>
          </p:nvSpPr>
          <p:spPr>
            <a:xfrm>
              <a:off x="7879631" y="2768949"/>
              <a:ext cx="147675" cy="338328"/>
            </a:xfrm>
            <a:prstGeom prst="rect">
              <a:avLst/>
            </a:prstGeom>
            <a:noFill/>
            <a:effectLst/>
          </p:spPr>
          <p:txBody>
            <a:bodyPr wrap="none" lIns="0" rIns="0" tIns="0" bIns="0" anchor="ctr">
              <a:noAutofit/>
            </a:bodyPr>
            <a:lstStyle/>
            <a:p>
              <a:pPr algn="l">
                <a:spcBef>
                  <a:spcPts val="0"/>
                </a:spcBef>
                <a:spcAft>
                  <a:spcPts val="0"/>
                </a:spcAft>
              </a:pPr>
              <a:r>
                <a:rPr sz="1532" b="0" i="0" baseline="0" lang="en-US" dirty="0">
                  <a:solidFill>
                    <a:srgbClr val="644A86"/>
                  </a:solidFill>
                  <a:latin typeface="Times New Roman"/>
                  <a:ea typeface="Times New Roman"/>
                  <a:cs typeface="Times New Roman"/>
                </a:rPr>
                <a:t>4</a:t>
              </a:r>
            </a:p>
          </p:txBody>
        </p:sp>
        <p:sp>
          <p:nvSpPr>
            <p:cNvPr id="137" name="Rectangle 136"/>
            <p:cNvSpPr/>
            <p:nvPr/>
          </p:nvSpPr>
          <p:spPr>
            <a:xfrm>
              <a:off x="8302752" y="1892807"/>
              <a:ext cx="877824" cy="45720"/>
            </a:xfrm>
            <a:prstGeom prst="rect">
              <a:avLst/>
            </a:prstGeom>
            <a:solidFill>
              <a:srgbClr val="EFEAF5"/>
            </a:solidFill>
            <a:ln w="5715">
              <a:solidFill>
                <a:srgbClr val="644A8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8" name="Rectangle 137"/>
            <p:cNvSpPr/>
            <p:nvPr/>
          </p:nvSpPr>
          <p:spPr>
            <a:xfrm>
              <a:off x="8302752" y="1993392"/>
              <a:ext cx="877824" cy="45720"/>
            </a:xfrm>
            <a:prstGeom prst="rect">
              <a:avLst/>
            </a:prstGeom>
            <a:solidFill>
              <a:srgbClr val="EFEAF5"/>
            </a:solidFill>
            <a:ln w="5715">
              <a:solidFill>
                <a:srgbClr val="644A8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9" name="Rectangle 138"/>
            <p:cNvSpPr/>
            <p:nvPr/>
          </p:nvSpPr>
          <p:spPr>
            <a:xfrm>
              <a:off x="8302752" y="2093976"/>
              <a:ext cx="877824" cy="45720"/>
            </a:xfrm>
            <a:prstGeom prst="rect">
              <a:avLst/>
            </a:prstGeom>
            <a:solidFill>
              <a:srgbClr val="EFEAF5"/>
            </a:solidFill>
            <a:ln w="5715">
              <a:solidFill>
                <a:srgbClr val="644A8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40" name="Connector 139"/>
            <p:cNvCxnSpPr/>
            <p:nvPr/>
          </p:nvCxnSpPr>
          <p:spPr>
            <a:xfrm>
              <a:off x="8193024" y="1892807"/>
              <a:ext cx="0" cy="246889"/>
            </a:xfrm>
            <a:prstGeom prst="line">
              <a:avLst/>
            </a:prstGeom>
            <a:ln w="8255">
              <a:solidFill>
                <a:srgbClr val="644A86"/>
              </a:solidFill>
            </a:ln>
            <a:effectLst/>
          </p:spPr>
          <p:style>
            <a:lnRef idx="2">
              <a:schemeClr val="accent1"/>
            </a:lnRef>
            <a:fillRef idx="0">
              <a:schemeClr val="accent1"/>
            </a:fillRef>
            <a:effectRef idx="0">
              <a:schemeClr val="accent1"/>
            </a:effectRef>
            <a:fontRef idx="minor">
              <a:schemeClr val="tx1"/>
            </a:fontRef>
          </p:style>
        </p:cxnSp>
        <p:sp>
          <p:nvSpPr>
            <p:cNvPr id="141" name="Rounded Rectangle 140"/>
            <p:cNvSpPr/>
            <p:nvPr/>
          </p:nvSpPr>
          <p:spPr>
            <a:xfrm>
              <a:off x="8311896" y="2350008"/>
              <a:ext cx="210312" cy="246888"/>
            </a:xfrm>
            <a:prstGeom prst="roundRect">
              <a:avLst>
                <a:gd name="adj" fmla="val 13043"/>
              </a:avLst>
            </a:prstGeom>
            <a:solidFill>
              <a:srgbClr val="FFFFFF"/>
            </a:solidFill>
            <a:ln w="9525">
              <a:solidFill>
                <a:srgbClr val="644A8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2" name="Rounded Rectangle 141"/>
            <p:cNvSpPr/>
            <p:nvPr/>
          </p:nvSpPr>
          <p:spPr>
            <a:xfrm>
              <a:off x="8595360" y="2350008"/>
              <a:ext cx="210312" cy="246888"/>
            </a:xfrm>
            <a:prstGeom prst="roundRect">
              <a:avLst>
                <a:gd name="adj" fmla="val 13043"/>
              </a:avLst>
            </a:prstGeom>
            <a:solidFill>
              <a:srgbClr val="FFFFFF"/>
            </a:solidFill>
            <a:ln w="9525">
              <a:solidFill>
                <a:srgbClr val="644A8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3" name="Rounded Rectangle 142"/>
            <p:cNvSpPr/>
            <p:nvPr/>
          </p:nvSpPr>
          <p:spPr>
            <a:xfrm>
              <a:off x="8878824" y="2350008"/>
              <a:ext cx="210312" cy="246888"/>
            </a:xfrm>
            <a:prstGeom prst="roundRect">
              <a:avLst>
                <a:gd name="adj" fmla="val 13043"/>
              </a:avLst>
            </a:prstGeom>
            <a:solidFill>
              <a:srgbClr val="FFFFFF"/>
            </a:solidFill>
            <a:ln w="9525">
              <a:solidFill>
                <a:srgbClr val="644A8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44" name="Connector 143"/>
            <p:cNvCxnSpPr/>
            <p:nvPr/>
          </p:nvCxnSpPr>
          <p:spPr>
            <a:xfrm>
              <a:off x="8202168" y="2295144"/>
              <a:ext cx="786384" cy="0"/>
            </a:xfrm>
            <a:prstGeom prst="line">
              <a:avLst/>
            </a:prstGeom>
            <a:ln w="8255">
              <a:solidFill>
                <a:srgbClr val="644A86"/>
              </a:solidFill>
            </a:ln>
            <a:effectLst/>
          </p:spPr>
          <p:style>
            <a:lnRef idx="2">
              <a:schemeClr val="accent1"/>
            </a:lnRef>
            <a:fillRef idx="0">
              <a:schemeClr val="accent1"/>
            </a:fillRef>
            <a:effectRef idx="0">
              <a:schemeClr val="accent1"/>
            </a:effectRef>
            <a:fontRef idx="minor">
              <a:schemeClr val="tx1"/>
            </a:fontRef>
          </p:style>
        </p:cxnSp>
        <p:cxnSp>
          <p:nvCxnSpPr>
            <p:cNvPr id="145" name="Connector 144"/>
            <p:cNvCxnSpPr/>
            <p:nvPr/>
          </p:nvCxnSpPr>
          <p:spPr>
            <a:xfrm>
              <a:off x="8412480" y="2295144"/>
              <a:ext cx="0" cy="54864"/>
            </a:xfrm>
            <a:prstGeom prst="line">
              <a:avLst/>
            </a:prstGeom>
            <a:ln w="8255">
              <a:solidFill>
                <a:srgbClr val="644A86"/>
              </a:solidFill>
            </a:ln>
            <a:effectLst/>
          </p:spPr>
          <p:style>
            <a:lnRef idx="2">
              <a:schemeClr val="accent1"/>
            </a:lnRef>
            <a:fillRef idx="0">
              <a:schemeClr val="accent1"/>
            </a:fillRef>
            <a:effectRef idx="0">
              <a:schemeClr val="accent1"/>
            </a:effectRef>
            <a:fontRef idx="minor">
              <a:schemeClr val="tx1"/>
            </a:fontRef>
          </p:style>
        </p:cxnSp>
        <p:cxnSp>
          <p:nvCxnSpPr>
            <p:cNvPr id="146" name="Connector 145"/>
            <p:cNvCxnSpPr/>
            <p:nvPr/>
          </p:nvCxnSpPr>
          <p:spPr>
            <a:xfrm>
              <a:off x="8695944" y="2295144"/>
              <a:ext cx="0" cy="54864"/>
            </a:xfrm>
            <a:prstGeom prst="line">
              <a:avLst/>
            </a:prstGeom>
            <a:ln w="8255">
              <a:solidFill>
                <a:srgbClr val="644A86"/>
              </a:solidFill>
            </a:ln>
            <a:effectLst/>
          </p:spPr>
          <p:style>
            <a:lnRef idx="2">
              <a:schemeClr val="accent1"/>
            </a:lnRef>
            <a:fillRef idx="0">
              <a:schemeClr val="accent1"/>
            </a:fillRef>
            <a:effectRef idx="0">
              <a:schemeClr val="accent1"/>
            </a:effectRef>
            <a:fontRef idx="minor">
              <a:schemeClr val="tx1"/>
            </a:fontRef>
          </p:style>
        </p:cxnSp>
        <p:cxnSp>
          <p:nvCxnSpPr>
            <p:cNvPr id="147" name="Connector 146"/>
            <p:cNvCxnSpPr/>
            <p:nvPr/>
          </p:nvCxnSpPr>
          <p:spPr>
            <a:xfrm>
              <a:off x="8979408" y="2295144"/>
              <a:ext cx="0" cy="54864"/>
            </a:xfrm>
            <a:prstGeom prst="line">
              <a:avLst/>
            </a:prstGeom>
            <a:ln w="8255">
              <a:solidFill>
                <a:srgbClr val="644A86"/>
              </a:solidFill>
            </a:ln>
            <a:effectLst/>
          </p:spPr>
          <p:style>
            <a:lnRef idx="2">
              <a:schemeClr val="accent1"/>
            </a:lnRef>
            <a:fillRef idx="0">
              <a:schemeClr val="accent1"/>
            </a:fillRef>
            <a:effectRef idx="0">
              <a:schemeClr val="accent1"/>
            </a:effectRef>
            <a:fontRef idx="minor">
              <a:schemeClr val="tx1"/>
            </a:fontRef>
          </p:style>
        </p:cxnSp>
        <p:cxnSp>
          <p:nvCxnSpPr>
            <p:cNvPr id="148" name="Connector 147"/>
            <p:cNvCxnSpPr/>
            <p:nvPr/>
          </p:nvCxnSpPr>
          <p:spPr>
            <a:xfrm>
              <a:off x="8247888" y="2889504"/>
              <a:ext cx="310896" cy="0"/>
            </a:xfrm>
            <a:prstGeom prst="line">
              <a:avLst/>
            </a:prstGeom>
            <a:ln w="11430">
              <a:solidFill>
                <a:srgbClr val="233E5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49" name="Rounded Rectangle 148"/>
            <p:cNvSpPr/>
            <p:nvPr/>
          </p:nvSpPr>
          <p:spPr>
            <a:xfrm>
              <a:off x="8586216" y="2770632"/>
              <a:ext cx="667512" cy="237744"/>
            </a:xfrm>
            <a:prstGeom prst="roundRect">
              <a:avLst>
                <a:gd name="adj" fmla="val 19230"/>
              </a:avLst>
            </a:prstGeom>
            <a:solidFill>
              <a:srgbClr val="E7F1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0" name="Text: online"/>
            <p:cNvSpPr txBox="1"/>
            <p:nvPr/>
          </p:nvSpPr>
          <p:spPr>
            <a:xfrm>
              <a:off x="8586216" y="2770632"/>
              <a:ext cx="667512" cy="237744"/>
            </a:xfrm>
            <a:prstGeom prst="rect">
              <a:avLst/>
            </a:prstGeom>
            <a:noFill/>
            <a:effectLst/>
          </p:spPr>
          <p:txBody>
            <a:bodyPr wrap="none" lIns="0" rIns="0" tIns="0" bIns="0" anchor="ctr">
              <a:noAutofit/>
            </a:bodyPr>
            <a:lstStyle/>
            <a:p>
              <a:pPr algn="ctr">
                <a:spcBef>
                  <a:spcPts val="0"/>
                </a:spcBef>
                <a:spcAft>
                  <a:spcPts val="0"/>
                </a:spcAft>
              </a:pPr>
              <a:r>
                <a:rPr sz="1584" b="0" i="0" baseline="0" lang="en-US" dirty="0">
                  <a:solidFill>
                    <a:srgbClr val="477F9F"/>
                  </a:solidFill>
                  <a:latin typeface="Times New Roman"/>
                  <a:ea typeface="Times New Roman"/>
                  <a:cs typeface="Times New Roman"/>
                </a:rPr>
                <a:t>online</a:t>
              </a:r>
            </a:p>
          </p:txBody>
        </p:sp>
        <p:cxnSp>
          <p:nvCxnSpPr>
            <p:cNvPr id="151" name="Connector 150"/>
            <p:cNvCxnSpPr/>
            <p:nvPr/>
          </p:nvCxnSpPr>
          <p:spPr>
            <a:xfrm>
              <a:off x="9253728" y="2889504"/>
              <a:ext cx="128016" cy="0"/>
            </a:xfrm>
            <a:prstGeom prst="line">
              <a:avLst/>
            </a:prstGeom>
            <a:ln w="11430">
              <a:solidFill>
                <a:srgbClr val="233E5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52" name="Text: Global residual basis"/>
            <p:cNvSpPr txBox="1"/>
            <p:nvPr/>
          </p:nvSpPr>
          <p:spPr>
            <a:xfrm>
              <a:off x="9509760" y="1837943"/>
              <a:ext cx="4754880" cy="246888"/>
            </a:xfrm>
            <a:prstGeom prst="rect">
              <a:avLst/>
            </a:prstGeom>
            <a:noFill/>
            <a:effectLst/>
          </p:spPr>
          <p:txBody>
            <a:bodyPr wrap="none" lIns="0" rIns="0" tIns="0" bIns="0" anchor="ctr">
              <a:noAutofit/>
            </a:bodyPr>
            <a:lstStyle/>
            <a:p>
              <a:pPr algn="l">
                <a:spcBef>
                  <a:spcPts val="0"/>
                </a:spcBef>
                <a:spcAft>
                  <a:spcPts val="0"/>
                </a:spcAft>
              </a:pPr>
              <a:r>
                <a:rPr sz="1800" b="1" i="0" baseline="0" lang="en-US" dirty="0">
                  <a:solidFill>
                    <a:srgbClr val="233E5D"/>
                  </a:solidFill>
                  <a:latin typeface="Times New Roman"/>
                  <a:ea typeface="Times New Roman"/>
                  <a:cs typeface="Times New Roman"/>
                </a:rPr>
                <a:t>Global residual basis</a:t>
              </a:r>
            </a:p>
          </p:txBody>
        </p:sp>
        <p:sp>
          <p:nvSpPr>
            <p:cNvPr id="153" name="Text: Shared across layers"/>
            <p:cNvSpPr txBox="1"/>
            <p:nvPr/>
          </p:nvSpPr>
          <p:spPr>
            <a:xfrm>
              <a:off x="9509760" y="2066543"/>
              <a:ext cx="4754880" cy="219456"/>
            </a:xfrm>
            <a:prstGeom prst="rect">
              <a:avLst/>
            </a:prstGeom>
            <a:noFill/>
            <a:effectLst/>
          </p:spPr>
          <p:txBody>
            <a:bodyPr wrap="none" lIns="0" rIns="0" tIns="0" bIns="0" anchor="ctr">
              <a:noAutofit/>
            </a:bodyPr>
            <a:lstStyle/>
            <a:p>
              <a:pPr algn="l">
                <a:spcBef>
                  <a:spcPts val="0"/>
                </a:spcBef>
                <a:spcAft>
                  <a:spcPts val="0"/>
                </a:spcAft>
              </a:pPr>
              <a:r>
                <a:rPr sz="1655" b="0" i="0" baseline="0" lang="en-US" dirty="0">
                  <a:solidFill>
                    <a:srgbClr val="557087"/>
                  </a:solidFill>
                  <a:latin typeface="Times New Roman"/>
                  <a:ea typeface="Times New Roman"/>
                  <a:cs typeface="Times New Roman"/>
                </a:rPr>
                <a:t>Shared across layers</a:t>
              </a:r>
            </a:p>
          </p:txBody>
        </p:sp>
        <p:sp>
          <p:nvSpPr>
            <p:cNvPr id="154" name="Text: Head-wise values"/>
            <p:cNvSpPr txBox="1"/>
            <p:nvPr/>
          </p:nvSpPr>
          <p:spPr>
            <a:xfrm>
              <a:off x="9509760" y="2267712"/>
              <a:ext cx="4754880" cy="246888"/>
            </a:xfrm>
            <a:prstGeom prst="rect">
              <a:avLst/>
            </a:prstGeom>
            <a:noFill/>
            <a:effectLst/>
          </p:spPr>
          <p:txBody>
            <a:bodyPr wrap="none" lIns="0" rIns="0" tIns="0" bIns="0" anchor="ctr">
              <a:noAutofit/>
            </a:bodyPr>
            <a:lstStyle/>
            <a:p>
              <a:pPr algn="l">
                <a:spcBef>
                  <a:spcPts val="0"/>
                </a:spcBef>
                <a:spcAft>
                  <a:spcPts val="0"/>
                </a:spcAft>
              </a:pPr>
              <a:r>
                <a:rPr sz="1800" b="1" i="0" baseline="0" lang="en-US" dirty="0">
                  <a:solidFill>
                    <a:srgbClr val="233E5D"/>
                  </a:solidFill>
                  <a:latin typeface="Times New Roman"/>
                  <a:ea typeface="Times New Roman"/>
                  <a:cs typeface="Times New Roman"/>
                </a:rPr>
                <a:t>Head-wise values</a:t>
              </a:r>
            </a:p>
          </p:txBody>
        </p:sp>
        <p:sp>
          <p:nvSpPr>
            <p:cNvPr id="155" name="Text: Shared across heads within a layer"/>
            <p:cNvSpPr txBox="1"/>
            <p:nvPr/>
          </p:nvSpPr>
          <p:spPr>
            <a:xfrm>
              <a:off x="9509760" y="2496312"/>
              <a:ext cx="4754880" cy="219456"/>
            </a:xfrm>
            <a:prstGeom prst="rect">
              <a:avLst/>
            </a:prstGeom>
            <a:noFill/>
            <a:effectLst/>
          </p:spPr>
          <p:txBody>
            <a:bodyPr wrap="none" lIns="0" rIns="0" tIns="0" bIns="0" anchor="ctr">
              <a:noAutofit/>
            </a:bodyPr>
            <a:lstStyle/>
            <a:p>
              <a:pPr algn="l">
                <a:spcBef>
                  <a:spcPts val="0"/>
                </a:spcBef>
                <a:spcAft>
                  <a:spcPts val="0"/>
                </a:spcAft>
              </a:pPr>
              <a:r>
                <a:rPr sz="1655" b="0" i="0" baseline="0" lang="en-US" dirty="0">
                  <a:solidFill>
                    <a:srgbClr val="557087"/>
                  </a:solidFill>
                  <a:latin typeface="Times New Roman"/>
                  <a:ea typeface="Times New Roman"/>
                  <a:cs typeface="Times New Roman"/>
                </a:rPr>
                <a:t>Shared across heads within a layer</a:t>
              </a:r>
            </a:p>
          </p:txBody>
        </p:sp>
        <p:sp>
          <p:nvSpPr>
            <p:cNvPr id="156" name="Text: Down-projection input"/>
            <p:cNvSpPr txBox="1"/>
            <p:nvPr/>
          </p:nvSpPr>
          <p:spPr>
            <a:xfrm>
              <a:off x="9509760" y="2697480"/>
              <a:ext cx="4754880" cy="246888"/>
            </a:xfrm>
            <a:prstGeom prst="rect">
              <a:avLst/>
            </a:prstGeom>
            <a:noFill/>
            <a:effectLst/>
          </p:spPr>
          <p:txBody>
            <a:bodyPr wrap="none" lIns="0" rIns="0" tIns="0" bIns="0" anchor="ctr">
              <a:noAutofit/>
            </a:bodyPr>
            <a:lstStyle/>
            <a:p>
              <a:pPr algn="l">
                <a:spcBef>
                  <a:spcPts val="0"/>
                </a:spcBef>
                <a:spcAft>
                  <a:spcPts val="0"/>
                </a:spcAft>
              </a:pPr>
              <a:r>
                <a:rPr sz="1800" b="1" i="0" baseline="0" lang="en-US" dirty="0">
                  <a:solidFill>
                    <a:srgbClr val="233E5D"/>
                  </a:solidFill>
                  <a:latin typeface="Times New Roman"/>
                  <a:ea typeface="Times New Roman"/>
                  <a:cs typeface="Times New Roman"/>
                </a:rPr>
                <a:t>Down-projection input</a:t>
              </a:r>
            </a:p>
          </p:txBody>
        </p:sp>
        <p:sp>
          <p:nvSpPr>
            <p:cNvPr id="157" name="Text: Per layer"/>
            <p:cNvSpPr txBox="1"/>
            <p:nvPr/>
          </p:nvSpPr>
          <p:spPr>
            <a:xfrm>
              <a:off x="9509760" y="2926080"/>
              <a:ext cx="4754880" cy="219456"/>
            </a:xfrm>
            <a:prstGeom prst="rect">
              <a:avLst/>
            </a:prstGeom>
            <a:noFill/>
            <a:effectLst/>
          </p:spPr>
          <p:txBody>
            <a:bodyPr wrap="none" lIns="0" rIns="0" tIns="0" bIns="0" anchor="ctr">
              <a:noAutofit/>
            </a:bodyPr>
            <a:lstStyle/>
            <a:p>
              <a:pPr algn="l">
                <a:spcBef>
                  <a:spcPts val="0"/>
                </a:spcBef>
                <a:spcAft>
                  <a:spcPts val="0"/>
                </a:spcAft>
              </a:pPr>
              <a:r>
                <a:rPr sz="1655" b="0" i="0" baseline="0" lang="en-US" dirty="0">
                  <a:solidFill>
                    <a:srgbClr val="557087"/>
                  </a:solidFill>
                  <a:latin typeface="Times New Roman"/>
                  <a:ea typeface="Times New Roman"/>
                  <a:cs typeface="Times New Roman"/>
                </a:rPr>
                <a:t>Per layer</a:t>
              </a:r>
            </a:p>
          </p:txBody>
        </p:sp>
      </p:grpSp>
      <p:grpSp>
        <p:nvGrpSpPr>
          <p:cNvPr id="158" name="03 Attention expansion"/>
          <p:cNvGrpSpPr/>
          <p:nvPr/>
        </p:nvGrpSpPr>
        <p:grpSpPr>
          <a:xfrm>
            <a:off x="219456" y="3310128"/>
            <a:ext cx="6757416" cy="3291840"/>
            <a:chOff x="219456" y="3310128"/>
            <a:chExt cx="6757416" cy="3291840"/>
          </a:xfrm>
        </p:grpSpPr>
        <p:sp>
          <p:nvSpPr>
            <p:cNvPr id="159" name="Panel attention"/>
            <p:cNvSpPr/>
            <p:nvPr/>
          </p:nvSpPr>
          <p:spPr>
            <a:xfrm>
              <a:off x="219456" y="3310128"/>
              <a:ext cx="6757416" cy="3291840"/>
            </a:xfrm>
            <a:prstGeom prst="roundRect">
              <a:avLst>
                <a:gd name="adj" fmla="val 2777"/>
              </a:avLst>
            </a:prstGeom>
            <a:solidFill>
              <a:srgbClr val="F3F5F8"/>
            </a:solidFill>
            <a:ln w="10160">
              <a:solidFill>
                <a:srgbClr val="BBC6D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0" name="Text: (a)  Attention"/>
            <p:cNvSpPr txBox="1"/>
            <p:nvPr/>
          </p:nvSpPr>
          <p:spPr>
            <a:xfrm>
              <a:off x="384048" y="3401568"/>
              <a:ext cx="6428232" cy="320040"/>
            </a:xfrm>
            <a:prstGeom prst="rect">
              <a:avLst/>
            </a:prstGeom>
            <a:noFill/>
            <a:effectLst/>
          </p:spPr>
          <p:txBody>
            <a:bodyPr wrap="none" lIns="0" rIns="0" tIns="0" bIns="0" anchor="ctr">
              <a:noAutofit/>
            </a:bodyPr>
            <a:lstStyle/>
            <a:p>
              <a:pPr algn="l">
                <a:spcBef>
                  <a:spcPts val="0"/>
                </a:spcBef>
                <a:spcAft>
                  <a:spcPts val="0"/>
                </a:spcAft>
              </a:pPr>
              <a:r>
                <a:rPr sz="2160" b="1" i="0" baseline="0" lang="en-US" dirty="0">
                  <a:solidFill>
                    <a:srgbClr val="233E5D"/>
                  </a:solidFill>
                  <a:latin typeface="Times New Roman"/>
                  <a:ea typeface="Times New Roman"/>
                  <a:cs typeface="Times New Roman"/>
                </a:rPr>
                <a:t>(a)  Attention</a:t>
              </a:r>
            </a:p>
          </p:txBody>
        </p:sp>
        <p:sp>
          <p:nvSpPr>
            <p:cNvPr id="161" name="Text: Calibrated value rotation; inverse folded int"/>
            <p:cNvSpPr txBox="1"/>
            <p:nvPr/>
          </p:nvSpPr>
          <p:spPr>
            <a:xfrm>
              <a:off x="402336" y="3694176"/>
              <a:ext cx="6309360" cy="265176"/>
            </a:xfrm>
            <a:prstGeom prst="rect">
              <a:avLst/>
            </a:prstGeom>
            <a:noFill/>
            <a:effectLst/>
          </p:spPr>
          <p:txBody>
            <a:bodyPr wrap="none" lIns="0" rIns="0" tIns="0" bIns="0" anchor="ctr">
              <a:noAutofit/>
            </a:bodyPr>
            <a:lstStyle/>
            <a:p>
              <a:pPr algn="l">
                <a:spcBef>
                  <a:spcPts val="0"/>
                </a:spcBef>
                <a:spcAft>
                  <a:spcPts val="0"/>
                </a:spcAft>
              </a:pPr>
              <a:r>
                <a:rPr sz="1655" b="0" i="0" baseline="0" lang="en-US" dirty="0">
                  <a:solidFill>
                    <a:srgbClr val="557087"/>
                  </a:solidFill>
                  <a:latin typeface="Times New Roman"/>
                  <a:ea typeface="Times New Roman"/>
                  <a:cs typeface="Times New Roman"/>
                </a:rPr>
                <a:t>Calibrated value rotation; inverse folded into output weights</a:t>
              </a:r>
            </a:p>
          </p:txBody>
        </p:sp>
        <p:sp>
          <p:nvSpPr>
            <p:cNvPr id="162" name="Text: X"/>
            <p:cNvSpPr txBox="1"/>
            <p:nvPr/>
          </p:nvSpPr>
          <p:spPr>
            <a:xfrm>
              <a:off x="365760" y="4580686"/>
              <a:ext cx="164527" cy="265176"/>
            </a:xfrm>
            <a:prstGeom prst="rect">
              <a:avLst/>
            </a:prstGeom>
            <a:noFill/>
            <a:effectLst/>
          </p:spPr>
          <p:txBody>
            <a:bodyPr wrap="none" lIns="0" rIns="0" tIns="0" bIns="0" anchor="ctr">
              <a:noAutofit/>
            </a:bodyPr>
            <a:lstStyle/>
            <a:p>
              <a:pPr algn="l">
                <a:spcBef>
                  <a:spcPts val="0"/>
                </a:spcBef>
                <a:spcAft>
                  <a:spcPts val="0"/>
                </a:spcAft>
              </a:pPr>
              <a:r>
                <a:rPr sz="1943" b="0" i="1" baseline="0" lang="en-US" dirty="0">
                  <a:solidFill>
                    <a:srgbClr val="233E5D"/>
                  </a:solidFill>
                  <a:latin typeface="Times New Roman"/>
                  <a:ea typeface="Times New Roman"/>
                  <a:cs typeface="Times New Roman"/>
                </a:rPr>
                <a:t>X</a:t>
              </a:r>
            </a:p>
          </p:txBody>
        </p:sp>
        <p:sp>
          <p:nvSpPr>
            <p:cNvPr id="163" name="Rounded Rectangle 162"/>
            <p:cNvSpPr/>
            <p:nvPr/>
          </p:nvSpPr>
          <p:spPr>
            <a:xfrm>
              <a:off x="667512" y="4590288"/>
              <a:ext cx="365760" cy="420624"/>
            </a:xfrm>
            <a:prstGeom prst="roundRect">
              <a:avLst>
                <a:gd name="adj" fmla="val 12500"/>
              </a:avLst>
            </a:prstGeom>
            <a:solidFill>
              <a:srgbClr val="E7F1F6"/>
            </a:solidFill>
            <a:ln w="12065">
              <a:solidFill>
                <a:srgbClr val="477F9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4" name="Text: A"/>
            <p:cNvSpPr txBox="1"/>
            <p:nvPr/>
          </p:nvSpPr>
          <p:spPr>
            <a:xfrm>
              <a:off x="709835" y="4562398"/>
              <a:ext cx="164527" cy="402336"/>
            </a:xfrm>
            <a:prstGeom prst="rect">
              <a:avLst/>
            </a:prstGeom>
            <a:noFill/>
            <a:effectLst/>
          </p:spPr>
          <p:txBody>
            <a:bodyPr wrap="none" lIns="0" rIns="0" tIns="0" bIns="0" anchor="ctr">
              <a:noAutofit/>
            </a:bodyPr>
            <a:lstStyle/>
            <a:p>
              <a:pPr algn="l">
                <a:spcBef>
                  <a:spcPts val="0"/>
                </a:spcBef>
                <a:spcAft>
                  <a:spcPts val="0"/>
                </a:spcAft>
              </a:pPr>
              <a:r>
                <a:rPr sz="1943" b="0" i="1" baseline="0" lang="en-US" dirty="0">
                  <a:solidFill>
                    <a:srgbClr val="477F9F"/>
                  </a:solidFill>
                  <a:latin typeface="Times New Roman"/>
                  <a:ea typeface="Times New Roman"/>
                  <a:cs typeface="Times New Roman"/>
                </a:rPr>
                <a:t>A</a:t>
              </a:r>
            </a:p>
          </p:txBody>
        </p:sp>
        <p:sp>
          <p:nvSpPr>
            <p:cNvPr id="165" name="Text: 4"/>
            <p:cNvSpPr txBox="1"/>
            <p:nvPr/>
          </p:nvSpPr>
          <p:spPr>
            <a:xfrm>
              <a:off x="897222" y="4641896"/>
              <a:ext cx="144018" cy="402336"/>
            </a:xfrm>
            <a:prstGeom prst="rect">
              <a:avLst/>
            </a:prstGeom>
            <a:noFill/>
            <a:effectLst/>
          </p:spPr>
          <p:txBody>
            <a:bodyPr wrap="none" lIns="0" rIns="0" tIns="0" bIns="0" anchor="ctr">
              <a:noAutofit/>
            </a:bodyPr>
            <a:lstStyle/>
            <a:p>
              <a:pPr algn="l">
                <a:spcBef>
                  <a:spcPts val="0"/>
                </a:spcBef>
                <a:spcAft>
                  <a:spcPts val="0"/>
                </a:spcAft>
              </a:pPr>
              <a:r>
                <a:rPr sz="1477" b="0" i="0" baseline="0" lang="en-US" dirty="0">
                  <a:solidFill>
                    <a:srgbClr val="477F9F"/>
                  </a:solidFill>
                  <a:latin typeface="Times New Roman"/>
                  <a:ea typeface="Times New Roman"/>
                  <a:cs typeface="Times New Roman"/>
                </a:rPr>
                <a:t>4</a:t>
              </a:r>
            </a:p>
          </p:txBody>
        </p:sp>
        <p:cxnSp>
          <p:nvCxnSpPr>
            <p:cNvPr id="166" name="Connector 165"/>
            <p:cNvCxnSpPr/>
            <p:nvPr/>
          </p:nvCxnSpPr>
          <p:spPr>
            <a:xfrm>
              <a:off x="594360" y="4800600"/>
              <a:ext cx="73152" cy="0"/>
            </a:xfrm>
            <a:prstGeom prst="line">
              <a:avLst/>
            </a:prstGeom>
            <a:ln w="15875">
              <a:solidFill>
                <a:srgbClr val="233E5D"/>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67" name="Connector 166"/>
            <p:cNvCxnSpPr/>
            <p:nvPr/>
          </p:nvCxnSpPr>
          <p:spPr>
            <a:xfrm>
              <a:off x="1033271" y="4800600"/>
              <a:ext cx="128017" cy="0"/>
            </a:xfrm>
            <a:prstGeom prst="line">
              <a:avLst/>
            </a:prstGeom>
            <a:ln w="15875">
              <a:solidFill>
                <a:srgbClr val="233E5D"/>
              </a:solidFill>
            </a:ln>
            <a:effectLst/>
          </p:spPr>
          <p:style>
            <a:lnRef idx="2">
              <a:schemeClr val="accent1"/>
            </a:lnRef>
            <a:fillRef idx="0">
              <a:schemeClr val="accent1"/>
            </a:fillRef>
            <a:effectRef idx="0">
              <a:schemeClr val="accent1"/>
            </a:effectRef>
            <a:fontRef idx="minor">
              <a:schemeClr val="tx1"/>
            </a:fontRef>
          </p:style>
        </p:cxnSp>
        <p:cxnSp>
          <p:nvCxnSpPr>
            <p:cNvPr id="168" name="Connector 167"/>
            <p:cNvCxnSpPr/>
            <p:nvPr/>
          </p:nvCxnSpPr>
          <p:spPr>
            <a:xfrm>
              <a:off x="1161288" y="4197096"/>
              <a:ext cx="0" cy="1389888"/>
            </a:xfrm>
            <a:prstGeom prst="line">
              <a:avLst/>
            </a:prstGeom>
            <a:ln w="15875">
              <a:solidFill>
                <a:srgbClr val="233E5D"/>
              </a:solidFill>
            </a:ln>
            <a:effectLst/>
          </p:spPr>
          <p:style>
            <a:lnRef idx="2">
              <a:schemeClr val="accent1"/>
            </a:lnRef>
            <a:fillRef idx="0">
              <a:schemeClr val="accent1"/>
            </a:fillRef>
            <a:effectRef idx="0">
              <a:schemeClr val="accent1"/>
            </a:effectRef>
            <a:fontRef idx="minor">
              <a:schemeClr val="tx1"/>
            </a:fontRef>
          </p:style>
        </p:cxnSp>
        <p:sp>
          <p:nvSpPr>
            <p:cNvPr id="169" name="Oval 168"/>
            <p:cNvSpPr/>
            <p:nvPr/>
          </p:nvSpPr>
          <p:spPr>
            <a:xfrm>
              <a:off x="1141171" y="4780483"/>
              <a:ext cx="40233" cy="40233"/>
            </a:xfrm>
            <a:prstGeom prst="ellipse">
              <a:avLst/>
            </a:prstGeom>
            <a:solidFill>
              <a:srgbClr val="233E5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0" name="Connector 169"/>
            <p:cNvCxnSpPr/>
            <p:nvPr/>
          </p:nvCxnSpPr>
          <p:spPr>
            <a:xfrm>
              <a:off x="1161288" y="4197096"/>
              <a:ext cx="182880" cy="0"/>
            </a:xfrm>
            <a:prstGeom prst="line">
              <a:avLst/>
            </a:prstGeom>
            <a:ln w="15875">
              <a:solidFill>
                <a:srgbClr val="233E5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71" name="Rounded Rectangle 170"/>
            <p:cNvSpPr/>
            <p:nvPr/>
          </p:nvSpPr>
          <p:spPr>
            <a:xfrm>
              <a:off x="1344168" y="3986784"/>
              <a:ext cx="676656" cy="420624"/>
            </a:xfrm>
            <a:prstGeom prst="roundRect">
              <a:avLst>
                <a:gd name="adj" fmla="val 10869"/>
              </a:avLst>
            </a:prstGeom>
            <a:solidFill>
              <a:srgbClr val="F4F7ED"/>
            </a:solidFill>
            <a:ln w="12065">
              <a:solidFill>
                <a:srgbClr val="BBC6D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2" name="Text: W"/>
            <p:cNvSpPr txBox="1"/>
            <p:nvPr/>
          </p:nvSpPr>
          <p:spPr>
            <a:xfrm>
              <a:off x="1399032" y="3995928"/>
              <a:ext cx="246888" cy="310896"/>
            </a:xfrm>
            <a:prstGeom prst="rect">
              <a:avLst/>
            </a:prstGeom>
            <a:noFill/>
            <a:effectLst/>
          </p:spPr>
          <p:txBody>
            <a:bodyPr wrap="none" lIns="0" rIns="0" tIns="0" bIns="0" anchor="ctr">
              <a:noAutofit/>
            </a:bodyPr>
            <a:lstStyle/>
            <a:p>
              <a:pPr algn="l">
                <a:spcBef>
                  <a:spcPts val="0"/>
                </a:spcBef>
                <a:spcAft>
                  <a:spcPts val="0"/>
                </a:spcAft>
              </a:pPr>
              <a:r>
                <a:rPr sz="2088" b="0" i="1" baseline="0" lang="en-US" dirty="0">
                  <a:solidFill>
                    <a:srgbClr val="233E5D"/>
                  </a:solidFill>
                  <a:latin typeface="Times New Roman"/>
                  <a:ea typeface="Times New Roman"/>
                  <a:cs typeface="Times New Roman"/>
                </a:rPr>
                <a:t>W</a:t>
              </a:r>
            </a:p>
          </p:txBody>
        </p:sp>
        <p:sp>
          <p:nvSpPr>
            <p:cNvPr id="173" name="Text: fold"/>
            <p:cNvSpPr txBox="1"/>
            <p:nvPr/>
          </p:nvSpPr>
          <p:spPr>
            <a:xfrm>
              <a:off x="1645920" y="3977639"/>
              <a:ext cx="329184" cy="201168"/>
            </a:xfrm>
            <a:prstGeom prst="rect">
              <a:avLst/>
            </a:prstGeom>
            <a:noFill/>
            <a:effectLst/>
          </p:spPr>
          <p:txBody>
            <a:bodyPr wrap="none" lIns="0" rIns="0" tIns="0" bIns="0" anchor="ctr">
              <a:noAutofit/>
            </a:bodyPr>
            <a:lstStyle/>
            <a:p>
              <a:pPr algn="l">
                <a:spcBef>
                  <a:spcPts val="0"/>
                </a:spcBef>
                <a:spcAft>
                  <a:spcPts val="0"/>
                </a:spcAft>
              </a:pPr>
              <a:r>
                <a:rPr sz="1584" b="0" i="0" baseline="0" lang="en-US" dirty="0">
                  <a:solidFill>
                    <a:srgbClr val="233E5D"/>
                  </a:solidFill>
                  <a:latin typeface="Times New Roman"/>
                  <a:ea typeface="Times New Roman"/>
                  <a:cs typeface="Times New Roman"/>
                </a:rPr>
                <a:t>fold</a:t>
              </a:r>
            </a:p>
          </p:txBody>
        </p:sp>
        <p:sp>
          <p:nvSpPr>
            <p:cNvPr id="174" name="Text: Q"/>
            <p:cNvSpPr txBox="1"/>
            <p:nvPr/>
          </p:nvSpPr>
          <p:spPr>
            <a:xfrm>
              <a:off x="1645920" y="4169663"/>
              <a:ext cx="365760" cy="173736"/>
            </a:xfrm>
            <a:prstGeom prst="rect">
              <a:avLst/>
            </a:prstGeom>
            <a:noFill/>
            <a:effectLst/>
          </p:spPr>
          <p:txBody>
            <a:bodyPr wrap="none" lIns="0" rIns="0" tIns="0" bIns="0" anchor="ctr">
              <a:noAutofit/>
            </a:bodyPr>
            <a:lstStyle/>
            <a:p>
              <a:pPr algn="l">
                <a:spcBef>
                  <a:spcPts val="0"/>
                </a:spcBef>
                <a:spcAft>
                  <a:spcPts val="0"/>
                </a:spcAft>
              </a:pPr>
              <a:r>
                <a:rPr sz="1584" b="0" i="0" baseline="0" lang="en-US" dirty="0">
                  <a:solidFill>
                    <a:srgbClr val="233E5D"/>
                  </a:solidFill>
                  <a:latin typeface="Times New Roman"/>
                  <a:ea typeface="Times New Roman"/>
                  <a:cs typeface="Times New Roman"/>
                </a:rPr>
                <a:t>Q</a:t>
              </a:r>
            </a:p>
          </p:txBody>
        </p:sp>
        <p:cxnSp>
          <p:nvCxnSpPr>
            <p:cNvPr id="175" name="Connector 174"/>
            <p:cNvCxnSpPr/>
            <p:nvPr/>
          </p:nvCxnSpPr>
          <p:spPr>
            <a:xfrm>
              <a:off x="2020824" y="4197096"/>
              <a:ext cx="182880" cy="0"/>
            </a:xfrm>
            <a:prstGeom prst="line">
              <a:avLst/>
            </a:prstGeom>
            <a:ln w="15875">
              <a:solidFill>
                <a:srgbClr val="233E5D"/>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76" name="Connector 175"/>
            <p:cNvCxnSpPr/>
            <p:nvPr/>
          </p:nvCxnSpPr>
          <p:spPr>
            <a:xfrm>
              <a:off x="1161288" y="4892040"/>
              <a:ext cx="182880" cy="0"/>
            </a:xfrm>
            <a:prstGeom prst="line">
              <a:avLst/>
            </a:prstGeom>
            <a:ln w="15875">
              <a:solidFill>
                <a:srgbClr val="233E5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77" name="Rounded Rectangle 176"/>
            <p:cNvSpPr/>
            <p:nvPr/>
          </p:nvSpPr>
          <p:spPr>
            <a:xfrm>
              <a:off x="1344168" y="4681728"/>
              <a:ext cx="676656" cy="420624"/>
            </a:xfrm>
            <a:prstGeom prst="roundRect">
              <a:avLst>
                <a:gd name="adj" fmla="val 10869"/>
              </a:avLst>
            </a:prstGeom>
            <a:solidFill>
              <a:srgbClr val="F4F7ED"/>
            </a:solidFill>
            <a:ln w="12065">
              <a:solidFill>
                <a:srgbClr val="BBC6D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8" name="Text: W"/>
            <p:cNvSpPr txBox="1"/>
            <p:nvPr/>
          </p:nvSpPr>
          <p:spPr>
            <a:xfrm>
              <a:off x="1399032" y="4690872"/>
              <a:ext cx="246888" cy="310896"/>
            </a:xfrm>
            <a:prstGeom prst="rect">
              <a:avLst/>
            </a:prstGeom>
            <a:noFill/>
            <a:effectLst/>
          </p:spPr>
          <p:txBody>
            <a:bodyPr wrap="none" lIns="0" rIns="0" tIns="0" bIns="0" anchor="ctr">
              <a:noAutofit/>
            </a:bodyPr>
            <a:lstStyle/>
            <a:p>
              <a:pPr algn="l">
                <a:spcBef>
                  <a:spcPts val="0"/>
                </a:spcBef>
                <a:spcAft>
                  <a:spcPts val="0"/>
                </a:spcAft>
              </a:pPr>
              <a:r>
                <a:rPr sz="2088" b="0" i="1" baseline="0" lang="en-US" dirty="0">
                  <a:solidFill>
                    <a:srgbClr val="233E5D"/>
                  </a:solidFill>
                  <a:latin typeface="Times New Roman"/>
                  <a:ea typeface="Times New Roman"/>
                  <a:cs typeface="Times New Roman"/>
                </a:rPr>
                <a:t>W</a:t>
              </a:r>
            </a:p>
          </p:txBody>
        </p:sp>
        <p:sp>
          <p:nvSpPr>
            <p:cNvPr id="179" name="Text: fold"/>
            <p:cNvSpPr txBox="1"/>
            <p:nvPr/>
          </p:nvSpPr>
          <p:spPr>
            <a:xfrm>
              <a:off x="1645920" y="4672584"/>
              <a:ext cx="329184" cy="201168"/>
            </a:xfrm>
            <a:prstGeom prst="rect">
              <a:avLst/>
            </a:prstGeom>
            <a:noFill/>
            <a:effectLst/>
          </p:spPr>
          <p:txBody>
            <a:bodyPr wrap="none" lIns="0" rIns="0" tIns="0" bIns="0" anchor="ctr">
              <a:noAutofit/>
            </a:bodyPr>
            <a:lstStyle/>
            <a:p>
              <a:pPr algn="l">
                <a:spcBef>
                  <a:spcPts val="0"/>
                </a:spcBef>
                <a:spcAft>
                  <a:spcPts val="0"/>
                </a:spcAft>
              </a:pPr>
              <a:r>
                <a:rPr sz="1584" b="0" i="0" baseline="0" lang="en-US" dirty="0">
                  <a:solidFill>
                    <a:srgbClr val="233E5D"/>
                  </a:solidFill>
                  <a:latin typeface="Times New Roman"/>
                  <a:ea typeface="Times New Roman"/>
                  <a:cs typeface="Times New Roman"/>
                </a:rPr>
                <a:t>fold</a:t>
              </a:r>
            </a:p>
          </p:txBody>
        </p:sp>
        <p:sp>
          <p:nvSpPr>
            <p:cNvPr id="180" name="Text: K"/>
            <p:cNvSpPr txBox="1"/>
            <p:nvPr/>
          </p:nvSpPr>
          <p:spPr>
            <a:xfrm>
              <a:off x="1645920" y="4864608"/>
              <a:ext cx="365760" cy="173736"/>
            </a:xfrm>
            <a:prstGeom prst="rect">
              <a:avLst/>
            </a:prstGeom>
            <a:noFill/>
            <a:effectLst/>
          </p:spPr>
          <p:txBody>
            <a:bodyPr wrap="none" lIns="0" rIns="0" tIns="0" bIns="0" anchor="ctr">
              <a:noAutofit/>
            </a:bodyPr>
            <a:lstStyle/>
            <a:p>
              <a:pPr algn="l">
                <a:spcBef>
                  <a:spcPts val="0"/>
                </a:spcBef>
                <a:spcAft>
                  <a:spcPts val="0"/>
                </a:spcAft>
              </a:pPr>
              <a:r>
                <a:rPr sz="1584" b="0" i="0" baseline="0" lang="en-US" dirty="0">
                  <a:solidFill>
                    <a:srgbClr val="233E5D"/>
                  </a:solidFill>
                  <a:latin typeface="Times New Roman"/>
                  <a:ea typeface="Times New Roman"/>
                  <a:cs typeface="Times New Roman"/>
                </a:rPr>
                <a:t>K</a:t>
              </a:r>
            </a:p>
          </p:txBody>
        </p:sp>
        <p:cxnSp>
          <p:nvCxnSpPr>
            <p:cNvPr id="181" name="Connector 180"/>
            <p:cNvCxnSpPr/>
            <p:nvPr/>
          </p:nvCxnSpPr>
          <p:spPr>
            <a:xfrm>
              <a:off x="2020824" y="4892040"/>
              <a:ext cx="182880" cy="0"/>
            </a:xfrm>
            <a:prstGeom prst="line">
              <a:avLst/>
            </a:prstGeom>
            <a:ln w="15875">
              <a:solidFill>
                <a:srgbClr val="233E5D"/>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82" name="Connector 181"/>
            <p:cNvCxnSpPr/>
            <p:nvPr/>
          </p:nvCxnSpPr>
          <p:spPr>
            <a:xfrm>
              <a:off x="1161288" y="5586984"/>
              <a:ext cx="182880" cy="0"/>
            </a:xfrm>
            <a:prstGeom prst="line">
              <a:avLst/>
            </a:prstGeom>
            <a:ln w="15875">
              <a:solidFill>
                <a:srgbClr val="233E5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83" name="Rounded Rectangle 182"/>
            <p:cNvSpPr/>
            <p:nvPr/>
          </p:nvSpPr>
          <p:spPr>
            <a:xfrm>
              <a:off x="1344168" y="5376672"/>
              <a:ext cx="676656" cy="420624"/>
            </a:xfrm>
            <a:prstGeom prst="roundRect">
              <a:avLst>
                <a:gd name="adj" fmla="val 10869"/>
              </a:avLst>
            </a:prstGeom>
            <a:solidFill>
              <a:srgbClr val="F4F7ED"/>
            </a:solidFill>
            <a:ln w="12065">
              <a:solidFill>
                <a:srgbClr val="BBC6D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4" name="Text: W"/>
            <p:cNvSpPr txBox="1"/>
            <p:nvPr/>
          </p:nvSpPr>
          <p:spPr>
            <a:xfrm>
              <a:off x="1399032" y="5385816"/>
              <a:ext cx="246888" cy="310896"/>
            </a:xfrm>
            <a:prstGeom prst="rect">
              <a:avLst/>
            </a:prstGeom>
            <a:noFill/>
            <a:effectLst/>
          </p:spPr>
          <p:txBody>
            <a:bodyPr wrap="none" lIns="0" rIns="0" tIns="0" bIns="0" anchor="ctr">
              <a:noAutofit/>
            </a:bodyPr>
            <a:lstStyle/>
            <a:p>
              <a:pPr algn="l">
                <a:spcBef>
                  <a:spcPts val="0"/>
                </a:spcBef>
                <a:spcAft>
                  <a:spcPts val="0"/>
                </a:spcAft>
              </a:pPr>
              <a:r>
                <a:rPr sz="2088" b="0" i="1" baseline="0" lang="en-US" dirty="0">
                  <a:solidFill>
                    <a:srgbClr val="233E5D"/>
                  </a:solidFill>
                  <a:latin typeface="Times New Roman"/>
                  <a:ea typeface="Times New Roman"/>
                  <a:cs typeface="Times New Roman"/>
                </a:rPr>
                <a:t>W</a:t>
              </a:r>
            </a:p>
          </p:txBody>
        </p:sp>
        <p:sp>
          <p:nvSpPr>
            <p:cNvPr id="185" name="Text: fold"/>
            <p:cNvSpPr txBox="1"/>
            <p:nvPr/>
          </p:nvSpPr>
          <p:spPr>
            <a:xfrm>
              <a:off x="1645920" y="5367528"/>
              <a:ext cx="329184" cy="201168"/>
            </a:xfrm>
            <a:prstGeom prst="rect">
              <a:avLst/>
            </a:prstGeom>
            <a:noFill/>
            <a:effectLst/>
          </p:spPr>
          <p:txBody>
            <a:bodyPr wrap="none" lIns="0" rIns="0" tIns="0" bIns="0" anchor="ctr">
              <a:noAutofit/>
            </a:bodyPr>
            <a:lstStyle/>
            <a:p>
              <a:pPr algn="l">
                <a:spcBef>
                  <a:spcPts val="0"/>
                </a:spcBef>
                <a:spcAft>
                  <a:spcPts val="0"/>
                </a:spcAft>
              </a:pPr>
              <a:r>
                <a:rPr sz="1584" b="0" i="0" baseline="0" lang="en-US" dirty="0">
                  <a:solidFill>
                    <a:srgbClr val="233E5D"/>
                  </a:solidFill>
                  <a:latin typeface="Times New Roman"/>
                  <a:ea typeface="Times New Roman"/>
                  <a:cs typeface="Times New Roman"/>
                </a:rPr>
                <a:t>fold</a:t>
              </a:r>
            </a:p>
          </p:txBody>
        </p:sp>
        <p:sp>
          <p:nvSpPr>
            <p:cNvPr id="186" name="Text: V"/>
            <p:cNvSpPr txBox="1"/>
            <p:nvPr/>
          </p:nvSpPr>
          <p:spPr>
            <a:xfrm>
              <a:off x="1645920" y="5559552"/>
              <a:ext cx="365760" cy="173736"/>
            </a:xfrm>
            <a:prstGeom prst="rect">
              <a:avLst/>
            </a:prstGeom>
            <a:noFill/>
            <a:effectLst/>
          </p:spPr>
          <p:txBody>
            <a:bodyPr wrap="none" lIns="0" rIns="0" tIns="0" bIns="0" anchor="ctr">
              <a:noAutofit/>
            </a:bodyPr>
            <a:lstStyle/>
            <a:p>
              <a:pPr algn="l">
                <a:spcBef>
                  <a:spcPts val="0"/>
                </a:spcBef>
                <a:spcAft>
                  <a:spcPts val="0"/>
                </a:spcAft>
              </a:pPr>
              <a:r>
                <a:rPr sz="1584" b="0" i="0" baseline="0" lang="en-US" dirty="0">
                  <a:solidFill>
                    <a:srgbClr val="233E5D"/>
                  </a:solidFill>
                  <a:latin typeface="Times New Roman"/>
                  <a:ea typeface="Times New Roman"/>
                  <a:cs typeface="Times New Roman"/>
                </a:rPr>
                <a:t>V</a:t>
              </a:r>
            </a:p>
          </p:txBody>
        </p:sp>
        <p:cxnSp>
          <p:nvCxnSpPr>
            <p:cNvPr id="187" name="Connector 186"/>
            <p:cNvCxnSpPr/>
            <p:nvPr/>
          </p:nvCxnSpPr>
          <p:spPr>
            <a:xfrm>
              <a:off x="2020824" y="5586984"/>
              <a:ext cx="182880" cy="0"/>
            </a:xfrm>
            <a:prstGeom prst="line">
              <a:avLst/>
            </a:prstGeom>
            <a:ln w="15875">
              <a:solidFill>
                <a:srgbClr val="233E5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88" name="Rounded Rectangle 187"/>
            <p:cNvSpPr/>
            <p:nvPr/>
          </p:nvSpPr>
          <p:spPr>
            <a:xfrm>
              <a:off x="2203704" y="3986784"/>
              <a:ext cx="704088" cy="420624"/>
            </a:xfrm>
            <a:prstGeom prst="roundRect">
              <a:avLst>
                <a:gd name="adj" fmla="val 10869"/>
              </a:avLst>
            </a:prstGeom>
            <a:solidFill>
              <a:srgbClr val="FFFFFF"/>
            </a:solidFill>
            <a:ln w="12065">
              <a:solidFill>
                <a:srgbClr val="BBC6D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9" name="Text: RoPE"/>
            <p:cNvSpPr txBox="1"/>
            <p:nvPr/>
          </p:nvSpPr>
          <p:spPr>
            <a:xfrm>
              <a:off x="2231136" y="3995928"/>
              <a:ext cx="649224" cy="402336"/>
            </a:xfrm>
            <a:prstGeom prst="rect">
              <a:avLst/>
            </a:prstGeom>
            <a:noFill/>
            <a:effectLst/>
          </p:spPr>
          <p:txBody>
            <a:bodyPr wrap="none" lIns="0" rIns="0" tIns="0" bIns="0" anchor="ctr">
              <a:noAutofit/>
            </a:bodyPr>
            <a:lstStyle/>
            <a:p>
              <a:pPr algn="ctr">
                <a:spcBef>
                  <a:spcPts val="0"/>
                </a:spcBef>
                <a:spcAft>
                  <a:spcPts val="0"/>
                </a:spcAft>
              </a:pPr>
              <a:r>
                <a:rPr sz="1800" b="0" i="0" baseline="0" lang="en-US" dirty="0">
                  <a:solidFill>
                    <a:srgbClr val="233E5D"/>
                  </a:solidFill>
                  <a:latin typeface="Times New Roman"/>
                  <a:ea typeface="Times New Roman"/>
                  <a:cs typeface="Times New Roman"/>
                </a:rPr>
                <a:t>RoPE</a:t>
              </a:r>
            </a:p>
          </p:txBody>
        </p:sp>
        <p:sp>
          <p:nvSpPr>
            <p:cNvPr id="190" name="Rounded Rectangle 189"/>
            <p:cNvSpPr/>
            <p:nvPr/>
          </p:nvSpPr>
          <p:spPr>
            <a:xfrm>
              <a:off x="2203704" y="4681728"/>
              <a:ext cx="704088" cy="420624"/>
            </a:xfrm>
            <a:prstGeom prst="roundRect">
              <a:avLst>
                <a:gd name="adj" fmla="val 10869"/>
              </a:avLst>
            </a:prstGeom>
            <a:solidFill>
              <a:srgbClr val="FFFFFF"/>
            </a:solidFill>
            <a:ln w="12065">
              <a:solidFill>
                <a:srgbClr val="BBC6D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1" name="Text: RoPE"/>
            <p:cNvSpPr txBox="1"/>
            <p:nvPr/>
          </p:nvSpPr>
          <p:spPr>
            <a:xfrm>
              <a:off x="2231136" y="4690872"/>
              <a:ext cx="649224" cy="402336"/>
            </a:xfrm>
            <a:prstGeom prst="rect">
              <a:avLst/>
            </a:prstGeom>
            <a:noFill/>
            <a:effectLst/>
          </p:spPr>
          <p:txBody>
            <a:bodyPr wrap="none" lIns="0" rIns="0" tIns="0" bIns="0" anchor="ctr">
              <a:noAutofit/>
            </a:bodyPr>
            <a:lstStyle/>
            <a:p>
              <a:pPr algn="ctr">
                <a:spcBef>
                  <a:spcPts val="0"/>
                </a:spcBef>
                <a:spcAft>
                  <a:spcPts val="0"/>
                </a:spcAft>
              </a:pPr>
              <a:r>
                <a:rPr sz="1800" b="0" i="0" baseline="0" lang="en-US" dirty="0">
                  <a:solidFill>
                    <a:srgbClr val="233E5D"/>
                  </a:solidFill>
                  <a:latin typeface="Times New Roman"/>
                  <a:ea typeface="Times New Roman"/>
                  <a:cs typeface="Times New Roman"/>
                </a:rPr>
                <a:t>RoPE</a:t>
              </a:r>
            </a:p>
          </p:txBody>
        </p:sp>
        <p:sp>
          <p:nvSpPr>
            <p:cNvPr id="192" name="Rounded Rectangle 191"/>
            <p:cNvSpPr/>
            <p:nvPr/>
          </p:nvSpPr>
          <p:spPr>
            <a:xfrm>
              <a:off x="2258568" y="5376672"/>
              <a:ext cx="594360" cy="420624"/>
            </a:xfrm>
            <a:prstGeom prst="roundRect">
              <a:avLst>
                <a:gd name="adj" fmla="val 10869"/>
              </a:avLst>
            </a:prstGeom>
            <a:solidFill>
              <a:srgbClr val="EFEAF5"/>
            </a:solidFill>
            <a:ln w="12065">
              <a:solidFill>
                <a:srgbClr val="644A8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3" name="Text: R"/>
            <p:cNvSpPr txBox="1"/>
            <p:nvPr/>
          </p:nvSpPr>
          <p:spPr>
            <a:xfrm>
              <a:off x="2410569" y="5347411"/>
              <a:ext cx="170114" cy="402336"/>
            </a:xfrm>
            <a:prstGeom prst="rect">
              <a:avLst/>
            </a:prstGeom>
            <a:noFill/>
            <a:effectLst/>
          </p:spPr>
          <p:txBody>
            <a:bodyPr wrap="none" lIns="0" rIns="0" tIns="0" bIns="0" anchor="ctr">
              <a:noAutofit/>
            </a:bodyPr>
            <a:lstStyle/>
            <a:p>
              <a:pPr algn="l">
                <a:spcBef>
                  <a:spcPts val="0"/>
                </a:spcBef>
                <a:spcAft>
                  <a:spcPts val="0"/>
                </a:spcAft>
              </a:pPr>
              <a:r>
                <a:rPr sz="2016" b="0" i="1" baseline="0" lang="en-US" dirty="0">
                  <a:solidFill>
                    <a:srgbClr val="644A86"/>
                  </a:solidFill>
                  <a:latin typeface="Times New Roman"/>
                  <a:ea typeface="Times New Roman"/>
                  <a:cs typeface="Times New Roman"/>
                </a:rPr>
                <a:t>R</a:t>
              </a:r>
            </a:p>
          </p:txBody>
        </p:sp>
        <p:sp>
          <p:nvSpPr>
            <p:cNvPr id="194" name="Text: 2"/>
            <p:cNvSpPr txBox="1"/>
            <p:nvPr/>
          </p:nvSpPr>
          <p:spPr>
            <a:xfrm>
              <a:off x="2603543" y="5429853"/>
              <a:ext cx="147675" cy="402336"/>
            </a:xfrm>
            <a:prstGeom prst="rect">
              <a:avLst/>
            </a:prstGeom>
            <a:noFill/>
            <a:effectLst/>
          </p:spPr>
          <p:txBody>
            <a:bodyPr wrap="none" lIns="0" rIns="0" tIns="0" bIns="0" anchor="ctr">
              <a:noAutofit/>
            </a:bodyPr>
            <a:lstStyle/>
            <a:p>
              <a:pPr algn="l">
                <a:spcBef>
                  <a:spcPts val="0"/>
                </a:spcBef>
                <a:spcAft>
                  <a:spcPts val="0"/>
                </a:spcAft>
              </a:pPr>
              <a:r>
                <a:rPr sz="1532" b="0" i="0" baseline="0" lang="en-US" dirty="0">
                  <a:solidFill>
                    <a:srgbClr val="644A86"/>
                  </a:solidFill>
                  <a:latin typeface="Times New Roman"/>
                  <a:ea typeface="Times New Roman"/>
                  <a:cs typeface="Times New Roman"/>
                </a:rPr>
                <a:t>2</a:t>
              </a:r>
            </a:p>
          </p:txBody>
        </p:sp>
        <p:sp>
          <p:nvSpPr>
            <p:cNvPr id="195" name="Text: online"/>
            <p:cNvSpPr txBox="1"/>
            <p:nvPr/>
          </p:nvSpPr>
          <p:spPr>
            <a:xfrm>
              <a:off x="2185416" y="5148072"/>
              <a:ext cx="768096" cy="219456"/>
            </a:xfrm>
            <a:prstGeom prst="rect">
              <a:avLst/>
            </a:prstGeom>
            <a:noFill/>
            <a:effectLst/>
          </p:spPr>
          <p:txBody>
            <a:bodyPr wrap="none" lIns="0" rIns="0" tIns="0" bIns="0" anchor="ctr">
              <a:noAutofit/>
            </a:bodyPr>
            <a:lstStyle/>
            <a:p>
              <a:pPr algn="ctr">
                <a:spcBef>
                  <a:spcPts val="0"/>
                </a:spcBef>
                <a:spcAft>
                  <a:spcPts val="0"/>
                </a:spcAft>
              </a:pPr>
              <a:r>
                <a:rPr sz="1584" b="0" i="0" baseline="0" lang="en-US" dirty="0">
                  <a:solidFill>
                    <a:srgbClr val="477F9F"/>
                  </a:solidFill>
                  <a:latin typeface="Times New Roman"/>
                  <a:ea typeface="Times New Roman"/>
                  <a:cs typeface="Times New Roman"/>
                </a:rPr>
                <a:t>online</a:t>
              </a:r>
            </a:p>
          </p:txBody>
        </p:sp>
        <p:cxnSp>
          <p:nvCxnSpPr>
            <p:cNvPr id="196" name="Connector 195"/>
            <p:cNvCxnSpPr/>
            <p:nvPr/>
          </p:nvCxnSpPr>
          <p:spPr>
            <a:xfrm>
              <a:off x="2907792" y="4892040"/>
              <a:ext cx="210312" cy="0"/>
            </a:xfrm>
            <a:prstGeom prst="line">
              <a:avLst/>
            </a:prstGeom>
            <a:ln w="15875">
              <a:solidFill>
                <a:srgbClr val="233E5D"/>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97" name="Connector 196"/>
            <p:cNvCxnSpPr/>
            <p:nvPr/>
          </p:nvCxnSpPr>
          <p:spPr>
            <a:xfrm>
              <a:off x="2852928" y="5586984"/>
              <a:ext cx="265176" cy="0"/>
            </a:xfrm>
            <a:prstGeom prst="line">
              <a:avLst/>
            </a:prstGeom>
            <a:ln w="15875">
              <a:solidFill>
                <a:srgbClr val="233E5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98" name="Rounded Rectangle 197"/>
            <p:cNvSpPr/>
            <p:nvPr/>
          </p:nvSpPr>
          <p:spPr>
            <a:xfrm>
              <a:off x="3118104" y="4681728"/>
              <a:ext cx="960120" cy="420624"/>
            </a:xfrm>
            <a:prstGeom prst="roundRect">
              <a:avLst>
                <a:gd name="adj" fmla="val 10869"/>
              </a:avLst>
            </a:prstGeom>
            <a:solidFill>
              <a:srgbClr val="F7E7DC"/>
            </a:solidFill>
            <a:ln w="12065">
              <a:solidFill>
                <a:srgbClr val="C38F7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9" name="Text: K cache"/>
            <p:cNvSpPr txBox="1"/>
            <p:nvPr/>
          </p:nvSpPr>
          <p:spPr>
            <a:xfrm>
              <a:off x="3145536" y="4690872"/>
              <a:ext cx="905256" cy="402336"/>
            </a:xfrm>
            <a:prstGeom prst="rect">
              <a:avLst/>
            </a:prstGeom>
            <a:noFill/>
            <a:effectLst/>
          </p:spPr>
          <p:txBody>
            <a:bodyPr wrap="none" lIns="0" rIns="0" tIns="0" bIns="0" anchor="ctr">
              <a:noAutofit/>
            </a:bodyPr>
            <a:lstStyle/>
            <a:p>
              <a:pPr algn="ctr">
                <a:spcBef>
                  <a:spcPts val="0"/>
                </a:spcBef>
                <a:spcAft>
                  <a:spcPts val="0"/>
                </a:spcAft>
              </a:pPr>
              <a:r>
                <a:rPr sz="1800" b="0" i="0" baseline="0" lang="en-US" dirty="0">
                  <a:solidFill>
                    <a:srgbClr val="233E5D"/>
                  </a:solidFill>
                  <a:latin typeface="Times New Roman"/>
                  <a:ea typeface="Times New Roman"/>
                  <a:cs typeface="Times New Roman"/>
                </a:rPr>
                <a:t>K cache</a:t>
              </a:r>
            </a:p>
          </p:txBody>
        </p:sp>
        <p:sp>
          <p:nvSpPr>
            <p:cNvPr id="200" name="Rounded Rectangle 199"/>
            <p:cNvSpPr/>
            <p:nvPr/>
          </p:nvSpPr>
          <p:spPr>
            <a:xfrm>
              <a:off x="3118104" y="5376672"/>
              <a:ext cx="960120" cy="420624"/>
            </a:xfrm>
            <a:prstGeom prst="roundRect">
              <a:avLst>
                <a:gd name="adj" fmla="val 10869"/>
              </a:avLst>
            </a:prstGeom>
            <a:solidFill>
              <a:srgbClr val="F7E7DC"/>
            </a:solidFill>
            <a:ln w="12065">
              <a:solidFill>
                <a:srgbClr val="C38F7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1" name="Text: V cache"/>
            <p:cNvSpPr txBox="1"/>
            <p:nvPr/>
          </p:nvSpPr>
          <p:spPr>
            <a:xfrm>
              <a:off x="3145536" y="5385816"/>
              <a:ext cx="905256" cy="402336"/>
            </a:xfrm>
            <a:prstGeom prst="rect">
              <a:avLst/>
            </a:prstGeom>
            <a:noFill/>
            <a:effectLst/>
          </p:spPr>
          <p:txBody>
            <a:bodyPr wrap="none" lIns="0" rIns="0" tIns="0" bIns="0" anchor="ctr">
              <a:noAutofit/>
            </a:bodyPr>
            <a:lstStyle/>
            <a:p>
              <a:pPr algn="ctr">
                <a:spcBef>
                  <a:spcPts val="0"/>
                </a:spcBef>
                <a:spcAft>
                  <a:spcPts val="0"/>
                </a:spcAft>
              </a:pPr>
              <a:r>
                <a:rPr sz="1800" b="0" i="0" baseline="0" lang="en-US" dirty="0">
                  <a:solidFill>
                    <a:srgbClr val="233E5D"/>
                  </a:solidFill>
                  <a:latin typeface="Times New Roman"/>
                  <a:ea typeface="Times New Roman"/>
                  <a:cs typeface="Times New Roman"/>
                </a:rPr>
                <a:t>V cache</a:t>
              </a:r>
            </a:p>
          </p:txBody>
        </p:sp>
        <p:sp>
          <p:nvSpPr>
            <p:cNvPr id="202" name="Text: channel-wise"/>
            <p:cNvSpPr txBox="1"/>
            <p:nvPr/>
          </p:nvSpPr>
          <p:spPr>
            <a:xfrm>
              <a:off x="3044952" y="5102352"/>
              <a:ext cx="1106424" cy="237744"/>
            </a:xfrm>
            <a:prstGeom prst="rect">
              <a:avLst/>
            </a:prstGeom>
            <a:noFill/>
            <a:effectLst/>
          </p:spPr>
          <p:txBody>
            <a:bodyPr wrap="none" lIns="0" rIns="0" tIns="0" bIns="0" anchor="ctr">
              <a:noAutofit/>
            </a:bodyPr>
            <a:lstStyle/>
            <a:p>
              <a:pPr algn="ctr">
                <a:spcBef>
                  <a:spcPts val="0"/>
                </a:spcBef>
                <a:spcAft>
                  <a:spcPts val="0"/>
                </a:spcAft>
              </a:pPr>
              <a:r>
                <a:rPr sz="1584" b="0" i="0" baseline="0" lang="en-US" dirty="0">
                  <a:solidFill>
                    <a:srgbClr val="557087"/>
                  </a:solidFill>
                  <a:latin typeface="Times New Roman"/>
                  <a:ea typeface="Times New Roman"/>
                  <a:cs typeface="Times New Roman"/>
                </a:rPr>
                <a:t>channel-wise</a:t>
              </a:r>
            </a:p>
          </p:txBody>
        </p:sp>
        <p:sp>
          <p:nvSpPr>
            <p:cNvPr id="203" name="Text: token-wise"/>
            <p:cNvSpPr txBox="1"/>
            <p:nvPr/>
          </p:nvSpPr>
          <p:spPr>
            <a:xfrm>
              <a:off x="3044952" y="5797296"/>
              <a:ext cx="1106424" cy="237744"/>
            </a:xfrm>
            <a:prstGeom prst="rect">
              <a:avLst/>
            </a:prstGeom>
            <a:noFill/>
            <a:effectLst/>
          </p:spPr>
          <p:txBody>
            <a:bodyPr wrap="none" lIns="0" rIns="0" tIns="0" bIns="0" anchor="ctr">
              <a:noAutofit/>
            </a:bodyPr>
            <a:lstStyle/>
            <a:p>
              <a:pPr algn="ctr">
                <a:spcBef>
                  <a:spcPts val="0"/>
                </a:spcBef>
                <a:spcAft>
                  <a:spcPts val="0"/>
                </a:spcAft>
              </a:pPr>
              <a:r>
                <a:rPr sz="1584" b="0" i="0" baseline="0" lang="en-US" dirty="0">
                  <a:solidFill>
                    <a:srgbClr val="557087"/>
                  </a:solidFill>
                  <a:latin typeface="Times New Roman"/>
                  <a:ea typeface="Times New Roman"/>
                  <a:cs typeface="Times New Roman"/>
                </a:rPr>
                <a:t>token-wise</a:t>
              </a:r>
            </a:p>
          </p:txBody>
        </p:sp>
        <p:cxnSp>
          <p:nvCxnSpPr>
            <p:cNvPr id="204" name="Connector 203"/>
            <p:cNvCxnSpPr/>
            <p:nvPr/>
          </p:nvCxnSpPr>
          <p:spPr>
            <a:xfrm>
              <a:off x="2907792" y="4197096"/>
              <a:ext cx="1389888" cy="0"/>
            </a:xfrm>
            <a:prstGeom prst="line">
              <a:avLst/>
            </a:prstGeom>
            <a:ln w="15875">
              <a:solidFill>
                <a:srgbClr val="233E5D"/>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05" name="Connector 204"/>
            <p:cNvCxnSpPr/>
            <p:nvPr/>
          </p:nvCxnSpPr>
          <p:spPr>
            <a:xfrm>
              <a:off x="4078224" y="4892040"/>
              <a:ext cx="91439" cy="0"/>
            </a:xfrm>
            <a:prstGeom prst="line">
              <a:avLst/>
            </a:prstGeom>
            <a:ln w="15875">
              <a:solidFill>
                <a:srgbClr val="233E5D"/>
              </a:solidFill>
            </a:ln>
            <a:effectLst/>
          </p:spPr>
          <p:style>
            <a:lnRef idx="2">
              <a:schemeClr val="accent1"/>
            </a:lnRef>
            <a:fillRef idx="0">
              <a:schemeClr val="accent1"/>
            </a:fillRef>
            <a:effectRef idx="0">
              <a:schemeClr val="accent1"/>
            </a:effectRef>
            <a:fontRef idx="minor">
              <a:schemeClr val="tx1"/>
            </a:fontRef>
          </p:style>
        </p:cxnSp>
        <p:cxnSp>
          <p:nvCxnSpPr>
            <p:cNvPr id="206" name="Connector 205"/>
            <p:cNvCxnSpPr/>
            <p:nvPr/>
          </p:nvCxnSpPr>
          <p:spPr>
            <a:xfrm flipV="1">
              <a:off x="4169663" y="4773168"/>
              <a:ext cx="0" cy="118872"/>
            </a:xfrm>
            <a:prstGeom prst="line">
              <a:avLst/>
            </a:prstGeom>
            <a:ln w="15875">
              <a:solidFill>
                <a:srgbClr val="233E5D"/>
              </a:solidFill>
            </a:ln>
            <a:effectLst/>
          </p:spPr>
          <p:style>
            <a:lnRef idx="2">
              <a:schemeClr val="accent1"/>
            </a:lnRef>
            <a:fillRef idx="0">
              <a:schemeClr val="accent1"/>
            </a:fillRef>
            <a:effectRef idx="0">
              <a:schemeClr val="accent1"/>
            </a:effectRef>
            <a:fontRef idx="minor">
              <a:schemeClr val="tx1"/>
            </a:fontRef>
          </p:style>
        </p:cxnSp>
        <p:cxnSp>
          <p:nvCxnSpPr>
            <p:cNvPr id="207" name="Connector 206"/>
            <p:cNvCxnSpPr/>
            <p:nvPr/>
          </p:nvCxnSpPr>
          <p:spPr>
            <a:xfrm>
              <a:off x="4169663" y="4773168"/>
              <a:ext cx="128017" cy="0"/>
            </a:xfrm>
            <a:prstGeom prst="line">
              <a:avLst/>
            </a:prstGeom>
            <a:ln w="15875">
              <a:solidFill>
                <a:srgbClr val="233E5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08" name="Rounded Rectangle 207"/>
            <p:cNvSpPr/>
            <p:nvPr/>
          </p:nvSpPr>
          <p:spPr>
            <a:xfrm>
              <a:off x="4297680" y="3986784"/>
              <a:ext cx="1499616" cy="1014984"/>
            </a:xfrm>
            <a:prstGeom prst="roundRect">
              <a:avLst>
                <a:gd name="adj" fmla="val 5405"/>
              </a:avLst>
            </a:prstGeom>
            <a:solidFill>
              <a:srgbClr val="FFFFFF"/>
            </a:solidFill>
            <a:ln w="12065">
              <a:solidFill>
                <a:srgbClr val="BBC6D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9" name="Text: QK"/>
            <p:cNvSpPr txBox="1"/>
            <p:nvPr/>
          </p:nvSpPr>
          <p:spPr>
            <a:xfrm>
              <a:off x="4509824" y="4022902"/>
              <a:ext cx="356680" cy="292608"/>
            </a:xfrm>
            <a:prstGeom prst="rect">
              <a:avLst/>
            </a:prstGeom>
            <a:noFill/>
            <a:effectLst/>
          </p:spPr>
          <p:txBody>
            <a:bodyPr wrap="none" lIns="0" rIns="0" tIns="0" bIns="0" anchor="ctr">
              <a:noAutofit/>
            </a:bodyPr>
            <a:lstStyle/>
            <a:p>
              <a:pPr algn="l">
                <a:spcBef>
                  <a:spcPts val="0"/>
                </a:spcBef>
                <a:spcAft>
                  <a:spcPts val="0"/>
                </a:spcAft>
              </a:pPr>
              <a:r>
                <a:rPr sz="1943" b="0" i="1" baseline="0" lang="en-US" dirty="0">
                  <a:solidFill>
                    <a:srgbClr val="233E5D"/>
                  </a:solidFill>
                  <a:latin typeface="Times New Roman"/>
                  <a:ea typeface="Times New Roman"/>
                  <a:cs typeface="Times New Roman"/>
                </a:rPr>
                <a:t>QK</a:t>
              </a:r>
            </a:p>
          </p:txBody>
        </p:sp>
        <p:sp>
          <p:nvSpPr>
            <p:cNvPr id="210" name="Text: T"/>
            <p:cNvSpPr txBox="1"/>
            <p:nvPr/>
          </p:nvSpPr>
          <p:spPr>
            <a:xfrm>
              <a:off x="4889364" y="3954267"/>
              <a:ext cx="164792" cy="292608"/>
            </a:xfrm>
            <a:prstGeom prst="rect">
              <a:avLst/>
            </a:prstGeom>
            <a:noFill/>
            <a:effectLst/>
          </p:spPr>
          <p:txBody>
            <a:bodyPr wrap="none" lIns="0" rIns="0" tIns="0" bIns="0" anchor="ctr">
              <a:noAutofit/>
            </a:bodyPr>
            <a:lstStyle/>
            <a:p>
              <a:pPr algn="l">
                <a:spcBef>
                  <a:spcPts val="0"/>
                </a:spcBef>
                <a:spcAft>
                  <a:spcPts val="0"/>
                </a:spcAft>
              </a:pPr>
              <a:r>
                <a:rPr sz="1477" b="0" i="0" baseline="0" lang="en-US" dirty="0">
                  <a:solidFill>
                    <a:srgbClr val="233E5D"/>
                  </a:solidFill>
                  <a:latin typeface="Times New Roman"/>
                  <a:ea typeface="Times New Roman"/>
                  <a:cs typeface="Times New Roman"/>
                </a:rPr>
                <a:t>T</a:t>
              </a:r>
            </a:p>
          </p:txBody>
        </p:sp>
        <p:sp>
          <p:nvSpPr>
            <p:cNvPr id="211" name="Text:  / √d"/>
            <p:cNvSpPr txBox="1"/>
            <p:nvPr/>
          </p:nvSpPr>
          <p:spPr>
            <a:xfrm>
              <a:off x="5003864" y="4022902"/>
              <a:ext cx="464700" cy="292608"/>
            </a:xfrm>
            <a:prstGeom prst="rect">
              <a:avLst/>
            </a:prstGeom>
            <a:noFill/>
            <a:effectLst/>
          </p:spPr>
          <p:txBody>
            <a:bodyPr wrap="none" lIns="0" rIns="0" tIns="0" bIns="0" anchor="ctr">
              <a:noAutofit/>
            </a:bodyPr>
            <a:lstStyle/>
            <a:p>
              <a:pPr algn="l">
                <a:spcBef>
                  <a:spcPts val="0"/>
                </a:spcBef>
                <a:spcAft>
                  <a:spcPts val="0"/>
                </a:spcAft>
              </a:pPr>
              <a:r>
                <a:rPr sz="1943" b="0" i="1" baseline="0" lang="en-US" dirty="0">
                  <a:solidFill>
                    <a:srgbClr val="233E5D"/>
                  </a:solidFill>
                  <a:latin typeface="Times New Roman"/>
                  <a:ea typeface="Times New Roman"/>
                  <a:cs typeface="Times New Roman"/>
                </a:rPr>
                <a:t> / √d</a:t>
              </a:r>
            </a:p>
          </p:txBody>
        </p:sp>
        <p:sp>
          <p:nvSpPr>
            <p:cNvPr id="212" name="Text: h"/>
            <p:cNvSpPr txBox="1"/>
            <p:nvPr/>
          </p:nvSpPr>
          <p:spPr>
            <a:xfrm>
              <a:off x="5491425" y="4102400"/>
              <a:ext cx="144018" cy="292608"/>
            </a:xfrm>
            <a:prstGeom prst="rect">
              <a:avLst/>
            </a:prstGeom>
            <a:noFill/>
            <a:effectLst/>
          </p:spPr>
          <p:txBody>
            <a:bodyPr wrap="none" lIns="0" rIns="0" tIns="0" bIns="0" anchor="ctr">
              <a:noAutofit/>
            </a:bodyPr>
            <a:lstStyle/>
            <a:p>
              <a:pPr algn="l">
                <a:spcBef>
                  <a:spcPts val="0"/>
                </a:spcBef>
                <a:spcAft>
                  <a:spcPts val="0"/>
                </a:spcAft>
              </a:pPr>
              <a:r>
                <a:rPr sz="1477" b="0" i="0" baseline="0" lang="en-US" dirty="0">
                  <a:solidFill>
                    <a:srgbClr val="233E5D"/>
                  </a:solidFill>
                  <a:latin typeface="Times New Roman"/>
                  <a:ea typeface="Times New Roman"/>
                  <a:cs typeface="Times New Roman"/>
                </a:rPr>
                <a:t>h</a:t>
              </a:r>
            </a:p>
          </p:txBody>
        </p:sp>
        <p:sp>
          <p:nvSpPr>
            <p:cNvPr id="213" name="Text: causal mask"/>
            <p:cNvSpPr txBox="1"/>
            <p:nvPr/>
          </p:nvSpPr>
          <p:spPr>
            <a:xfrm>
              <a:off x="4379976" y="4389120"/>
              <a:ext cx="1335024" cy="265176"/>
            </a:xfrm>
            <a:prstGeom prst="rect">
              <a:avLst/>
            </a:prstGeom>
            <a:noFill/>
            <a:effectLst/>
          </p:spPr>
          <p:txBody>
            <a:bodyPr wrap="none" lIns="0" rIns="0" tIns="0" bIns="0" anchor="ctr">
              <a:noAutofit/>
            </a:bodyPr>
            <a:lstStyle/>
            <a:p>
              <a:pPr algn="ctr">
                <a:spcBef>
                  <a:spcPts val="0"/>
                </a:spcBef>
                <a:spcAft>
                  <a:spcPts val="0"/>
                </a:spcAft>
              </a:pPr>
              <a:r>
                <a:rPr sz="1800" b="0" i="0" baseline="0" lang="en-US" dirty="0">
                  <a:solidFill>
                    <a:srgbClr val="233E5D"/>
                  </a:solidFill>
                  <a:latin typeface="Times New Roman"/>
                  <a:ea typeface="Times New Roman"/>
                  <a:cs typeface="Times New Roman"/>
                </a:rPr>
                <a:t>causal mask</a:t>
              </a:r>
            </a:p>
          </p:txBody>
        </p:sp>
        <p:sp>
          <p:nvSpPr>
            <p:cNvPr id="214" name="Text: softmax"/>
            <p:cNvSpPr txBox="1"/>
            <p:nvPr/>
          </p:nvSpPr>
          <p:spPr>
            <a:xfrm>
              <a:off x="4379976" y="4672584"/>
              <a:ext cx="1335024" cy="256032"/>
            </a:xfrm>
            <a:prstGeom prst="rect">
              <a:avLst/>
            </a:prstGeom>
            <a:noFill/>
            <a:effectLst/>
          </p:spPr>
          <p:txBody>
            <a:bodyPr wrap="none" lIns="0" rIns="0" tIns="0" bIns="0" anchor="ctr">
              <a:noAutofit/>
            </a:bodyPr>
            <a:lstStyle/>
            <a:p>
              <a:pPr algn="ctr">
                <a:spcBef>
                  <a:spcPts val="0"/>
                </a:spcBef>
                <a:spcAft>
                  <a:spcPts val="0"/>
                </a:spcAft>
              </a:pPr>
              <a:r>
                <a:rPr sz="1800" b="0" i="0" baseline="0" lang="en-US" dirty="0">
                  <a:solidFill>
                    <a:srgbClr val="233E5D"/>
                  </a:solidFill>
                  <a:latin typeface="Times New Roman"/>
                  <a:ea typeface="Times New Roman"/>
                  <a:cs typeface="Times New Roman"/>
                </a:rPr>
                <a:t>softmax</a:t>
              </a:r>
            </a:p>
          </p:txBody>
        </p:sp>
        <p:cxnSp>
          <p:nvCxnSpPr>
            <p:cNvPr id="215" name="Connector 214"/>
            <p:cNvCxnSpPr/>
            <p:nvPr/>
          </p:nvCxnSpPr>
          <p:spPr>
            <a:xfrm>
              <a:off x="5047488" y="5001768"/>
              <a:ext cx="0" cy="374904"/>
            </a:xfrm>
            <a:prstGeom prst="line">
              <a:avLst/>
            </a:prstGeom>
            <a:ln w="15875">
              <a:solidFill>
                <a:srgbClr val="233E5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16" name="Text: A"/>
            <p:cNvSpPr txBox="1"/>
            <p:nvPr/>
          </p:nvSpPr>
          <p:spPr>
            <a:xfrm>
              <a:off x="5175504" y="4996281"/>
              <a:ext cx="147768" cy="283464"/>
            </a:xfrm>
            <a:prstGeom prst="rect">
              <a:avLst/>
            </a:prstGeom>
            <a:noFill/>
            <a:effectLst/>
          </p:spPr>
          <p:txBody>
            <a:bodyPr wrap="none" lIns="0" rIns="0" tIns="0" bIns="0" anchor="ctr">
              <a:noAutofit/>
            </a:bodyPr>
            <a:lstStyle/>
            <a:p>
              <a:pPr algn="l">
                <a:spcBef>
                  <a:spcPts val="0"/>
                </a:spcBef>
                <a:spcAft>
                  <a:spcPts val="0"/>
                </a:spcAft>
              </a:pPr>
              <a:r>
                <a:rPr sz="1728" b="0" i="1" baseline="0" lang="en-US" dirty="0">
                  <a:solidFill>
                    <a:srgbClr val="233E5D"/>
                  </a:solidFill>
                  <a:latin typeface="Times New Roman"/>
                  <a:ea typeface="Times New Roman"/>
                  <a:cs typeface="Times New Roman"/>
                </a:rPr>
                <a:t>A</a:t>
              </a:r>
            </a:p>
          </p:txBody>
        </p:sp>
        <p:sp>
          <p:nvSpPr>
            <p:cNvPr id="217" name="Text: attn"/>
            <p:cNvSpPr txBox="1"/>
            <p:nvPr/>
          </p:nvSpPr>
          <p:spPr>
            <a:xfrm>
              <a:off x="5346132" y="5066946"/>
              <a:ext cx="300523" cy="283464"/>
            </a:xfrm>
            <a:prstGeom prst="rect">
              <a:avLst/>
            </a:prstGeom>
            <a:noFill/>
            <a:effectLst/>
          </p:spPr>
          <p:txBody>
            <a:bodyPr wrap="none" lIns="0" rIns="0" tIns="0" bIns="0" anchor="ctr">
              <a:noAutofit/>
            </a:bodyPr>
            <a:lstStyle/>
            <a:p>
              <a:pPr algn="l">
                <a:spcBef>
                  <a:spcPts val="0"/>
                </a:spcBef>
                <a:spcAft>
                  <a:spcPts val="0"/>
                </a:spcAft>
              </a:pPr>
              <a:r>
                <a:rPr sz="1313" b="0" i="0" baseline="0" lang="en-US" dirty="0">
                  <a:solidFill>
                    <a:srgbClr val="233E5D"/>
                  </a:solidFill>
                  <a:latin typeface="Times New Roman"/>
                  <a:ea typeface="Times New Roman"/>
                  <a:cs typeface="Times New Roman"/>
                </a:rPr>
                <a:t>attn</a:t>
              </a:r>
            </a:p>
          </p:txBody>
        </p:sp>
        <p:cxnSp>
          <p:nvCxnSpPr>
            <p:cNvPr id="218" name="Connector 217"/>
            <p:cNvCxnSpPr/>
            <p:nvPr/>
          </p:nvCxnSpPr>
          <p:spPr>
            <a:xfrm>
              <a:off x="4078224" y="5586984"/>
              <a:ext cx="347472" cy="0"/>
            </a:xfrm>
            <a:prstGeom prst="line">
              <a:avLst/>
            </a:prstGeom>
            <a:ln w="15875">
              <a:solidFill>
                <a:srgbClr val="233E5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19" name="Rounded Rectangle 218"/>
            <p:cNvSpPr/>
            <p:nvPr/>
          </p:nvSpPr>
          <p:spPr>
            <a:xfrm>
              <a:off x="4425696" y="5376672"/>
              <a:ext cx="1124712" cy="420624"/>
            </a:xfrm>
            <a:prstGeom prst="roundRect">
              <a:avLst>
                <a:gd name="adj" fmla="val 10869"/>
              </a:avLst>
            </a:prstGeom>
            <a:solidFill>
              <a:srgbClr val="FFFFFF"/>
            </a:solidFill>
            <a:ln w="12065">
              <a:solidFill>
                <a:srgbClr val="BBC6D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0" name="Text: A"/>
            <p:cNvSpPr txBox="1"/>
            <p:nvPr/>
          </p:nvSpPr>
          <p:spPr>
            <a:xfrm>
              <a:off x="4647548" y="5348782"/>
              <a:ext cx="164527" cy="402336"/>
            </a:xfrm>
            <a:prstGeom prst="rect">
              <a:avLst/>
            </a:prstGeom>
            <a:noFill/>
            <a:effectLst/>
          </p:spPr>
          <p:txBody>
            <a:bodyPr wrap="none" lIns="0" rIns="0" tIns="0" bIns="0" anchor="ctr">
              <a:noAutofit/>
            </a:bodyPr>
            <a:lstStyle/>
            <a:p>
              <a:pPr algn="l">
                <a:spcBef>
                  <a:spcPts val="0"/>
                </a:spcBef>
                <a:spcAft>
                  <a:spcPts val="0"/>
                </a:spcAft>
              </a:pPr>
              <a:r>
                <a:rPr sz="1943" b="0" i="1" baseline="0" lang="en-US" dirty="0">
                  <a:solidFill>
                    <a:srgbClr val="233E5D"/>
                  </a:solidFill>
                  <a:latin typeface="Times New Roman"/>
                  <a:ea typeface="Times New Roman"/>
                  <a:cs typeface="Times New Roman"/>
                </a:rPr>
                <a:t>A</a:t>
              </a:r>
            </a:p>
          </p:txBody>
        </p:sp>
        <p:sp>
          <p:nvSpPr>
            <p:cNvPr id="221" name="Text: attn"/>
            <p:cNvSpPr txBox="1"/>
            <p:nvPr/>
          </p:nvSpPr>
          <p:spPr>
            <a:xfrm>
              <a:off x="4834936" y="5428280"/>
              <a:ext cx="331377" cy="402336"/>
            </a:xfrm>
            <a:prstGeom prst="rect">
              <a:avLst/>
            </a:prstGeom>
            <a:noFill/>
            <a:effectLst/>
          </p:spPr>
          <p:txBody>
            <a:bodyPr wrap="none" lIns="0" rIns="0" tIns="0" bIns="0" anchor="ctr">
              <a:noAutofit/>
            </a:bodyPr>
            <a:lstStyle/>
            <a:p>
              <a:pPr algn="l">
                <a:spcBef>
                  <a:spcPts val="0"/>
                </a:spcBef>
                <a:spcAft>
                  <a:spcPts val="0"/>
                </a:spcAft>
              </a:pPr>
              <a:r>
                <a:rPr sz="1477" b="0" i="0" baseline="0" lang="en-US" dirty="0">
                  <a:solidFill>
                    <a:srgbClr val="233E5D"/>
                  </a:solidFill>
                  <a:latin typeface="Times New Roman"/>
                  <a:ea typeface="Times New Roman"/>
                  <a:cs typeface="Times New Roman"/>
                </a:rPr>
                <a:t>attn</a:t>
              </a:r>
            </a:p>
          </p:txBody>
        </p:sp>
        <p:sp>
          <p:nvSpPr>
            <p:cNvPr id="222" name="Text:  V"/>
            <p:cNvSpPr txBox="1"/>
            <p:nvPr/>
          </p:nvSpPr>
          <p:spPr>
            <a:xfrm>
              <a:off x="5116021" y="5348782"/>
              <a:ext cx="226249" cy="402336"/>
            </a:xfrm>
            <a:prstGeom prst="rect">
              <a:avLst/>
            </a:prstGeom>
            <a:noFill/>
            <a:effectLst/>
          </p:spPr>
          <p:txBody>
            <a:bodyPr wrap="none" lIns="0" rIns="0" tIns="0" bIns="0" anchor="ctr">
              <a:noAutofit/>
            </a:bodyPr>
            <a:lstStyle/>
            <a:p>
              <a:pPr algn="l">
                <a:spcBef>
                  <a:spcPts val="0"/>
                </a:spcBef>
                <a:spcAft>
                  <a:spcPts val="0"/>
                </a:spcAft>
              </a:pPr>
              <a:r>
                <a:rPr sz="1943" b="0" i="1" baseline="0" lang="en-US" dirty="0">
                  <a:solidFill>
                    <a:srgbClr val="233E5D"/>
                  </a:solidFill>
                  <a:latin typeface="Times New Roman"/>
                  <a:ea typeface="Times New Roman"/>
                  <a:cs typeface="Times New Roman"/>
                </a:rPr>
                <a:t> V</a:t>
              </a:r>
            </a:p>
          </p:txBody>
        </p:sp>
        <p:cxnSp>
          <p:nvCxnSpPr>
            <p:cNvPr id="223" name="Connector 222"/>
            <p:cNvCxnSpPr/>
            <p:nvPr/>
          </p:nvCxnSpPr>
          <p:spPr>
            <a:xfrm>
              <a:off x="5550408" y="5586984"/>
              <a:ext cx="182880" cy="0"/>
            </a:xfrm>
            <a:prstGeom prst="line">
              <a:avLst/>
            </a:prstGeom>
            <a:ln w="15875">
              <a:solidFill>
                <a:srgbClr val="233E5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24" name="Rounded Rectangle 223"/>
            <p:cNvSpPr/>
            <p:nvPr/>
          </p:nvSpPr>
          <p:spPr>
            <a:xfrm>
              <a:off x="5733288" y="5376672"/>
              <a:ext cx="365760" cy="420624"/>
            </a:xfrm>
            <a:prstGeom prst="roundRect">
              <a:avLst>
                <a:gd name="adj" fmla="val 12500"/>
              </a:avLst>
            </a:prstGeom>
            <a:solidFill>
              <a:srgbClr val="E7F1F6"/>
            </a:solidFill>
            <a:ln w="12065">
              <a:solidFill>
                <a:srgbClr val="477F9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5" name="Text: A"/>
            <p:cNvSpPr txBox="1"/>
            <p:nvPr/>
          </p:nvSpPr>
          <p:spPr>
            <a:xfrm>
              <a:off x="5775611" y="5348782"/>
              <a:ext cx="164527" cy="402336"/>
            </a:xfrm>
            <a:prstGeom prst="rect">
              <a:avLst/>
            </a:prstGeom>
            <a:noFill/>
            <a:effectLst/>
          </p:spPr>
          <p:txBody>
            <a:bodyPr wrap="none" lIns="0" rIns="0" tIns="0" bIns="0" anchor="ctr">
              <a:noAutofit/>
            </a:bodyPr>
            <a:lstStyle/>
            <a:p>
              <a:pPr algn="l">
                <a:spcBef>
                  <a:spcPts val="0"/>
                </a:spcBef>
                <a:spcAft>
                  <a:spcPts val="0"/>
                </a:spcAft>
              </a:pPr>
              <a:r>
                <a:rPr sz="1943" b="0" i="1" baseline="0" lang="en-US" dirty="0">
                  <a:solidFill>
                    <a:srgbClr val="477F9F"/>
                  </a:solidFill>
                  <a:latin typeface="Times New Roman"/>
                  <a:ea typeface="Times New Roman"/>
                  <a:cs typeface="Times New Roman"/>
                </a:rPr>
                <a:t>A</a:t>
              </a:r>
            </a:p>
          </p:txBody>
        </p:sp>
        <p:sp>
          <p:nvSpPr>
            <p:cNvPr id="226" name="Text: 4"/>
            <p:cNvSpPr txBox="1"/>
            <p:nvPr/>
          </p:nvSpPr>
          <p:spPr>
            <a:xfrm>
              <a:off x="5962998" y="5428280"/>
              <a:ext cx="144018" cy="402336"/>
            </a:xfrm>
            <a:prstGeom prst="rect">
              <a:avLst/>
            </a:prstGeom>
            <a:noFill/>
            <a:effectLst/>
          </p:spPr>
          <p:txBody>
            <a:bodyPr wrap="none" lIns="0" rIns="0" tIns="0" bIns="0" anchor="ctr">
              <a:noAutofit/>
            </a:bodyPr>
            <a:lstStyle/>
            <a:p>
              <a:pPr algn="l">
                <a:spcBef>
                  <a:spcPts val="0"/>
                </a:spcBef>
                <a:spcAft>
                  <a:spcPts val="0"/>
                </a:spcAft>
              </a:pPr>
              <a:r>
                <a:rPr sz="1477" b="0" i="0" baseline="0" lang="en-US" dirty="0">
                  <a:solidFill>
                    <a:srgbClr val="477F9F"/>
                  </a:solidFill>
                  <a:latin typeface="Times New Roman"/>
                  <a:ea typeface="Times New Roman"/>
                  <a:cs typeface="Times New Roman"/>
                </a:rPr>
                <a:t>4</a:t>
              </a:r>
            </a:p>
          </p:txBody>
        </p:sp>
        <p:cxnSp>
          <p:nvCxnSpPr>
            <p:cNvPr id="227" name="Connector 226"/>
            <p:cNvCxnSpPr/>
            <p:nvPr/>
          </p:nvCxnSpPr>
          <p:spPr>
            <a:xfrm>
              <a:off x="6099048" y="5586984"/>
              <a:ext cx="128016" cy="0"/>
            </a:xfrm>
            <a:prstGeom prst="line">
              <a:avLst/>
            </a:prstGeom>
            <a:ln w="15875">
              <a:solidFill>
                <a:srgbClr val="233E5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28" name="Rounded Rectangle 227"/>
            <p:cNvSpPr/>
            <p:nvPr/>
          </p:nvSpPr>
          <p:spPr>
            <a:xfrm>
              <a:off x="6227064" y="5376672"/>
              <a:ext cx="585216" cy="420624"/>
            </a:xfrm>
            <a:prstGeom prst="roundRect">
              <a:avLst>
                <a:gd name="adj" fmla="val 10869"/>
              </a:avLst>
            </a:prstGeom>
            <a:solidFill>
              <a:srgbClr val="F4F7ED"/>
            </a:solidFill>
            <a:ln w="12065">
              <a:solidFill>
                <a:srgbClr val="BBC6D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9" name="Text: W"/>
            <p:cNvSpPr txBox="1"/>
            <p:nvPr/>
          </p:nvSpPr>
          <p:spPr>
            <a:xfrm>
              <a:off x="6236208" y="5385816"/>
              <a:ext cx="246888" cy="310896"/>
            </a:xfrm>
            <a:prstGeom prst="rect">
              <a:avLst/>
            </a:prstGeom>
            <a:noFill/>
            <a:effectLst/>
          </p:spPr>
          <p:txBody>
            <a:bodyPr wrap="none" lIns="0" rIns="0" tIns="0" bIns="0" anchor="ctr">
              <a:noAutofit/>
            </a:bodyPr>
            <a:lstStyle/>
            <a:p>
              <a:pPr algn="l">
                <a:spcBef>
                  <a:spcPts val="0"/>
                </a:spcBef>
                <a:spcAft>
                  <a:spcPts val="0"/>
                </a:spcAft>
              </a:pPr>
              <a:r>
                <a:rPr sz="2088" b="0" i="1" baseline="0" lang="en-US" dirty="0">
                  <a:solidFill>
                    <a:srgbClr val="233E5D"/>
                  </a:solidFill>
                  <a:latin typeface="Times New Roman"/>
                  <a:ea typeface="Times New Roman"/>
                  <a:cs typeface="Times New Roman"/>
                </a:rPr>
                <a:t>W</a:t>
              </a:r>
            </a:p>
          </p:txBody>
        </p:sp>
        <p:sp>
          <p:nvSpPr>
            <p:cNvPr id="230" name="Text: fold"/>
            <p:cNvSpPr txBox="1"/>
            <p:nvPr/>
          </p:nvSpPr>
          <p:spPr>
            <a:xfrm>
              <a:off x="6483096" y="5367528"/>
              <a:ext cx="329184" cy="201168"/>
            </a:xfrm>
            <a:prstGeom prst="rect">
              <a:avLst/>
            </a:prstGeom>
            <a:noFill/>
            <a:effectLst/>
          </p:spPr>
          <p:txBody>
            <a:bodyPr wrap="none" lIns="0" rIns="0" tIns="0" bIns="0" anchor="ctr">
              <a:noAutofit/>
            </a:bodyPr>
            <a:lstStyle/>
            <a:p>
              <a:pPr algn="l">
                <a:spcBef>
                  <a:spcPts val="0"/>
                </a:spcBef>
                <a:spcAft>
                  <a:spcPts val="0"/>
                </a:spcAft>
              </a:pPr>
              <a:r>
                <a:rPr sz="1584" b="0" i="0" baseline="0" lang="en-US" dirty="0">
                  <a:solidFill>
                    <a:srgbClr val="233E5D"/>
                  </a:solidFill>
                  <a:latin typeface="Times New Roman"/>
                  <a:ea typeface="Times New Roman"/>
                  <a:cs typeface="Times New Roman"/>
                </a:rPr>
                <a:t>fold</a:t>
              </a:r>
            </a:p>
          </p:txBody>
        </p:sp>
        <p:sp>
          <p:nvSpPr>
            <p:cNvPr id="231" name="Text: O"/>
            <p:cNvSpPr txBox="1"/>
            <p:nvPr/>
          </p:nvSpPr>
          <p:spPr>
            <a:xfrm>
              <a:off x="6483096" y="5559552"/>
              <a:ext cx="365760" cy="173736"/>
            </a:xfrm>
            <a:prstGeom prst="rect">
              <a:avLst/>
            </a:prstGeom>
            <a:noFill/>
            <a:effectLst/>
          </p:spPr>
          <p:txBody>
            <a:bodyPr wrap="none" lIns="0" rIns="0" tIns="0" bIns="0" anchor="ctr">
              <a:noAutofit/>
            </a:bodyPr>
            <a:lstStyle/>
            <a:p>
              <a:pPr algn="l">
                <a:spcBef>
                  <a:spcPts val="0"/>
                </a:spcBef>
                <a:spcAft>
                  <a:spcPts val="0"/>
                </a:spcAft>
              </a:pPr>
              <a:r>
                <a:rPr sz="1584" b="0" i="0" baseline="0" lang="en-US" dirty="0">
                  <a:solidFill>
                    <a:srgbClr val="233E5D"/>
                  </a:solidFill>
                  <a:latin typeface="Times New Roman"/>
                  <a:ea typeface="Times New Roman"/>
                  <a:cs typeface="Times New Roman"/>
                </a:rPr>
                <a:t>O</a:t>
              </a:r>
            </a:p>
          </p:txBody>
        </p:sp>
        <p:cxnSp>
          <p:nvCxnSpPr>
            <p:cNvPr id="232" name="Connector 231"/>
            <p:cNvCxnSpPr/>
            <p:nvPr/>
          </p:nvCxnSpPr>
          <p:spPr>
            <a:xfrm>
              <a:off x="6812280" y="5586984"/>
              <a:ext cx="91440" cy="0"/>
            </a:xfrm>
            <a:prstGeom prst="line">
              <a:avLst/>
            </a:prstGeom>
            <a:ln w="15875">
              <a:solidFill>
                <a:srgbClr val="233E5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33" name="Text: R"/>
            <p:cNvSpPr txBox="1"/>
            <p:nvPr/>
          </p:nvSpPr>
          <p:spPr>
            <a:xfrm>
              <a:off x="402336" y="6276441"/>
              <a:ext cx="147768" cy="237744"/>
            </a:xfrm>
            <a:prstGeom prst="rect">
              <a:avLst/>
            </a:prstGeom>
            <a:noFill/>
            <a:effectLst/>
          </p:spPr>
          <p:txBody>
            <a:bodyPr wrap="none" lIns="0" rIns="0" tIns="0" bIns="0" anchor="ctr">
              <a:noAutofit/>
            </a:bodyPr>
            <a:lstStyle/>
            <a:p>
              <a:pPr algn="l">
                <a:spcBef>
                  <a:spcPts val="0"/>
                </a:spcBef>
                <a:spcAft>
                  <a:spcPts val="0"/>
                </a:spcAft>
              </a:pPr>
              <a:r>
                <a:rPr sz="1728" b="0" i="1" baseline="0" lang="en-US" dirty="0">
                  <a:solidFill>
                    <a:srgbClr val="233E5D"/>
                  </a:solidFill>
                  <a:latin typeface="Times New Roman"/>
                  <a:ea typeface="Times New Roman"/>
                  <a:cs typeface="Times New Roman"/>
                </a:rPr>
                <a:t>R</a:t>
              </a:r>
            </a:p>
          </p:txBody>
        </p:sp>
        <p:sp>
          <p:nvSpPr>
            <p:cNvPr id="234" name="Text: 2"/>
            <p:cNvSpPr txBox="1"/>
            <p:nvPr/>
          </p:nvSpPr>
          <p:spPr>
            <a:xfrm>
              <a:off x="572964" y="6347106"/>
              <a:ext cx="227842" cy="237744"/>
            </a:xfrm>
            <a:prstGeom prst="rect">
              <a:avLst/>
            </a:prstGeom>
            <a:noFill/>
            <a:effectLst/>
          </p:spPr>
          <p:txBody>
            <a:bodyPr wrap="none" lIns="0" rIns="0" tIns="0" bIns="0" anchor="ctr">
              <a:noAutofit/>
            </a:bodyPr>
            <a:lstStyle/>
            <a:p>
              <a:pPr algn="l">
                <a:spcBef>
                  <a:spcPts val="0"/>
                </a:spcBef>
                <a:spcAft>
                  <a:spcPts val="0"/>
                </a:spcAft>
              </a:pPr>
              <a:r>
                <a:rPr sz="1313" b="0" i="0" baseline="0" lang="en-US" dirty="0">
                  <a:solidFill>
                    <a:srgbClr val="233E5D"/>
                  </a:solidFill>
                  <a:latin typeface="Times New Roman"/>
                  <a:ea typeface="Times New Roman"/>
                  <a:cs typeface="Times New Roman"/>
                </a:rPr>
                <a:t>2</a:t>
              </a:r>
            </a:p>
          </p:txBody>
        </p:sp>
        <p:sp>
          <p:nvSpPr>
            <p:cNvPr id="235" name="Text: −1"/>
            <p:cNvSpPr txBox="1"/>
            <p:nvPr/>
          </p:nvSpPr>
          <p:spPr>
            <a:xfrm>
              <a:off x="572964" y="6215432"/>
              <a:ext cx="227842" cy="237744"/>
            </a:xfrm>
            <a:prstGeom prst="rect">
              <a:avLst/>
            </a:prstGeom>
            <a:noFill/>
            <a:effectLst/>
          </p:spPr>
          <p:txBody>
            <a:bodyPr wrap="none" lIns="0" rIns="0" tIns="0" bIns="0" anchor="ctr">
              <a:noAutofit/>
            </a:bodyPr>
            <a:lstStyle/>
            <a:p>
              <a:pPr algn="l">
                <a:spcBef>
                  <a:spcPts val="0"/>
                </a:spcBef>
                <a:spcAft>
                  <a:spcPts val="0"/>
                </a:spcAft>
              </a:pPr>
              <a:r>
                <a:rPr sz="1313" b="0" i="0" baseline="0" lang="en-US" dirty="0">
                  <a:solidFill>
                    <a:srgbClr val="233E5D"/>
                  </a:solidFill>
                  <a:latin typeface="Times New Roman"/>
                  <a:ea typeface="Times New Roman"/>
                  <a:cs typeface="Times New Roman"/>
                </a:rPr>
                <a:t>−1</a:t>
              </a:r>
            </a:p>
          </p:txBody>
        </p:sp>
        <p:sp>
          <p:nvSpPr>
            <p:cNvPr id="236" name="Text:  "/>
            <p:cNvSpPr txBox="1"/>
            <p:nvPr/>
          </p:nvSpPr>
          <p:spPr>
            <a:xfrm>
              <a:off x="750515" y="6276441"/>
              <a:ext cx="68580" cy="237744"/>
            </a:xfrm>
            <a:prstGeom prst="rect">
              <a:avLst/>
            </a:prstGeom>
            <a:noFill/>
            <a:effectLst/>
          </p:spPr>
          <p:txBody>
            <a:bodyPr wrap="none" lIns="0" rIns="0" tIns="0" bIns="0" anchor="ctr">
              <a:noAutofit/>
            </a:bodyPr>
            <a:lstStyle/>
            <a:p>
              <a:pPr algn="l">
                <a:spcBef>
                  <a:spcPts val="0"/>
                </a:spcBef>
                <a:spcAft>
                  <a:spcPts val="0"/>
                </a:spcAft>
              </a:pPr>
              <a:r>
                <a:rPr sz="1728" b="0" i="1" baseline="0" lang="en-US" dirty="0">
                  <a:solidFill>
                    <a:srgbClr val="233E5D"/>
                  </a:solidFill>
                  <a:latin typeface="Times New Roman"/>
                  <a:ea typeface="Times New Roman"/>
                  <a:cs typeface="Times New Roman"/>
                </a:rPr>
                <a:t> </a:t>
              </a:r>
            </a:p>
          </p:txBody>
        </p:sp>
        <p:sp>
          <p:nvSpPr>
            <p:cNvPr id="237" name="Text: and"/>
            <p:cNvSpPr txBox="1"/>
            <p:nvPr/>
          </p:nvSpPr>
          <p:spPr>
            <a:xfrm>
              <a:off x="805379" y="6276441"/>
              <a:ext cx="330577" cy="237744"/>
            </a:xfrm>
            <a:prstGeom prst="rect">
              <a:avLst/>
            </a:prstGeom>
            <a:noFill/>
            <a:effectLst/>
          </p:spPr>
          <p:txBody>
            <a:bodyPr wrap="none" lIns="0" rIns="0" tIns="0" bIns="0" anchor="ctr">
              <a:noAutofit/>
            </a:bodyPr>
            <a:lstStyle/>
            <a:p>
              <a:pPr algn="l">
                <a:spcBef>
                  <a:spcPts val="0"/>
                </a:spcBef>
                <a:spcAft>
                  <a:spcPts val="0"/>
                </a:spcAft>
              </a:pPr>
              <a:r>
                <a:rPr sz="1728" b="0" i="0" baseline="0" lang="en-US" dirty="0">
                  <a:solidFill>
                    <a:srgbClr val="233E5D"/>
                  </a:solidFill>
                  <a:latin typeface="Times New Roman"/>
                  <a:ea typeface="Times New Roman"/>
                  <a:cs typeface="Times New Roman"/>
                </a:rPr>
                <a:t>and</a:t>
              </a:r>
            </a:p>
          </p:txBody>
        </p:sp>
        <p:sp>
          <p:nvSpPr>
            <p:cNvPr id="238" name="Text:  "/>
            <p:cNvSpPr txBox="1"/>
            <p:nvPr/>
          </p:nvSpPr>
          <p:spPr>
            <a:xfrm>
              <a:off x="1122240" y="6276441"/>
              <a:ext cx="68580" cy="237744"/>
            </a:xfrm>
            <a:prstGeom prst="rect">
              <a:avLst/>
            </a:prstGeom>
            <a:noFill/>
            <a:effectLst/>
          </p:spPr>
          <p:txBody>
            <a:bodyPr wrap="none" lIns="0" rIns="0" tIns="0" bIns="0" anchor="ctr">
              <a:noAutofit/>
            </a:bodyPr>
            <a:lstStyle/>
            <a:p>
              <a:pPr algn="l">
                <a:spcBef>
                  <a:spcPts val="0"/>
                </a:spcBef>
                <a:spcAft>
                  <a:spcPts val="0"/>
                </a:spcAft>
              </a:pPr>
              <a:r>
                <a:rPr sz="1728" b="0" i="1" baseline="0" lang="en-US" dirty="0">
                  <a:solidFill>
                    <a:srgbClr val="233E5D"/>
                  </a:solidFill>
                  <a:latin typeface="Times New Roman"/>
                  <a:ea typeface="Times New Roman"/>
                  <a:cs typeface="Times New Roman"/>
                </a:rPr>
                <a:t> </a:t>
              </a:r>
            </a:p>
          </p:txBody>
        </p:sp>
        <p:sp>
          <p:nvSpPr>
            <p:cNvPr id="239" name="Text: residual"/>
            <p:cNvSpPr txBox="1"/>
            <p:nvPr/>
          </p:nvSpPr>
          <p:spPr>
            <a:xfrm>
              <a:off x="1177104" y="6276441"/>
              <a:ext cx="708409" cy="237744"/>
            </a:xfrm>
            <a:prstGeom prst="rect">
              <a:avLst/>
            </a:prstGeom>
            <a:noFill/>
            <a:effectLst/>
          </p:spPr>
          <p:txBody>
            <a:bodyPr wrap="none" lIns="0" rIns="0" tIns="0" bIns="0" anchor="ctr">
              <a:noAutofit/>
            </a:bodyPr>
            <a:lstStyle/>
            <a:p>
              <a:pPr algn="l">
                <a:spcBef>
                  <a:spcPts val="0"/>
                </a:spcBef>
                <a:spcAft>
                  <a:spcPts val="0"/>
                </a:spcAft>
              </a:pPr>
              <a:r>
                <a:rPr sz="1728" b="0" i="0" baseline="0" lang="en-US" dirty="0">
                  <a:solidFill>
                    <a:srgbClr val="233E5D"/>
                  </a:solidFill>
                  <a:latin typeface="Times New Roman"/>
                  <a:ea typeface="Times New Roman"/>
                  <a:cs typeface="Times New Roman"/>
                </a:rPr>
                <a:t>residual</a:t>
              </a:r>
            </a:p>
          </p:txBody>
        </p:sp>
        <p:sp>
          <p:nvSpPr>
            <p:cNvPr id="240" name="Text:  "/>
            <p:cNvSpPr txBox="1"/>
            <p:nvPr/>
          </p:nvSpPr>
          <p:spPr>
            <a:xfrm>
              <a:off x="1871798" y="6276441"/>
              <a:ext cx="68580" cy="237744"/>
            </a:xfrm>
            <a:prstGeom prst="rect">
              <a:avLst/>
            </a:prstGeom>
            <a:noFill/>
            <a:effectLst/>
          </p:spPr>
          <p:txBody>
            <a:bodyPr wrap="none" lIns="0" rIns="0" tIns="0" bIns="0" anchor="ctr">
              <a:noAutofit/>
            </a:bodyPr>
            <a:lstStyle/>
            <a:p>
              <a:pPr algn="l">
                <a:spcBef>
                  <a:spcPts val="0"/>
                </a:spcBef>
                <a:spcAft>
                  <a:spcPts val="0"/>
                </a:spcAft>
              </a:pPr>
              <a:r>
                <a:rPr sz="1728" b="0" i="1" baseline="0" lang="en-US" dirty="0">
                  <a:solidFill>
                    <a:srgbClr val="233E5D"/>
                  </a:solidFill>
                  <a:latin typeface="Times New Roman"/>
                  <a:ea typeface="Times New Roman"/>
                  <a:cs typeface="Times New Roman"/>
                </a:rPr>
                <a:t> </a:t>
              </a:r>
            </a:p>
          </p:txBody>
        </p:sp>
        <p:sp>
          <p:nvSpPr>
            <p:cNvPr id="241" name="Text: basis"/>
            <p:cNvSpPr txBox="1"/>
            <p:nvPr/>
          </p:nvSpPr>
          <p:spPr>
            <a:xfrm>
              <a:off x="1926662" y="6276441"/>
              <a:ext cx="452628" cy="237744"/>
            </a:xfrm>
            <a:prstGeom prst="rect">
              <a:avLst/>
            </a:prstGeom>
            <a:noFill/>
            <a:effectLst/>
          </p:spPr>
          <p:txBody>
            <a:bodyPr wrap="none" lIns="0" rIns="0" tIns="0" bIns="0" anchor="ctr">
              <a:noAutofit/>
            </a:bodyPr>
            <a:lstStyle/>
            <a:p>
              <a:pPr algn="l">
                <a:spcBef>
                  <a:spcPts val="0"/>
                </a:spcBef>
                <a:spcAft>
                  <a:spcPts val="0"/>
                </a:spcAft>
              </a:pPr>
              <a:r>
                <a:rPr sz="1728" b="0" i="0" baseline="0" lang="en-US" dirty="0">
                  <a:solidFill>
                    <a:srgbClr val="233E5D"/>
                  </a:solidFill>
                  <a:latin typeface="Times New Roman"/>
                  <a:ea typeface="Times New Roman"/>
                  <a:cs typeface="Times New Roman"/>
                </a:rPr>
                <a:t>basis</a:t>
              </a:r>
            </a:p>
          </p:txBody>
        </p:sp>
        <p:sp>
          <p:nvSpPr>
            <p:cNvPr id="242" name="Text:  "/>
            <p:cNvSpPr txBox="1"/>
            <p:nvPr/>
          </p:nvSpPr>
          <p:spPr>
            <a:xfrm>
              <a:off x="2365574" y="6276441"/>
              <a:ext cx="68580" cy="237744"/>
            </a:xfrm>
            <a:prstGeom prst="rect">
              <a:avLst/>
            </a:prstGeom>
            <a:noFill/>
            <a:effectLst/>
          </p:spPr>
          <p:txBody>
            <a:bodyPr wrap="none" lIns="0" rIns="0" tIns="0" bIns="0" anchor="ctr">
              <a:noAutofit/>
            </a:bodyPr>
            <a:lstStyle/>
            <a:p>
              <a:pPr algn="l">
                <a:spcBef>
                  <a:spcPts val="0"/>
                </a:spcBef>
                <a:spcAft>
                  <a:spcPts val="0"/>
                </a:spcAft>
              </a:pPr>
              <a:r>
                <a:rPr sz="1728" b="0" i="1" baseline="0" lang="en-US" dirty="0">
                  <a:solidFill>
                    <a:srgbClr val="233E5D"/>
                  </a:solidFill>
                  <a:latin typeface="Times New Roman"/>
                  <a:ea typeface="Times New Roman"/>
                  <a:cs typeface="Times New Roman"/>
                </a:rPr>
                <a:t> </a:t>
              </a:r>
            </a:p>
          </p:txBody>
        </p:sp>
        <p:sp>
          <p:nvSpPr>
            <p:cNvPr id="243" name="Text: folded"/>
            <p:cNvSpPr txBox="1"/>
            <p:nvPr/>
          </p:nvSpPr>
          <p:spPr>
            <a:xfrm>
              <a:off x="2420438" y="6276441"/>
              <a:ext cx="574357" cy="237744"/>
            </a:xfrm>
            <a:prstGeom prst="rect">
              <a:avLst/>
            </a:prstGeom>
            <a:noFill/>
            <a:effectLst/>
          </p:spPr>
          <p:txBody>
            <a:bodyPr wrap="none" lIns="0" rIns="0" tIns="0" bIns="0" anchor="ctr">
              <a:noAutofit/>
            </a:bodyPr>
            <a:lstStyle/>
            <a:p>
              <a:pPr algn="l">
                <a:spcBef>
                  <a:spcPts val="0"/>
                </a:spcBef>
                <a:spcAft>
                  <a:spcPts val="0"/>
                </a:spcAft>
              </a:pPr>
              <a:r>
                <a:rPr sz="1728" b="0" i="0" baseline="0" lang="en-US" dirty="0">
                  <a:solidFill>
                    <a:srgbClr val="233E5D"/>
                  </a:solidFill>
                  <a:latin typeface="Times New Roman"/>
                  <a:ea typeface="Times New Roman"/>
                  <a:cs typeface="Times New Roman"/>
                </a:rPr>
                <a:t>folded</a:t>
              </a:r>
            </a:p>
          </p:txBody>
        </p:sp>
        <p:sp>
          <p:nvSpPr>
            <p:cNvPr id="244" name="Text:  "/>
            <p:cNvSpPr txBox="1"/>
            <p:nvPr/>
          </p:nvSpPr>
          <p:spPr>
            <a:xfrm>
              <a:off x="2981079" y="6276441"/>
              <a:ext cx="68580" cy="237744"/>
            </a:xfrm>
            <a:prstGeom prst="rect">
              <a:avLst/>
            </a:prstGeom>
            <a:noFill/>
            <a:effectLst/>
          </p:spPr>
          <p:txBody>
            <a:bodyPr wrap="none" lIns="0" rIns="0" tIns="0" bIns="0" anchor="ctr">
              <a:noAutofit/>
            </a:bodyPr>
            <a:lstStyle/>
            <a:p>
              <a:pPr algn="l">
                <a:spcBef>
                  <a:spcPts val="0"/>
                </a:spcBef>
                <a:spcAft>
                  <a:spcPts val="0"/>
                </a:spcAft>
              </a:pPr>
              <a:r>
                <a:rPr sz="1728" b="0" i="1" baseline="0" lang="en-US" dirty="0">
                  <a:solidFill>
                    <a:srgbClr val="233E5D"/>
                  </a:solidFill>
                  <a:latin typeface="Times New Roman"/>
                  <a:ea typeface="Times New Roman"/>
                  <a:cs typeface="Times New Roman"/>
                </a:rPr>
                <a:t> </a:t>
              </a:r>
            </a:p>
          </p:txBody>
        </p:sp>
        <p:sp>
          <p:nvSpPr>
            <p:cNvPr id="245" name="Text: into"/>
            <p:cNvSpPr txBox="1"/>
            <p:nvPr/>
          </p:nvSpPr>
          <p:spPr>
            <a:xfrm>
              <a:off x="3035943" y="6276441"/>
              <a:ext cx="355115" cy="237744"/>
            </a:xfrm>
            <a:prstGeom prst="rect">
              <a:avLst/>
            </a:prstGeom>
            <a:noFill/>
            <a:effectLst/>
          </p:spPr>
          <p:txBody>
            <a:bodyPr wrap="none" lIns="0" rIns="0" tIns="0" bIns="0" anchor="ctr">
              <a:noAutofit/>
            </a:bodyPr>
            <a:lstStyle/>
            <a:p>
              <a:pPr algn="l">
                <a:spcBef>
                  <a:spcPts val="0"/>
                </a:spcBef>
                <a:spcAft>
                  <a:spcPts val="0"/>
                </a:spcAft>
              </a:pPr>
              <a:r>
                <a:rPr sz="1728" b="0" i="0" baseline="0" lang="en-US" dirty="0">
                  <a:solidFill>
                    <a:srgbClr val="233E5D"/>
                  </a:solidFill>
                  <a:latin typeface="Times New Roman"/>
                  <a:ea typeface="Times New Roman"/>
                  <a:cs typeface="Times New Roman"/>
                </a:rPr>
                <a:t>into</a:t>
              </a:r>
            </a:p>
          </p:txBody>
        </p:sp>
        <p:sp>
          <p:nvSpPr>
            <p:cNvPr id="246" name="Text:  "/>
            <p:cNvSpPr txBox="1"/>
            <p:nvPr/>
          </p:nvSpPr>
          <p:spPr>
            <a:xfrm>
              <a:off x="3377343" y="6276441"/>
              <a:ext cx="68580" cy="237744"/>
            </a:xfrm>
            <a:prstGeom prst="rect">
              <a:avLst/>
            </a:prstGeom>
            <a:noFill/>
            <a:effectLst/>
          </p:spPr>
          <p:txBody>
            <a:bodyPr wrap="none" lIns="0" rIns="0" tIns="0" bIns="0" anchor="ctr">
              <a:noAutofit/>
            </a:bodyPr>
            <a:lstStyle/>
            <a:p>
              <a:pPr algn="l">
                <a:spcBef>
                  <a:spcPts val="0"/>
                </a:spcBef>
                <a:spcAft>
                  <a:spcPts val="0"/>
                </a:spcAft>
              </a:pPr>
              <a:r>
                <a:rPr sz="1728" b="0" i="1" baseline="0" lang="en-US" dirty="0">
                  <a:solidFill>
                    <a:srgbClr val="233E5D"/>
                  </a:solidFill>
                  <a:latin typeface="Times New Roman"/>
                  <a:ea typeface="Times New Roman"/>
                  <a:cs typeface="Times New Roman"/>
                </a:rPr>
                <a:t> </a:t>
              </a:r>
            </a:p>
          </p:txBody>
        </p:sp>
        <p:sp>
          <p:nvSpPr>
            <p:cNvPr id="247" name="Text: output"/>
            <p:cNvSpPr txBox="1"/>
            <p:nvPr/>
          </p:nvSpPr>
          <p:spPr>
            <a:xfrm>
              <a:off x="3432207" y="6276441"/>
              <a:ext cx="574571" cy="237744"/>
            </a:xfrm>
            <a:prstGeom prst="rect">
              <a:avLst/>
            </a:prstGeom>
            <a:noFill/>
            <a:effectLst/>
          </p:spPr>
          <p:txBody>
            <a:bodyPr wrap="none" lIns="0" rIns="0" tIns="0" bIns="0" anchor="ctr">
              <a:noAutofit/>
            </a:bodyPr>
            <a:lstStyle/>
            <a:p>
              <a:pPr algn="l">
                <a:spcBef>
                  <a:spcPts val="0"/>
                </a:spcBef>
                <a:spcAft>
                  <a:spcPts val="0"/>
                </a:spcAft>
              </a:pPr>
              <a:r>
                <a:rPr sz="1728" b="0" i="0" baseline="0" lang="en-US" dirty="0">
                  <a:solidFill>
                    <a:srgbClr val="233E5D"/>
                  </a:solidFill>
                  <a:latin typeface="Times New Roman"/>
                  <a:ea typeface="Times New Roman"/>
                  <a:cs typeface="Times New Roman"/>
                </a:rPr>
                <a:t>output</a:t>
              </a:r>
            </a:p>
          </p:txBody>
        </p:sp>
        <p:sp>
          <p:nvSpPr>
            <p:cNvPr id="248" name="Text:  "/>
            <p:cNvSpPr txBox="1"/>
            <p:nvPr/>
          </p:nvSpPr>
          <p:spPr>
            <a:xfrm>
              <a:off x="3993063" y="6276441"/>
              <a:ext cx="68580" cy="237744"/>
            </a:xfrm>
            <a:prstGeom prst="rect">
              <a:avLst/>
            </a:prstGeom>
            <a:noFill/>
            <a:effectLst/>
          </p:spPr>
          <p:txBody>
            <a:bodyPr wrap="none" lIns="0" rIns="0" tIns="0" bIns="0" anchor="ctr">
              <a:noAutofit/>
            </a:bodyPr>
            <a:lstStyle/>
            <a:p>
              <a:pPr algn="l">
                <a:spcBef>
                  <a:spcPts val="0"/>
                </a:spcBef>
                <a:spcAft>
                  <a:spcPts val="0"/>
                </a:spcAft>
              </a:pPr>
              <a:r>
                <a:rPr sz="1728" b="0" i="1" baseline="0" lang="en-US" dirty="0">
                  <a:solidFill>
                    <a:srgbClr val="233E5D"/>
                  </a:solidFill>
                  <a:latin typeface="Times New Roman"/>
                  <a:ea typeface="Times New Roman"/>
                  <a:cs typeface="Times New Roman"/>
                </a:rPr>
                <a:t> </a:t>
              </a:r>
            </a:p>
          </p:txBody>
        </p:sp>
        <p:sp>
          <p:nvSpPr>
            <p:cNvPr id="249" name="Text: weight"/>
            <p:cNvSpPr txBox="1"/>
            <p:nvPr/>
          </p:nvSpPr>
          <p:spPr>
            <a:xfrm>
              <a:off x="4047927" y="6276441"/>
              <a:ext cx="611004" cy="237744"/>
            </a:xfrm>
            <a:prstGeom prst="rect">
              <a:avLst/>
            </a:prstGeom>
            <a:noFill/>
            <a:effectLst/>
          </p:spPr>
          <p:txBody>
            <a:bodyPr wrap="none" lIns="0" rIns="0" tIns="0" bIns="0" anchor="ctr">
              <a:noAutofit/>
            </a:bodyPr>
            <a:lstStyle/>
            <a:p>
              <a:pPr algn="l">
                <a:spcBef>
                  <a:spcPts val="0"/>
                </a:spcBef>
                <a:spcAft>
                  <a:spcPts val="0"/>
                </a:spcAft>
              </a:pPr>
              <a:r>
                <a:rPr sz="1728" b="0" i="0" baseline="0" lang="en-US" dirty="0">
                  <a:solidFill>
                    <a:srgbClr val="233E5D"/>
                  </a:solidFill>
                  <a:latin typeface="Times New Roman"/>
                  <a:ea typeface="Times New Roman"/>
                  <a:cs typeface="Times New Roman"/>
                </a:rPr>
                <a:t>weight</a:t>
              </a:r>
            </a:p>
          </p:txBody>
        </p:sp>
      </p:grpSp>
      <p:grpSp>
        <p:nvGrpSpPr>
          <p:cNvPr id="250" name="04 FFN expansion"/>
          <p:cNvGrpSpPr/>
          <p:nvPr/>
        </p:nvGrpSpPr>
        <p:grpSpPr>
          <a:xfrm>
            <a:off x="7123176" y="3310128"/>
            <a:ext cx="7287768" cy="3291840"/>
            <a:chOff x="7123176" y="3310128"/>
            <a:chExt cx="7287768" cy="3291840"/>
          </a:xfrm>
        </p:grpSpPr>
        <p:sp>
          <p:nvSpPr>
            <p:cNvPr id="251" name="Panel ffn"/>
            <p:cNvSpPr/>
            <p:nvPr/>
          </p:nvSpPr>
          <p:spPr>
            <a:xfrm>
              <a:off x="7123176" y="3310128"/>
              <a:ext cx="7287768" cy="3291840"/>
            </a:xfrm>
            <a:prstGeom prst="roundRect">
              <a:avLst>
                <a:gd name="adj" fmla="val 2777"/>
              </a:avLst>
            </a:prstGeom>
            <a:solidFill>
              <a:srgbClr val="F3F5F8"/>
            </a:solidFill>
            <a:ln w="10160">
              <a:solidFill>
                <a:srgbClr val="BBC6D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2" name="Text: (b)  FFN"/>
            <p:cNvSpPr txBox="1"/>
            <p:nvPr/>
          </p:nvSpPr>
          <p:spPr>
            <a:xfrm>
              <a:off x="7287768" y="3401568"/>
              <a:ext cx="6958584" cy="320040"/>
            </a:xfrm>
            <a:prstGeom prst="rect">
              <a:avLst/>
            </a:prstGeom>
            <a:noFill/>
            <a:effectLst/>
          </p:spPr>
          <p:txBody>
            <a:bodyPr wrap="none" lIns="0" rIns="0" tIns="0" bIns="0" anchor="ctr">
              <a:noAutofit/>
            </a:bodyPr>
            <a:lstStyle/>
            <a:p>
              <a:pPr algn="l">
                <a:spcBef>
                  <a:spcPts val="0"/>
                </a:spcBef>
                <a:spcAft>
                  <a:spcPts val="0"/>
                </a:spcAft>
              </a:pPr>
              <a:r>
                <a:rPr sz="2160" b="1" i="0" baseline="0" lang="en-US" dirty="0">
                  <a:solidFill>
                    <a:srgbClr val="233E5D"/>
                  </a:solidFill>
                  <a:latin typeface="Times New Roman"/>
                  <a:ea typeface="Times New Roman"/>
                  <a:cs typeface="Times New Roman"/>
                </a:rPr>
                <a:t>(b)  FFN</a:t>
              </a:r>
            </a:p>
          </p:txBody>
        </p:sp>
        <p:sp>
          <p:nvSpPr>
            <p:cNvPr id="253" name="Text: Signed permutation folded into SwiGLU project"/>
            <p:cNvSpPr txBox="1"/>
            <p:nvPr/>
          </p:nvSpPr>
          <p:spPr>
            <a:xfrm>
              <a:off x="7306056" y="3694176"/>
              <a:ext cx="6793992" cy="265176"/>
            </a:xfrm>
            <a:prstGeom prst="rect">
              <a:avLst/>
            </a:prstGeom>
            <a:noFill/>
            <a:effectLst/>
          </p:spPr>
          <p:txBody>
            <a:bodyPr wrap="none" lIns="0" rIns="0" tIns="0" bIns="0" anchor="ctr">
              <a:noAutofit/>
            </a:bodyPr>
            <a:lstStyle/>
            <a:p>
              <a:pPr algn="l">
                <a:spcBef>
                  <a:spcPts val="0"/>
                </a:spcBef>
                <a:spcAft>
                  <a:spcPts val="0"/>
                </a:spcAft>
              </a:pPr>
              <a:r>
                <a:rPr sz="1655" b="0" i="0" baseline="0" lang="en-US" dirty="0">
                  <a:solidFill>
                    <a:srgbClr val="557087"/>
                  </a:solidFill>
                  <a:latin typeface="Times New Roman"/>
                  <a:ea typeface="Times New Roman"/>
                  <a:cs typeface="Times New Roman"/>
                </a:rPr>
                <a:t>Signed permutation folded into SwiGLU projections</a:t>
              </a:r>
            </a:p>
          </p:txBody>
        </p:sp>
        <p:sp>
          <p:nvSpPr>
            <p:cNvPr id="254" name="Text: X"/>
            <p:cNvSpPr txBox="1"/>
            <p:nvPr/>
          </p:nvSpPr>
          <p:spPr>
            <a:xfrm>
              <a:off x="7269480" y="4726990"/>
              <a:ext cx="164527" cy="265176"/>
            </a:xfrm>
            <a:prstGeom prst="rect">
              <a:avLst/>
            </a:prstGeom>
            <a:noFill/>
            <a:effectLst/>
          </p:spPr>
          <p:txBody>
            <a:bodyPr wrap="none" lIns="0" rIns="0" tIns="0" bIns="0" anchor="ctr">
              <a:noAutofit/>
            </a:bodyPr>
            <a:lstStyle/>
            <a:p>
              <a:pPr algn="l">
                <a:spcBef>
                  <a:spcPts val="0"/>
                </a:spcBef>
                <a:spcAft>
                  <a:spcPts val="0"/>
                </a:spcAft>
              </a:pPr>
              <a:r>
                <a:rPr sz="1943" b="0" i="1" baseline="0" lang="en-US" dirty="0">
                  <a:solidFill>
                    <a:srgbClr val="233E5D"/>
                  </a:solidFill>
                  <a:latin typeface="Times New Roman"/>
                  <a:ea typeface="Times New Roman"/>
                  <a:cs typeface="Times New Roman"/>
                </a:rPr>
                <a:t>X</a:t>
              </a:r>
            </a:p>
          </p:txBody>
        </p:sp>
        <p:sp>
          <p:nvSpPr>
            <p:cNvPr id="255" name="Rounded Rectangle 254"/>
            <p:cNvSpPr/>
            <p:nvPr/>
          </p:nvSpPr>
          <p:spPr>
            <a:xfrm>
              <a:off x="7562088" y="4700016"/>
              <a:ext cx="365760" cy="420624"/>
            </a:xfrm>
            <a:prstGeom prst="roundRect">
              <a:avLst>
                <a:gd name="adj" fmla="val 12500"/>
              </a:avLst>
            </a:prstGeom>
            <a:solidFill>
              <a:srgbClr val="E7F1F6"/>
            </a:solidFill>
            <a:ln w="12065">
              <a:solidFill>
                <a:srgbClr val="477F9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6" name="Text: A"/>
            <p:cNvSpPr txBox="1"/>
            <p:nvPr/>
          </p:nvSpPr>
          <p:spPr>
            <a:xfrm>
              <a:off x="7604411" y="4672126"/>
              <a:ext cx="164527" cy="402336"/>
            </a:xfrm>
            <a:prstGeom prst="rect">
              <a:avLst/>
            </a:prstGeom>
            <a:noFill/>
            <a:effectLst/>
          </p:spPr>
          <p:txBody>
            <a:bodyPr wrap="none" lIns="0" rIns="0" tIns="0" bIns="0" anchor="ctr">
              <a:noAutofit/>
            </a:bodyPr>
            <a:lstStyle/>
            <a:p>
              <a:pPr algn="l">
                <a:spcBef>
                  <a:spcPts val="0"/>
                </a:spcBef>
                <a:spcAft>
                  <a:spcPts val="0"/>
                </a:spcAft>
              </a:pPr>
              <a:r>
                <a:rPr sz="1943" b="0" i="1" baseline="0" lang="en-US" dirty="0">
                  <a:solidFill>
                    <a:srgbClr val="477F9F"/>
                  </a:solidFill>
                  <a:latin typeface="Times New Roman"/>
                  <a:ea typeface="Times New Roman"/>
                  <a:cs typeface="Times New Roman"/>
                </a:rPr>
                <a:t>A</a:t>
              </a:r>
            </a:p>
          </p:txBody>
        </p:sp>
        <p:sp>
          <p:nvSpPr>
            <p:cNvPr id="257" name="Text: 4"/>
            <p:cNvSpPr txBox="1"/>
            <p:nvPr/>
          </p:nvSpPr>
          <p:spPr>
            <a:xfrm>
              <a:off x="7791798" y="4751624"/>
              <a:ext cx="144018" cy="402336"/>
            </a:xfrm>
            <a:prstGeom prst="rect">
              <a:avLst/>
            </a:prstGeom>
            <a:noFill/>
            <a:effectLst/>
          </p:spPr>
          <p:txBody>
            <a:bodyPr wrap="none" lIns="0" rIns="0" tIns="0" bIns="0" anchor="ctr">
              <a:noAutofit/>
            </a:bodyPr>
            <a:lstStyle/>
            <a:p>
              <a:pPr algn="l">
                <a:spcBef>
                  <a:spcPts val="0"/>
                </a:spcBef>
                <a:spcAft>
                  <a:spcPts val="0"/>
                </a:spcAft>
              </a:pPr>
              <a:r>
                <a:rPr sz="1477" b="0" i="0" baseline="0" lang="en-US" dirty="0">
                  <a:solidFill>
                    <a:srgbClr val="477F9F"/>
                  </a:solidFill>
                  <a:latin typeface="Times New Roman"/>
                  <a:ea typeface="Times New Roman"/>
                  <a:cs typeface="Times New Roman"/>
                </a:rPr>
                <a:t>4</a:t>
              </a:r>
            </a:p>
          </p:txBody>
        </p:sp>
        <p:cxnSp>
          <p:nvCxnSpPr>
            <p:cNvPr id="258" name="Connector 257"/>
            <p:cNvCxnSpPr/>
            <p:nvPr/>
          </p:nvCxnSpPr>
          <p:spPr>
            <a:xfrm>
              <a:off x="7479792" y="4910328"/>
              <a:ext cx="82296" cy="0"/>
            </a:xfrm>
            <a:prstGeom prst="line">
              <a:avLst/>
            </a:prstGeom>
            <a:ln w="15875">
              <a:solidFill>
                <a:srgbClr val="233E5D"/>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59" name="Connector 258"/>
            <p:cNvCxnSpPr/>
            <p:nvPr/>
          </p:nvCxnSpPr>
          <p:spPr>
            <a:xfrm>
              <a:off x="7927848" y="4910328"/>
              <a:ext cx="118872" cy="0"/>
            </a:xfrm>
            <a:prstGeom prst="line">
              <a:avLst/>
            </a:prstGeom>
            <a:ln w="15875">
              <a:solidFill>
                <a:srgbClr val="233E5D"/>
              </a:solidFill>
            </a:ln>
            <a:effectLst/>
          </p:spPr>
          <p:style>
            <a:lnRef idx="2">
              <a:schemeClr val="accent1"/>
            </a:lnRef>
            <a:fillRef idx="0">
              <a:schemeClr val="accent1"/>
            </a:fillRef>
            <a:effectRef idx="0">
              <a:schemeClr val="accent1"/>
            </a:effectRef>
            <a:fontRef idx="minor">
              <a:schemeClr val="tx1"/>
            </a:fontRef>
          </p:style>
        </p:cxnSp>
        <p:sp>
          <p:nvSpPr>
            <p:cNvPr id="260" name="Oval 259"/>
            <p:cNvSpPr/>
            <p:nvPr/>
          </p:nvSpPr>
          <p:spPr>
            <a:xfrm>
              <a:off x="8026603" y="4890211"/>
              <a:ext cx="40233" cy="40233"/>
            </a:xfrm>
            <a:prstGeom prst="ellipse">
              <a:avLst/>
            </a:prstGeom>
            <a:solidFill>
              <a:srgbClr val="233E5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61" name="Connector 260"/>
            <p:cNvCxnSpPr/>
            <p:nvPr/>
          </p:nvCxnSpPr>
          <p:spPr>
            <a:xfrm>
              <a:off x="8046720" y="4288536"/>
              <a:ext cx="0" cy="1243584"/>
            </a:xfrm>
            <a:prstGeom prst="line">
              <a:avLst/>
            </a:prstGeom>
            <a:ln w="15875">
              <a:solidFill>
                <a:srgbClr val="233E5D"/>
              </a:solidFill>
            </a:ln>
            <a:effectLst/>
          </p:spPr>
          <p:style>
            <a:lnRef idx="2">
              <a:schemeClr val="accent1"/>
            </a:lnRef>
            <a:fillRef idx="0">
              <a:schemeClr val="accent1"/>
            </a:fillRef>
            <a:effectRef idx="0">
              <a:schemeClr val="accent1"/>
            </a:effectRef>
            <a:fontRef idx="minor">
              <a:schemeClr val="tx1"/>
            </a:fontRef>
          </p:style>
        </p:cxnSp>
        <p:cxnSp>
          <p:nvCxnSpPr>
            <p:cNvPr id="262" name="Connector 261"/>
            <p:cNvCxnSpPr/>
            <p:nvPr/>
          </p:nvCxnSpPr>
          <p:spPr>
            <a:xfrm>
              <a:off x="8046720" y="4288536"/>
              <a:ext cx="173736" cy="0"/>
            </a:xfrm>
            <a:prstGeom prst="line">
              <a:avLst/>
            </a:prstGeom>
            <a:ln w="15875">
              <a:solidFill>
                <a:srgbClr val="233E5D"/>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63" name="Connector 262"/>
            <p:cNvCxnSpPr/>
            <p:nvPr/>
          </p:nvCxnSpPr>
          <p:spPr>
            <a:xfrm>
              <a:off x="8046720" y="5532120"/>
              <a:ext cx="173736" cy="0"/>
            </a:xfrm>
            <a:prstGeom prst="line">
              <a:avLst/>
            </a:prstGeom>
            <a:ln w="15875">
              <a:solidFill>
                <a:srgbClr val="233E5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64" name="Rounded Rectangle 263"/>
            <p:cNvSpPr/>
            <p:nvPr/>
          </p:nvSpPr>
          <p:spPr>
            <a:xfrm>
              <a:off x="8220456" y="4078224"/>
              <a:ext cx="960120" cy="420624"/>
            </a:xfrm>
            <a:prstGeom prst="roundRect">
              <a:avLst>
                <a:gd name="adj" fmla="val 10869"/>
              </a:avLst>
            </a:prstGeom>
            <a:solidFill>
              <a:srgbClr val="F4F7ED"/>
            </a:solidFill>
            <a:ln w="12065">
              <a:solidFill>
                <a:srgbClr val="BBC6D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5" name="Text: W"/>
            <p:cNvSpPr txBox="1"/>
            <p:nvPr/>
          </p:nvSpPr>
          <p:spPr>
            <a:xfrm>
              <a:off x="8417052" y="4087368"/>
              <a:ext cx="246888" cy="310896"/>
            </a:xfrm>
            <a:prstGeom prst="rect">
              <a:avLst/>
            </a:prstGeom>
            <a:noFill/>
            <a:effectLst/>
          </p:spPr>
          <p:txBody>
            <a:bodyPr wrap="none" lIns="0" rIns="0" tIns="0" bIns="0" anchor="ctr">
              <a:noAutofit/>
            </a:bodyPr>
            <a:lstStyle/>
            <a:p>
              <a:pPr algn="l">
                <a:spcBef>
                  <a:spcPts val="0"/>
                </a:spcBef>
                <a:spcAft>
                  <a:spcPts val="0"/>
                </a:spcAft>
              </a:pPr>
              <a:r>
                <a:rPr sz="2088" b="0" i="1" baseline="0" lang="en-US" dirty="0">
                  <a:solidFill>
                    <a:srgbClr val="233E5D"/>
                  </a:solidFill>
                  <a:latin typeface="Times New Roman"/>
                  <a:ea typeface="Times New Roman"/>
                  <a:cs typeface="Times New Roman"/>
                </a:rPr>
                <a:t>W</a:t>
              </a:r>
            </a:p>
          </p:txBody>
        </p:sp>
        <p:sp>
          <p:nvSpPr>
            <p:cNvPr id="266" name="Text: fold"/>
            <p:cNvSpPr txBox="1"/>
            <p:nvPr/>
          </p:nvSpPr>
          <p:spPr>
            <a:xfrm>
              <a:off x="8663940" y="4069080"/>
              <a:ext cx="329184" cy="201168"/>
            </a:xfrm>
            <a:prstGeom prst="rect">
              <a:avLst/>
            </a:prstGeom>
            <a:noFill/>
            <a:effectLst/>
          </p:spPr>
          <p:txBody>
            <a:bodyPr wrap="none" lIns="0" rIns="0" tIns="0" bIns="0" anchor="ctr">
              <a:noAutofit/>
            </a:bodyPr>
            <a:lstStyle/>
            <a:p>
              <a:pPr algn="l">
                <a:spcBef>
                  <a:spcPts val="0"/>
                </a:spcBef>
                <a:spcAft>
                  <a:spcPts val="0"/>
                </a:spcAft>
              </a:pPr>
              <a:r>
                <a:rPr sz="1584" b="0" i="0" baseline="0" lang="en-US" dirty="0">
                  <a:solidFill>
                    <a:srgbClr val="233E5D"/>
                  </a:solidFill>
                  <a:latin typeface="Times New Roman"/>
                  <a:ea typeface="Times New Roman"/>
                  <a:cs typeface="Times New Roman"/>
                </a:rPr>
                <a:t>fold</a:t>
              </a:r>
            </a:p>
          </p:txBody>
        </p:sp>
        <p:sp>
          <p:nvSpPr>
            <p:cNvPr id="267" name="Text: gate"/>
            <p:cNvSpPr txBox="1"/>
            <p:nvPr/>
          </p:nvSpPr>
          <p:spPr>
            <a:xfrm>
              <a:off x="8663940" y="4261104"/>
              <a:ext cx="365760" cy="173736"/>
            </a:xfrm>
            <a:prstGeom prst="rect">
              <a:avLst/>
            </a:prstGeom>
            <a:noFill/>
            <a:effectLst/>
          </p:spPr>
          <p:txBody>
            <a:bodyPr wrap="none" lIns="0" rIns="0" tIns="0" bIns="0" anchor="ctr">
              <a:noAutofit/>
            </a:bodyPr>
            <a:lstStyle/>
            <a:p>
              <a:pPr algn="l">
                <a:spcBef>
                  <a:spcPts val="0"/>
                </a:spcBef>
                <a:spcAft>
                  <a:spcPts val="0"/>
                </a:spcAft>
              </a:pPr>
              <a:r>
                <a:rPr sz="1584" b="0" i="0" baseline="0" lang="en-US" dirty="0">
                  <a:solidFill>
                    <a:srgbClr val="233E5D"/>
                  </a:solidFill>
                  <a:latin typeface="Times New Roman"/>
                  <a:ea typeface="Times New Roman"/>
                  <a:cs typeface="Times New Roman"/>
                </a:rPr>
                <a:t>gate</a:t>
              </a:r>
            </a:p>
          </p:txBody>
        </p:sp>
        <p:sp>
          <p:nvSpPr>
            <p:cNvPr id="268" name="Rounded Rectangle 267"/>
            <p:cNvSpPr/>
            <p:nvPr/>
          </p:nvSpPr>
          <p:spPr>
            <a:xfrm>
              <a:off x="8220456" y="5321808"/>
              <a:ext cx="960120" cy="420624"/>
            </a:xfrm>
            <a:prstGeom prst="roundRect">
              <a:avLst>
                <a:gd name="adj" fmla="val 10869"/>
              </a:avLst>
            </a:prstGeom>
            <a:solidFill>
              <a:srgbClr val="F4F7ED"/>
            </a:solidFill>
            <a:ln w="12065">
              <a:solidFill>
                <a:srgbClr val="BBC6D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9" name="Text: W"/>
            <p:cNvSpPr txBox="1"/>
            <p:nvPr/>
          </p:nvSpPr>
          <p:spPr>
            <a:xfrm>
              <a:off x="8417052" y="5330952"/>
              <a:ext cx="246888" cy="310896"/>
            </a:xfrm>
            <a:prstGeom prst="rect">
              <a:avLst/>
            </a:prstGeom>
            <a:noFill/>
            <a:effectLst/>
          </p:spPr>
          <p:txBody>
            <a:bodyPr wrap="none" lIns="0" rIns="0" tIns="0" bIns="0" anchor="ctr">
              <a:noAutofit/>
            </a:bodyPr>
            <a:lstStyle/>
            <a:p>
              <a:pPr algn="l">
                <a:spcBef>
                  <a:spcPts val="0"/>
                </a:spcBef>
                <a:spcAft>
                  <a:spcPts val="0"/>
                </a:spcAft>
              </a:pPr>
              <a:r>
                <a:rPr sz="2088" b="0" i="1" baseline="0" lang="en-US" dirty="0">
                  <a:solidFill>
                    <a:srgbClr val="233E5D"/>
                  </a:solidFill>
                  <a:latin typeface="Times New Roman"/>
                  <a:ea typeface="Times New Roman"/>
                  <a:cs typeface="Times New Roman"/>
                </a:rPr>
                <a:t>W</a:t>
              </a:r>
            </a:p>
          </p:txBody>
        </p:sp>
        <p:sp>
          <p:nvSpPr>
            <p:cNvPr id="270" name="Text: fold"/>
            <p:cNvSpPr txBox="1"/>
            <p:nvPr/>
          </p:nvSpPr>
          <p:spPr>
            <a:xfrm>
              <a:off x="8663940" y="5312664"/>
              <a:ext cx="329184" cy="201168"/>
            </a:xfrm>
            <a:prstGeom prst="rect">
              <a:avLst/>
            </a:prstGeom>
            <a:noFill/>
            <a:effectLst/>
          </p:spPr>
          <p:txBody>
            <a:bodyPr wrap="none" lIns="0" rIns="0" tIns="0" bIns="0" anchor="ctr">
              <a:noAutofit/>
            </a:bodyPr>
            <a:lstStyle/>
            <a:p>
              <a:pPr algn="l">
                <a:spcBef>
                  <a:spcPts val="0"/>
                </a:spcBef>
                <a:spcAft>
                  <a:spcPts val="0"/>
                </a:spcAft>
              </a:pPr>
              <a:r>
                <a:rPr sz="1584" b="0" i="0" baseline="0" lang="en-US" dirty="0">
                  <a:solidFill>
                    <a:srgbClr val="233E5D"/>
                  </a:solidFill>
                  <a:latin typeface="Times New Roman"/>
                  <a:ea typeface="Times New Roman"/>
                  <a:cs typeface="Times New Roman"/>
                </a:rPr>
                <a:t>fold</a:t>
              </a:r>
            </a:p>
          </p:txBody>
        </p:sp>
        <p:sp>
          <p:nvSpPr>
            <p:cNvPr id="271" name="Text: up"/>
            <p:cNvSpPr txBox="1"/>
            <p:nvPr/>
          </p:nvSpPr>
          <p:spPr>
            <a:xfrm>
              <a:off x="8663940" y="5504688"/>
              <a:ext cx="365760" cy="173736"/>
            </a:xfrm>
            <a:prstGeom prst="rect">
              <a:avLst/>
            </a:prstGeom>
            <a:noFill/>
            <a:effectLst/>
          </p:spPr>
          <p:txBody>
            <a:bodyPr wrap="none" lIns="0" rIns="0" tIns="0" bIns="0" anchor="ctr">
              <a:noAutofit/>
            </a:bodyPr>
            <a:lstStyle/>
            <a:p>
              <a:pPr algn="l">
                <a:spcBef>
                  <a:spcPts val="0"/>
                </a:spcBef>
                <a:spcAft>
                  <a:spcPts val="0"/>
                </a:spcAft>
              </a:pPr>
              <a:r>
                <a:rPr sz="1584" b="0" i="0" baseline="0" lang="en-US" dirty="0">
                  <a:solidFill>
                    <a:srgbClr val="233E5D"/>
                  </a:solidFill>
                  <a:latin typeface="Times New Roman"/>
                  <a:ea typeface="Times New Roman"/>
                  <a:cs typeface="Times New Roman"/>
                </a:rPr>
                <a:t>up</a:t>
              </a:r>
            </a:p>
          </p:txBody>
        </p:sp>
        <p:sp>
          <p:nvSpPr>
            <p:cNvPr id="272" name="Text: Π folded"/>
            <p:cNvSpPr txBox="1"/>
            <p:nvPr/>
          </p:nvSpPr>
          <p:spPr>
            <a:xfrm>
              <a:off x="8220456" y="4535424"/>
              <a:ext cx="960120" cy="237744"/>
            </a:xfrm>
            <a:prstGeom prst="rect">
              <a:avLst/>
            </a:prstGeom>
            <a:noFill/>
            <a:effectLst/>
          </p:spPr>
          <p:txBody>
            <a:bodyPr wrap="none" lIns="0" rIns="0" tIns="0" bIns="0" anchor="ctr">
              <a:noAutofit/>
            </a:bodyPr>
            <a:lstStyle/>
            <a:p>
              <a:pPr algn="ctr">
                <a:spcBef>
                  <a:spcPts val="0"/>
                </a:spcBef>
                <a:spcAft>
                  <a:spcPts val="0"/>
                </a:spcAft>
              </a:pPr>
              <a:r>
                <a:rPr sz="1655" b="0" i="0" baseline="0" lang="en-US" dirty="0">
                  <a:solidFill>
                    <a:srgbClr val="644A86"/>
                  </a:solidFill>
                  <a:latin typeface="Times New Roman"/>
                  <a:ea typeface="Times New Roman"/>
                  <a:cs typeface="Times New Roman"/>
                </a:rPr>
                <a:t>Π folded</a:t>
              </a:r>
            </a:p>
          </p:txBody>
        </p:sp>
        <p:sp>
          <p:nvSpPr>
            <p:cNvPr id="273" name="Text: DΠ folded"/>
            <p:cNvSpPr txBox="1"/>
            <p:nvPr/>
          </p:nvSpPr>
          <p:spPr>
            <a:xfrm>
              <a:off x="8220456" y="5779008"/>
              <a:ext cx="960120" cy="237744"/>
            </a:xfrm>
            <a:prstGeom prst="rect">
              <a:avLst/>
            </a:prstGeom>
            <a:noFill/>
            <a:effectLst/>
          </p:spPr>
          <p:txBody>
            <a:bodyPr wrap="none" lIns="0" rIns="0" tIns="0" bIns="0" anchor="ctr">
              <a:noAutofit/>
            </a:bodyPr>
            <a:lstStyle/>
            <a:p>
              <a:pPr algn="ctr">
                <a:spcBef>
                  <a:spcPts val="0"/>
                </a:spcBef>
                <a:spcAft>
                  <a:spcPts val="0"/>
                </a:spcAft>
              </a:pPr>
              <a:r>
                <a:rPr sz="1655" b="0" i="0" baseline="0" lang="en-US" dirty="0">
                  <a:solidFill>
                    <a:srgbClr val="644A86"/>
                  </a:solidFill>
                  <a:latin typeface="Times New Roman"/>
                  <a:ea typeface="Times New Roman"/>
                  <a:cs typeface="Times New Roman"/>
                </a:rPr>
                <a:t>DΠ folded</a:t>
              </a:r>
            </a:p>
          </p:txBody>
        </p:sp>
        <p:cxnSp>
          <p:nvCxnSpPr>
            <p:cNvPr id="274" name="Connector 273"/>
            <p:cNvCxnSpPr/>
            <p:nvPr/>
          </p:nvCxnSpPr>
          <p:spPr>
            <a:xfrm>
              <a:off x="9180576" y="4288536"/>
              <a:ext cx="173736" cy="0"/>
            </a:xfrm>
            <a:prstGeom prst="line">
              <a:avLst/>
            </a:prstGeom>
            <a:ln w="15875">
              <a:solidFill>
                <a:srgbClr val="233E5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75" name="Rounded Rectangle 274"/>
            <p:cNvSpPr/>
            <p:nvPr/>
          </p:nvSpPr>
          <p:spPr>
            <a:xfrm>
              <a:off x="9354312" y="4078224"/>
              <a:ext cx="685800" cy="420624"/>
            </a:xfrm>
            <a:prstGeom prst="roundRect">
              <a:avLst>
                <a:gd name="adj" fmla="val 10869"/>
              </a:avLst>
            </a:prstGeom>
            <a:solidFill>
              <a:srgbClr val="FFFFFF"/>
            </a:solidFill>
            <a:ln w="12065">
              <a:solidFill>
                <a:srgbClr val="BBC6D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6" name="Text: SiLU"/>
            <p:cNvSpPr txBox="1"/>
            <p:nvPr/>
          </p:nvSpPr>
          <p:spPr>
            <a:xfrm>
              <a:off x="9381744" y="4087368"/>
              <a:ext cx="630936" cy="402336"/>
            </a:xfrm>
            <a:prstGeom prst="rect">
              <a:avLst/>
            </a:prstGeom>
            <a:noFill/>
            <a:effectLst/>
          </p:spPr>
          <p:txBody>
            <a:bodyPr wrap="none" lIns="0" rIns="0" tIns="0" bIns="0" anchor="ctr">
              <a:noAutofit/>
            </a:bodyPr>
            <a:lstStyle/>
            <a:p>
              <a:pPr algn="ctr">
                <a:spcBef>
                  <a:spcPts val="0"/>
                </a:spcBef>
                <a:spcAft>
                  <a:spcPts val="0"/>
                </a:spcAft>
              </a:pPr>
              <a:r>
                <a:rPr sz="1943" b="0" i="0" baseline="0" lang="en-US" dirty="0">
                  <a:solidFill>
                    <a:srgbClr val="233E5D"/>
                  </a:solidFill>
                  <a:latin typeface="Times New Roman"/>
                  <a:ea typeface="Times New Roman"/>
                  <a:cs typeface="Times New Roman"/>
                </a:rPr>
                <a:t>SiLU</a:t>
              </a:r>
            </a:p>
          </p:txBody>
        </p:sp>
        <p:cxnSp>
          <p:nvCxnSpPr>
            <p:cNvPr id="277" name="Connector 276"/>
            <p:cNvCxnSpPr/>
            <p:nvPr/>
          </p:nvCxnSpPr>
          <p:spPr>
            <a:xfrm>
              <a:off x="10040112" y="4288536"/>
              <a:ext cx="155448" cy="0"/>
            </a:xfrm>
            <a:prstGeom prst="line">
              <a:avLst/>
            </a:prstGeom>
            <a:ln w="15875">
              <a:solidFill>
                <a:srgbClr val="233E5D"/>
              </a:solidFill>
            </a:ln>
            <a:effectLst/>
          </p:spPr>
          <p:style>
            <a:lnRef idx="2">
              <a:schemeClr val="accent1"/>
            </a:lnRef>
            <a:fillRef idx="0">
              <a:schemeClr val="accent1"/>
            </a:fillRef>
            <a:effectRef idx="0">
              <a:schemeClr val="accent1"/>
            </a:effectRef>
            <a:fontRef idx="minor">
              <a:schemeClr val="tx1"/>
            </a:fontRef>
          </p:style>
        </p:cxnSp>
        <p:cxnSp>
          <p:nvCxnSpPr>
            <p:cNvPr id="278" name="Connector 277"/>
            <p:cNvCxnSpPr/>
            <p:nvPr/>
          </p:nvCxnSpPr>
          <p:spPr>
            <a:xfrm>
              <a:off x="10195560" y="4288536"/>
              <a:ext cx="0" cy="466344"/>
            </a:xfrm>
            <a:prstGeom prst="line">
              <a:avLst/>
            </a:prstGeom>
            <a:ln w="15875">
              <a:solidFill>
                <a:srgbClr val="233E5D"/>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79" name="Connector 278"/>
            <p:cNvCxnSpPr/>
            <p:nvPr/>
          </p:nvCxnSpPr>
          <p:spPr>
            <a:xfrm>
              <a:off x="9180576" y="5532120"/>
              <a:ext cx="1014984" cy="0"/>
            </a:xfrm>
            <a:prstGeom prst="line">
              <a:avLst/>
            </a:prstGeom>
            <a:ln w="15875">
              <a:solidFill>
                <a:srgbClr val="233E5D"/>
              </a:solidFill>
            </a:ln>
            <a:effectLst/>
          </p:spPr>
          <p:style>
            <a:lnRef idx="2">
              <a:schemeClr val="accent1"/>
            </a:lnRef>
            <a:fillRef idx="0">
              <a:schemeClr val="accent1"/>
            </a:fillRef>
            <a:effectRef idx="0">
              <a:schemeClr val="accent1"/>
            </a:effectRef>
            <a:fontRef idx="minor">
              <a:schemeClr val="tx1"/>
            </a:fontRef>
          </p:style>
        </p:cxnSp>
        <p:cxnSp>
          <p:nvCxnSpPr>
            <p:cNvPr id="280" name="Connector 279"/>
            <p:cNvCxnSpPr/>
            <p:nvPr/>
          </p:nvCxnSpPr>
          <p:spPr>
            <a:xfrm flipV="1">
              <a:off x="10195560" y="5065776"/>
              <a:ext cx="0" cy="466344"/>
            </a:xfrm>
            <a:prstGeom prst="line">
              <a:avLst/>
            </a:prstGeom>
            <a:ln w="15875">
              <a:solidFill>
                <a:srgbClr val="233E5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81" name="Oval 280"/>
            <p:cNvSpPr/>
            <p:nvPr/>
          </p:nvSpPr>
          <p:spPr>
            <a:xfrm>
              <a:off x="10040112" y="4754880"/>
              <a:ext cx="310896" cy="310896"/>
            </a:xfrm>
            <a:prstGeom prst="ellipse">
              <a:avLst/>
            </a:prstGeom>
            <a:solidFill>
              <a:srgbClr val="FFFFFF"/>
            </a:solidFill>
            <a:ln w="13335">
              <a:solidFill>
                <a:srgbClr val="233E5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2" name="Oval 281"/>
            <p:cNvSpPr/>
            <p:nvPr/>
          </p:nvSpPr>
          <p:spPr>
            <a:xfrm>
              <a:off x="10168128" y="4882896"/>
              <a:ext cx="54864" cy="54864"/>
            </a:xfrm>
            <a:prstGeom prst="ellipse">
              <a:avLst/>
            </a:prstGeom>
            <a:solidFill>
              <a:srgbClr val="233E5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3" name="Online structured transform group"/>
            <p:cNvSpPr/>
            <p:nvPr/>
          </p:nvSpPr>
          <p:spPr>
            <a:xfrm>
              <a:off x="10497312" y="4087368"/>
              <a:ext cx="2770632" cy="1938528"/>
            </a:xfrm>
            <a:prstGeom prst="roundRect">
              <a:avLst>
                <a:gd name="adj" fmla="val 4716"/>
              </a:avLst>
            </a:prstGeom>
            <a:solidFill>
              <a:srgbClr val="E7F1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84" name="Connector 283"/>
            <p:cNvCxnSpPr/>
            <p:nvPr/>
          </p:nvCxnSpPr>
          <p:spPr>
            <a:xfrm>
              <a:off x="10351008" y="4910328"/>
              <a:ext cx="292608" cy="0"/>
            </a:xfrm>
            <a:prstGeom prst="line">
              <a:avLst/>
            </a:prstGeom>
            <a:ln w="15875">
              <a:solidFill>
                <a:srgbClr val="233E5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85" name="Rounded Rectangle 284"/>
            <p:cNvSpPr/>
            <p:nvPr/>
          </p:nvSpPr>
          <p:spPr>
            <a:xfrm>
              <a:off x="10643616" y="4197096"/>
              <a:ext cx="640080" cy="237744"/>
            </a:xfrm>
            <a:prstGeom prst="roundRect">
              <a:avLst>
                <a:gd name="adj" fmla="val 1923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6" name="Text: online"/>
            <p:cNvSpPr txBox="1"/>
            <p:nvPr/>
          </p:nvSpPr>
          <p:spPr>
            <a:xfrm>
              <a:off x="10643616" y="4197096"/>
              <a:ext cx="640080" cy="237744"/>
            </a:xfrm>
            <a:prstGeom prst="rect">
              <a:avLst/>
            </a:prstGeom>
            <a:noFill/>
            <a:effectLst/>
          </p:spPr>
          <p:txBody>
            <a:bodyPr wrap="none" lIns="0" rIns="0" tIns="0" bIns="0" anchor="ctr">
              <a:noAutofit/>
            </a:bodyPr>
            <a:lstStyle/>
            <a:p>
              <a:pPr algn="ctr">
                <a:spcBef>
                  <a:spcPts val="0"/>
                </a:spcBef>
                <a:spcAft>
                  <a:spcPts val="0"/>
                </a:spcAft>
              </a:pPr>
              <a:r>
                <a:rPr sz="1584" b="0" i="0" baseline="0" lang="en-US" dirty="0">
                  <a:solidFill>
                    <a:srgbClr val="477F9F"/>
                  </a:solidFill>
                  <a:latin typeface="Times New Roman"/>
                  <a:ea typeface="Times New Roman"/>
                  <a:cs typeface="Times New Roman"/>
                </a:rPr>
                <a:t>online</a:t>
              </a:r>
            </a:p>
          </p:txBody>
        </p:sp>
        <p:sp>
          <p:nvSpPr>
            <p:cNvPr id="287" name="Text: R"/>
            <p:cNvSpPr txBox="1"/>
            <p:nvPr/>
          </p:nvSpPr>
          <p:spPr>
            <a:xfrm>
              <a:off x="12794806" y="4150918"/>
              <a:ext cx="164527" cy="274320"/>
            </a:xfrm>
            <a:prstGeom prst="rect">
              <a:avLst/>
            </a:prstGeom>
            <a:noFill/>
            <a:effectLst/>
          </p:spPr>
          <p:txBody>
            <a:bodyPr wrap="none" lIns="0" rIns="0" tIns="0" bIns="0" anchor="ctr">
              <a:noAutofit/>
            </a:bodyPr>
            <a:lstStyle/>
            <a:p>
              <a:pPr algn="l">
                <a:spcBef>
                  <a:spcPts val="0"/>
                </a:spcBef>
                <a:spcAft>
                  <a:spcPts val="0"/>
                </a:spcAft>
              </a:pPr>
              <a:r>
                <a:rPr sz="1943" b="0" i="1" baseline="0" lang="en-US" dirty="0">
                  <a:solidFill>
                    <a:srgbClr val="644A86"/>
                  </a:solidFill>
                  <a:latin typeface="Times New Roman"/>
                  <a:ea typeface="Times New Roman"/>
                  <a:cs typeface="Times New Roman"/>
                </a:rPr>
                <a:t>R</a:t>
              </a:r>
            </a:p>
          </p:txBody>
        </p:sp>
        <p:sp>
          <p:nvSpPr>
            <p:cNvPr id="288" name="Text: 4"/>
            <p:cNvSpPr txBox="1"/>
            <p:nvPr/>
          </p:nvSpPr>
          <p:spPr>
            <a:xfrm>
              <a:off x="12982194" y="4230416"/>
              <a:ext cx="144018" cy="274320"/>
            </a:xfrm>
            <a:prstGeom prst="rect">
              <a:avLst/>
            </a:prstGeom>
            <a:noFill/>
            <a:effectLst/>
          </p:spPr>
          <p:txBody>
            <a:bodyPr wrap="none" lIns="0" rIns="0" tIns="0" bIns="0" anchor="ctr">
              <a:noAutofit/>
            </a:bodyPr>
            <a:lstStyle/>
            <a:p>
              <a:pPr algn="l">
                <a:spcBef>
                  <a:spcPts val="0"/>
                </a:spcBef>
                <a:spcAft>
                  <a:spcPts val="0"/>
                </a:spcAft>
              </a:pPr>
              <a:r>
                <a:rPr sz="1477" b="0" i="0" baseline="0" lang="en-US" dirty="0">
                  <a:solidFill>
                    <a:srgbClr val="644A86"/>
                  </a:solidFill>
                  <a:latin typeface="Times New Roman"/>
                  <a:ea typeface="Times New Roman"/>
                  <a:cs typeface="Times New Roman"/>
                </a:rPr>
                <a:t>4</a:t>
              </a:r>
            </a:p>
          </p:txBody>
        </p:sp>
        <p:sp>
          <p:nvSpPr>
            <p:cNvPr id="289" name="Rounded Rectangle 288"/>
            <p:cNvSpPr/>
            <p:nvPr/>
          </p:nvSpPr>
          <p:spPr>
            <a:xfrm>
              <a:off x="10643616" y="4700016"/>
              <a:ext cx="713232" cy="420624"/>
            </a:xfrm>
            <a:prstGeom prst="roundRect">
              <a:avLst>
                <a:gd name="adj" fmla="val 10869"/>
              </a:avLst>
            </a:prstGeom>
            <a:solidFill>
              <a:srgbClr val="EFEAF5"/>
            </a:solidFill>
            <a:ln w="12065">
              <a:solidFill>
                <a:srgbClr val="644A8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0" name="Text: G"/>
            <p:cNvSpPr txBox="1"/>
            <p:nvPr/>
          </p:nvSpPr>
          <p:spPr>
            <a:xfrm>
              <a:off x="10813422" y="4670755"/>
              <a:ext cx="198617" cy="402336"/>
            </a:xfrm>
            <a:prstGeom prst="rect">
              <a:avLst/>
            </a:prstGeom>
            <a:noFill/>
            <a:effectLst/>
          </p:spPr>
          <p:txBody>
            <a:bodyPr wrap="none" lIns="0" rIns="0" tIns="0" bIns="0" anchor="ctr">
              <a:noAutofit/>
            </a:bodyPr>
            <a:lstStyle/>
            <a:p>
              <a:pPr algn="l">
                <a:spcBef>
                  <a:spcPts val="0"/>
                </a:spcBef>
                <a:spcAft>
                  <a:spcPts val="0"/>
                </a:spcAft>
              </a:pPr>
              <a:r>
                <a:rPr sz="2016" b="0" i="1" baseline="0" lang="en-US" dirty="0">
                  <a:solidFill>
                    <a:srgbClr val="644A86"/>
                  </a:solidFill>
                  <a:latin typeface="Times New Roman"/>
                  <a:ea typeface="Times New Roman"/>
                  <a:cs typeface="Times New Roman"/>
                </a:rPr>
                <a:t>G</a:t>
              </a:r>
            </a:p>
          </p:txBody>
        </p:sp>
        <p:sp>
          <p:nvSpPr>
            <p:cNvPr id="291" name="Text: 4"/>
            <p:cNvSpPr txBox="1"/>
            <p:nvPr/>
          </p:nvSpPr>
          <p:spPr>
            <a:xfrm>
              <a:off x="11034900" y="4753197"/>
              <a:ext cx="147675" cy="402336"/>
            </a:xfrm>
            <a:prstGeom prst="rect">
              <a:avLst/>
            </a:prstGeom>
            <a:noFill/>
            <a:effectLst/>
          </p:spPr>
          <p:txBody>
            <a:bodyPr wrap="none" lIns="0" rIns="0" tIns="0" bIns="0" anchor="ctr">
              <a:noAutofit/>
            </a:bodyPr>
            <a:lstStyle/>
            <a:p>
              <a:pPr algn="l">
                <a:spcBef>
                  <a:spcPts val="0"/>
                </a:spcBef>
                <a:spcAft>
                  <a:spcPts val="0"/>
                </a:spcAft>
              </a:pPr>
              <a:r>
                <a:rPr sz="1532" b="0" i="0" baseline="0" lang="en-US" dirty="0">
                  <a:solidFill>
                    <a:srgbClr val="644A86"/>
                  </a:solidFill>
                  <a:latin typeface="Times New Roman"/>
                  <a:ea typeface="Times New Roman"/>
                  <a:cs typeface="Times New Roman"/>
                </a:rPr>
                <a:t>4</a:t>
              </a:r>
            </a:p>
          </p:txBody>
        </p:sp>
        <p:sp>
          <p:nvSpPr>
            <p:cNvPr id="292" name="Text: '"/>
            <p:cNvSpPr txBox="1"/>
            <p:nvPr/>
          </p:nvSpPr>
          <p:spPr>
            <a:xfrm>
              <a:off x="11132284" y="4670755"/>
              <a:ext cx="68472" cy="402336"/>
            </a:xfrm>
            <a:prstGeom prst="rect">
              <a:avLst/>
            </a:prstGeom>
            <a:noFill/>
            <a:effectLst/>
          </p:spPr>
          <p:txBody>
            <a:bodyPr wrap="none" lIns="0" rIns="0" tIns="0" bIns="0" anchor="ctr">
              <a:noAutofit/>
            </a:bodyPr>
            <a:lstStyle/>
            <a:p>
              <a:pPr algn="l">
                <a:spcBef>
                  <a:spcPts val="0"/>
                </a:spcBef>
                <a:spcAft>
                  <a:spcPts val="0"/>
                </a:spcAft>
              </a:pPr>
              <a:r>
                <a:rPr sz="2016" b="0" i="1" baseline="0" lang="en-US" dirty="0">
                  <a:solidFill>
                    <a:srgbClr val="644A86"/>
                  </a:solidFill>
                  <a:latin typeface="Times New Roman"/>
                  <a:ea typeface="Times New Roman"/>
                  <a:cs typeface="Times New Roman"/>
                </a:rPr>
                <a:t>'</a:t>
              </a:r>
            </a:p>
          </p:txBody>
        </p:sp>
        <p:cxnSp>
          <p:nvCxnSpPr>
            <p:cNvPr id="293" name="Connector 292"/>
            <p:cNvCxnSpPr/>
            <p:nvPr/>
          </p:nvCxnSpPr>
          <p:spPr>
            <a:xfrm>
              <a:off x="11356848" y="4910328"/>
              <a:ext cx="173736" cy="0"/>
            </a:xfrm>
            <a:prstGeom prst="line">
              <a:avLst/>
            </a:prstGeom>
            <a:ln w="15875">
              <a:solidFill>
                <a:srgbClr val="233E5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94" name="Rounded Rectangle 293"/>
            <p:cNvSpPr/>
            <p:nvPr/>
          </p:nvSpPr>
          <p:spPr>
            <a:xfrm>
              <a:off x="11530584" y="4700016"/>
              <a:ext cx="740664" cy="420624"/>
            </a:xfrm>
            <a:prstGeom prst="roundRect">
              <a:avLst>
                <a:gd name="adj" fmla="val 10869"/>
              </a:avLst>
            </a:prstGeom>
            <a:solidFill>
              <a:srgbClr val="A8DADC"/>
            </a:solidFill>
            <a:ln w="12065">
              <a:solidFill>
                <a:srgbClr val="477F9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5" name="Text: H"/>
            <p:cNvSpPr txBox="1"/>
            <p:nvPr/>
          </p:nvSpPr>
          <p:spPr>
            <a:xfrm>
              <a:off x="11652892" y="4672126"/>
              <a:ext cx="192009" cy="402336"/>
            </a:xfrm>
            <a:prstGeom prst="rect">
              <a:avLst/>
            </a:prstGeom>
            <a:noFill/>
            <a:effectLst/>
          </p:spPr>
          <p:txBody>
            <a:bodyPr wrap="none" lIns="0" rIns="0" tIns="0" bIns="0" anchor="ctr">
              <a:noAutofit/>
            </a:bodyPr>
            <a:lstStyle/>
            <a:p>
              <a:pPr algn="l">
                <a:spcBef>
                  <a:spcPts val="0"/>
                </a:spcBef>
                <a:spcAft>
                  <a:spcPts val="0"/>
                </a:spcAft>
              </a:pPr>
              <a:r>
                <a:rPr sz="1943" b="0" i="1" baseline="0" lang="en-US" dirty="0">
                  <a:solidFill>
                    <a:srgbClr val="233E5D"/>
                  </a:solidFill>
                  <a:latin typeface="Times New Roman"/>
                  <a:ea typeface="Times New Roman"/>
                  <a:cs typeface="Times New Roman"/>
                </a:rPr>
                <a:t>H</a:t>
              </a:r>
            </a:p>
          </p:txBody>
        </p:sp>
        <p:sp>
          <p:nvSpPr>
            <p:cNvPr id="296" name="Text: 128"/>
            <p:cNvSpPr txBox="1"/>
            <p:nvPr/>
          </p:nvSpPr>
          <p:spPr>
            <a:xfrm>
              <a:off x="11867761" y="4751624"/>
              <a:ext cx="331470" cy="402336"/>
            </a:xfrm>
            <a:prstGeom prst="rect">
              <a:avLst/>
            </a:prstGeom>
            <a:noFill/>
            <a:effectLst/>
          </p:spPr>
          <p:txBody>
            <a:bodyPr wrap="none" lIns="0" rIns="0" tIns="0" bIns="0" anchor="ctr">
              <a:noAutofit/>
            </a:bodyPr>
            <a:lstStyle/>
            <a:p>
              <a:pPr algn="l">
                <a:spcBef>
                  <a:spcPts val="0"/>
                </a:spcBef>
                <a:spcAft>
                  <a:spcPts val="0"/>
                </a:spcAft>
              </a:pPr>
              <a:r>
                <a:rPr sz="1477" b="0" i="0" baseline="0" lang="en-US" dirty="0">
                  <a:solidFill>
                    <a:srgbClr val="233E5D"/>
                  </a:solidFill>
                  <a:latin typeface="Times New Roman"/>
                  <a:ea typeface="Times New Roman"/>
                  <a:cs typeface="Times New Roman"/>
                </a:rPr>
                <a:t>128</a:t>
              </a:r>
            </a:p>
          </p:txBody>
        </p:sp>
        <p:cxnSp>
          <p:nvCxnSpPr>
            <p:cNvPr id="297" name="Connector 296"/>
            <p:cNvCxnSpPr/>
            <p:nvPr/>
          </p:nvCxnSpPr>
          <p:spPr>
            <a:xfrm>
              <a:off x="12271248" y="4910328"/>
              <a:ext cx="173736" cy="0"/>
            </a:xfrm>
            <a:prstGeom prst="line">
              <a:avLst/>
            </a:prstGeom>
            <a:ln w="15875">
              <a:solidFill>
                <a:srgbClr val="233E5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98" name="Rounded Rectangle 297"/>
            <p:cNvSpPr/>
            <p:nvPr/>
          </p:nvSpPr>
          <p:spPr>
            <a:xfrm>
              <a:off x="12444984" y="4700016"/>
              <a:ext cx="594360" cy="420624"/>
            </a:xfrm>
            <a:prstGeom prst="roundRect">
              <a:avLst>
                <a:gd name="adj" fmla="val 10869"/>
              </a:avLst>
            </a:prstGeom>
            <a:solidFill>
              <a:srgbClr val="E7F1F6"/>
            </a:solidFill>
            <a:ln w="12065">
              <a:solidFill>
                <a:srgbClr val="477F9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9" name="Text: A"/>
            <p:cNvSpPr txBox="1"/>
            <p:nvPr/>
          </p:nvSpPr>
          <p:spPr>
            <a:xfrm>
              <a:off x="12601607" y="4672126"/>
              <a:ext cx="164527" cy="402336"/>
            </a:xfrm>
            <a:prstGeom prst="rect">
              <a:avLst/>
            </a:prstGeom>
            <a:noFill/>
            <a:effectLst/>
          </p:spPr>
          <p:txBody>
            <a:bodyPr wrap="none" lIns="0" rIns="0" tIns="0" bIns="0" anchor="ctr">
              <a:noAutofit/>
            </a:bodyPr>
            <a:lstStyle/>
            <a:p>
              <a:pPr algn="l">
                <a:spcBef>
                  <a:spcPts val="0"/>
                </a:spcBef>
                <a:spcAft>
                  <a:spcPts val="0"/>
                </a:spcAft>
              </a:pPr>
              <a:r>
                <a:rPr sz="1943" b="0" i="1" baseline="0" lang="en-US" dirty="0">
                  <a:solidFill>
                    <a:srgbClr val="477F9F"/>
                  </a:solidFill>
                  <a:latin typeface="Times New Roman"/>
                  <a:ea typeface="Times New Roman"/>
                  <a:cs typeface="Times New Roman"/>
                </a:rPr>
                <a:t>A</a:t>
              </a:r>
            </a:p>
          </p:txBody>
        </p:sp>
        <p:sp>
          <p:nvSpPr>
            <p:cNvPr id="300" name="Text: 4"/>
            <p:cNvSpPr txBox="1"/>
            <p:nvPr/>
          </p:nvSpPr>
          <p:spPr>
            <a:xfrm>
              <a:off x="12788994" y="4751624"/>
              <a:ext cx="144018" cy="402336"/>
            </a:xfrm>
            <a:prstGeom prst="rect">
              <a:avLst/>
            </a:prstGeom>
            <a:noFill/>
            <a:effectLst/>
          </p:spPr>
          <p:txBody>
            <a:bodyPr wrap="none" lIns="0" rIns="0" tIns="0" bIns="0" anchor="ctr">
              <a:noAutofit/>
            </a:bodyPr>
            <a:lstStyle/>
            <a:p>
              <a:pPr algn="l">
                <a:spcBef>
                  <a:spcPts val="0"/>
                </a:spcBef>
                <a:spcAft>
                  <a:spcPts val="0"/>
                </a:spcAft>
              </a:pPr>
              <a:r>
                <a:rPr sz="1477" b="0" i="0" baseline="0" lang="en-US" dirty="0">
                  <a:solidFill>
                    <a:srgbClr val="477F9F"/>
                  </a:solidFill>
                  <a:latin typeface="Times New Roman"/>
                  <a:ea typeface="Times New Roman"/>
                  <a:cs typeface="Times New Roman"/>
                </a:rPr>
                <a:t>4</a:t>
              </a:r>
            </a:p>
          </p:txBody>
        </p:sp>
        <p:sp>
          <p:nvSpPr>
            <p:cNvPr id="301" name="Text: G"/>
            <p:cNvSpPr txBox="1"/>
            <p:nvPr/>
          </p:nvSpPr>
          <p:spPr>
            <a:xfrm>
              <a:off x="11070955" y="5275630"/>
              <a:ext cx="192009" cy="301752"/>
            </a:xfrm>
            <a:prstGeom prst="rect">
              <a:avLst/>
            </a:prstGeom>
            <a:noFill/>
            <a:effectLst/>
          </p:spPr>
          <p:txBody>
            <a:bodyPr wrap="none" lIns="0" rIns="0" tIns="0" bIns="0" anchor="ctr">
              <a:noAutofit/>
            </a:bodyPr>
            <a:lstStyle/>
            <a:p>
              <a:pPr algn="l">
                <a:spcBef>
                  <a:spcPts val="0"/>
                </a:spcBef>
                <a:spcAft>
                  <a:spcPts val="0"/>
                </a:spcAft>
              </a:pPr>
              <a:r>
                <a:rPr sz="1943" b="0" i="1" baseline="0" lang="en-US" dirty="0">
                  <a:solidFill>
                    <a:srgbClr val="233E5D"/>
                  </a:solidFill>
                  <a:latin typeface="Times New Roman"/>
                  <a:ea typeface="Times New Roman"/>
                  <a:cs typeface="Times New Roman"/>
                </a:rPr>
                <a:t>G</a:t>
              </a:r>
            </a:p>
          </p:txBody>
        </p:sp>
        <p:sp>
          <p:nvSpPr>
            <p:cNvPr id="302" name="Text: 4"/>
            <p:cNvSpPr txBox="1"/>
            <p:nvPr/>
          </p:nvSpPr>
          <p:spPr>
            <a:xfrm>
              <a:off x="11285824" y="5355128"/>
              <a:ext cx="144018" cy="301752"/>
            </a:xfrm>
            <a:prstGeom prst="rect">
              <a:avLst/>
            </a:prstGeom>
            <a:noFill/>
            <a:effectLst/>
          </p:spPr>
          <p:txBody>
            <a:bodyPr wrap="none" lIns="0" rIns="0" tIns="0" bIns="0" anchor="ctr">
              <a:noAutofit/>
            </a:bodyPr>
            <a:lstStyle/>
            <a:p>
              <a:pPr algn="l">
                <a:spcBef>
                  <a:spcPts val="0"/>
                </a:spcBef>
                <a:spcAft>
                  <a:spcPts val="0"/>
                </a:spcAft>
              </a:pPr>
              <a:r>
                <a:rPr sz="1477" b="0" i="0" baseline="0" lang="en-US" dirty="0">
                  <a:solidFill>
                    <a:srgbClr val="233E5D"/>
                  </a:solidFill>
                  <a:latin typeface="Times New Roman"/>
                  <a:ea typeface="Times New Roman"/>
                  <a:cs typeface="Times New Roman"/>
                </a:rPr>
                <a:t>4</a:t>
              </a:r>
            </a:p>
          </p:txBody>
        </p:sp>
        <p:sp>
          <p:nvSpPr>
            <p:cNvPr id="303" name="Text: ' = I − W'Y'"/>
            <p:cNvSpPr txBox="1"/>
            <p:nvPr/>
          </p:nvSpPr>
          <p:spPr>
            <a:xfrm>
              <a:off x="11379550" y="5275630"/>
              <a:ext cx="1177390" cy="301752"/>
            </a:xfrm>
            <a:prstGeom prst="rect">
              <a:avLst/>
            </a:prstGeom>
            <a:noFill/>
            <a:effectLst/>
          </p:spPr>
          <p:txBody>
            <a:bodyPr wrap="none" lIns="0" rIns="0" tIns="0" bIns="0" anchor="ctr">
              <a:noAutofit/>
            </a:bodyPr>
            <a:lstStyle/>
            <a:p>
              <a:pPr algn="l">
                <a:spcBef>
                  <a:spcPts val="0"/>
                </a:spcBef>
                <a:spcAft>
                  <a:spcPts val="0"/>
                </a:spcAft>
              </a:pPr>
              <a:r>
                <a:rPr sz="1943" b="0" i="1" baseline="0" lang="en-US" dirty="0">
                  <a:solidFill>
                    <a:srgbClr val="233E5D"/>
                  </a:solidFill>
                  <a:latin typeface="Times New Roman"/>
                  <a:ea typeface="Times New Roman"/>
                  <a:cs typeface="Times New Roman"/>
                </a:rPr>
                <a:t>' = I − W'Y'</a:t>
              </a:r>
            </a:p>
          </p:txBody>
        </p:sp>
        <p:sp>
          <p:nvSpPr>
            <p:cNvPr id="304" name="Text: T"/>
            <p:cNvSpPr txBox="1"/>
            <p:nvPr/>
          </p:nvSpPr>
          <p:spPr>
            <a:xfrm>
              <a:off x="12579800" y="5206995"/>
              <a:ext cx="164792" cy="301752"/>
            </a:xfrm>
            <a:prstGeom prst="rect">
              <a:avLst/>
            </a:prstGeom>
            <a:noFill/>
            <a:effectLst/>
          </p:spPr>
          <p:txBody>
            <a:bodyPr wrap="none" lIns="0" rIns="0" tIns="0" bIns="0" anchor="ctr">
              <a:noAutofit/>
            </a:bodyPr>
            <a:lstStyle/>
            <a:p>
              <a:pPr algn="l">
                <a:spcBef>
                  <a:spcPts val="0"/>
                </a:spcBef>
                <a:spcAft>
                  <a:spcPts val="0"/>
                </a:spcAft>
              </a:pPr>
              <a:r>
                <a:rPr sz="1477" b="0" i="0" baseline="0" lang="en-US" dirty="0">
                  <a:solidFill>
                    <a:srgbClr val="233E5D"/>
                  </a:solidFill>
                  <a:latin typeface="Times New Roman"/>
                  <a:ea typeface="Times New Roman"/>
                  <a:cs typeface="Times New Roman"/>
                </a:rPr>
                <a:t>T</a:t>
              </a:r>
            </a:p>
          </p:txBody>
        </p:sp>
        <p:sp>
          <p:nvSpPr>
            <p:cNvPr id="305" name="Text: Conjugated correction"/>
            <p:cNvSpPr txBox="1"/>
            <p:nvPr/>
          </p:nvSpPr>
          <p:spPr>
            <a:xfrm>
              <a:off x="10634472" y="5669280"/>
              <a:ext cx="2496312" cy="237744"/>
            </a:xfrm>
            <a:prstGeom prst="rect">
              <a:avLst/>
            </a:prstGeom>
            <a:noFill/>
            <a:effectLst/>
          </p:spPr>
          <p:txBody>
            <a:bodyPr wrap="none" lIns="0" rIns="0" tIns="0" bIns="0" anchor="ctr">
              <a:noAutofit/>
            </a:bodyPr>
            <a:lstStyle/>
            <a:p>
              <a:pPr algn="ctr">
                <a:spcBef>
                  <a:spcPts val="0"/>
                </a:spcBef>
                <a:spcAft>
                  <a:spcPts val="0"/>
                </a:spcAft>
              </a:pPr>
              <a:r>
                <a:rPr sz="1655" b="0" i="0" baseline="0" lang="en-US" dirty="0">
                  <a:solidFill>
                    <a:srgbClr val="477F9F"/>
                  </a:solidFill>
                  <a:latin typeface="Times New Roman"/>
                  <a:ea typeface="Times New Roman"/>
                  <a:cs typeface="Times New Roman"/>
                </a:rPr>
                <a:t>Conjugated correction</a:t>
              </a:r>
            </a:p>
          </p:txBody>
        </p:sp>
        <p:cxnSp>
          <p:nvCxnSpPr>
            <p:cNvPr id="306" name="Connector 305"/>
            <p:cNvCxnSpPr/>
            <p:nvPr/>
          </p:nvCxnSpPr>
          <p:spPr>
            <a:xfrm>
              <a:off x="13039344" y="4910328"/>
              <a:ext cx="420624" cy="0"/>
            </a:xfrm>
            <a:prstGeom prst="line">
              <a:avLst/>
            </a:prstGeom>
            <a:ln w="15875">
              <a:solidFill>
                <a:srgbClr val="233E5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07" name="Rounded Rectangle 306"/>
            <p:cNvSpPr/>
            <p:nvPr/>
          </p:nvSpPr>
          <p:spPr>
            <a:xfrm>
              <a:off x="13459968" y="4700016"/>
              <a:ext cx="731520" cy="420624"/>
            </a:xfrm>
            <a:prstGeom prst="roundRect">
              <a:avLst>
                <a:gd name="adj" fmla="val 10869"/>
              </a:avLst>
            </a:prstGeom>
            <a:solidFill>
              <a:srgbClr val="F4F7ED"/>
            </a:solidFill>
            <a:ln w="12065">
              <a:solidFill>
                <a:srgbClr val="BBC6D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8" name="Text: W"/>
            <p:cNvSpPr txBox="1"/>
            <p:nvPr/>
          </p:nvSpPr>
          <p:spPr>
            <a:xfrm>
              <a:off x="13542264" y="4709160"/>
              <a:ext cx="246888" cy="310896"/>
            </a:xfrm>
            <a:prstGeom prst="rect">
              <a:avLst/>
            </a:prstGeom>
            <a:noFill/>
            <a:effectLst/>
          </p:spPr>
          <p:txBody>
            <a:bodyPr wrap="none" lIns="0" rIns="0" tIns="0" bIns="0" anchor="ctr">
              <a:noAutofit/>
            </a:bodyPr>
            <a:lstStyle/>
            <a:p>
              <a:pPr algn="l">
                <a:spcBef>
                  <a:spcPts val="0"/>
                </a:spcBef>
                <a:spcAft>
                  <a:spcPts val="0"/>
                </a:spcAft>
              </a:pPr>
              <a:r>
                <a:rPr sz="2088" b="0" i="1" baseline="0" lang="en-US" dirty="0">
                  <a:solidFill>
                    <a:srgbClr val="233E5D"/>
                  </a:solidFill>
                  <a:latin typeface="Times New Roman"/>
                  <a:ea typeface="Times New Roman"/>
                  <a:cs typeface="Times New Roman"/>
                </a:rPr>
                <a:t>W</a:t>
              </a:r>
            </a:p>
          </p:txBody>
        </p:sp>
        <p:sp>
          <p:nvSpPr>
            <p:cNvPr id="309" name="Text: fold"/>
            <p:cNvSpPr txBox="1"/>
            <p:nvPr/>
          </p:nvSpPr>
          <p:spPr>
            <a:xfrm>
              <a:off x="13789152" y="4690872"/>
              <a:ext cx="329184" cy="201168"/>
            </a:xfrm>
            <a:prstGeom prst="rect">
              <a:avLst/>
            </a:prstGeom>
            <a:noFill/>
            <a:effectLst/>
          </p:spPr>
          <p:txBody>
            <a:bodyPr wrap="none" lIns="0" rIns="0" tIns="0" bIns="0" anchor="ctr">
              <a:noAutofit/>
            </a:bodyPr>
            <a:lstStyle/>
            <a:p>
              <a:pPr algn="l">
                <a:spcBef>
                  <a:spcPts val="0"/>
                </a:spcBef>
                <a:spcAft>
                  <a:spcPts val="0"/>
                </a:spcAft>
              </a:pPr>
              <a:r>
                <a:rPr sz="1584" b="0" i="0" baseline="0" lang="en-US" dirty="0">
                  <a:solidFill>
                    <a:srgbClr val="233E5D"/>
                  </a:solidFill>
                  <a:latin typeface="Times New Roman"/>
                  <a:ea typeface="Times New Roman"/>
                  <a:cs typeface="Times New Roman"/>
                </a:rPr>
                <a:t>fold</a:t>
              </a:r>
            </a:p>
          </p:txBody>
        </p:sp>
        <p:sp>
          <p:nvSpPr>
            <p:cNvPr id="310" name="Text: D"/>
            <p:cNvSpPr txBox="1"/>
            <p:nvPr/>
          </p:nvSpPr>
          <p:spPr>
            <a:xfrm>
              <a:off x="13789152" y="4882896"/>
              <a:ext cx="365760" cy="173736"/>
            </a:xfrm>
            <a:prstGeom prst="rect">
              <a:avLst/>
            </a:prstGeom>
            <a:noFill/>
            <a:effectLst/>
          </p:spPr>
          <p:txBody>
            <a:bodyPr wrap="none" lIns="0" rIns="0" tIns="0" bIns="0" anchor="ctr">
              <a:noAutofit/>
            </a:bodyPr>
            <a:lstStyle/>
            <a:p>
              <a:pPr algn="l">
                <a:spcBef>
                  <a:spcPts val="0"/>
                </a:spcBef>
                <a:spcAft>
                  <a:spcPts val="0"/>
                </a:spcAft>
              </a:pPr>
              <a:r>
                <a:rPr sz="1584" b="0" i="0" baseline="0" lang="en-US" dirty="0">
                  <a:solidFill>
                    <a:srgbClr val="233E5D"/>
                  </a:solidFill>
                  <a:latin typeface="Times New Roman"/>
                  <a:ea typeface="Times New Roman"/>
                  <a:cs typeface="Times New Roman"/>
                </a:rPr>
                <a:t>D</a:t>
              </a:r>
            </a:p>
          </p:txBody>
        </p:sp>
        <p:cxnSp>
          <p:nvCxnSpPr>
            <p:cNvPr id="311" name="Connector 310"/>
            <p:cNvCxnSpPr/>
            <p:nvPr/>
          </p:nvCxnSpPr>
          <p:spPr>
            <a:xfrm>
              <a:off x="14191488" y="4910328"/>
              <a:ext cx="137160" cy="0"/>
            </a:xfrm>
            <a:prstGeom prst="line">
              <a:avLst/>
            </a:prstGeom>
            <a:ln w="15875">
              <a:solidFill>
                <a:srgbClr val="233E5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12" name="Text: Two-stage Triton implementation"/>
            <p:cNvSpPr txBox="1"/>
            <p:nvPr/>
          </p:nvSpPr>
          <p:spPr>
            <a:xfrm>
              <a:off x="9409176" y="6035040"/>
              <a:ext cx="4773168" cy="228600"/>
            </a:xfrm>
            <a:prstGeom prst="rect">
              <a:avLst/>
            </a:prstGeom>
            <a:noFill/>
            <a:effectLst/>
          </p:spPr>
          <p:txBody>
            <a:bodyPr wrap="none" lIns="0" rIns="0" tIns="0" bIns="0" anchor="ctr">
              <a:noAutofit/>
            </a:bodyPr>
            <a:lstStyle/>
            <a:p>
              <a:pPr algn="ctr">
                <a:spcBef>
                  <a:spcPts val="0"/>
                </a:spcBef>
                <a:spcAft>
                  <a:spcPts val="0"/>
                </a:spcAft>
              </a:pPr>
              <a:r>
                <a:rPr sz="1728" b="0" i="0" baseline="0" lang="en-US" dirty="0">
                  <a:solidFill>
                    <a:srgbClr val="477F9F"/>
                  </a:solidFill>
                  <a:latin typeface="Times New Roman"/>
                  <a:ea typeface="Times New Roman"/>
                  <a:cs typeface="Times New Roman"/>
                </a:rPr>
                <a:t>Two-stage Triton implementation</a:t>
              </a:r>
            </a:p>
          </p:txBody>
        </p:sp>
        <p:sp>
          <p:nvSpPr>
            <p:cNvPr id="313" name="Text: Inverse"/>
            <p:cNvSpPr txBox="1"/>
            <p:nvPr/>
          </p:nvSpPr>
          <p:spPr>
            <a:xfrm>
              <a:off x="7306056" y="6276441"/>
              <a:ext cx="659546" cy="237744"/>
            </a:xfrm>
            <a:prstGeom prst="rect">
              <a:avLst/>
            </a:prstGeom>
            <a:noFill/>
            <a:effectLst/>
          </p:spPr>
          <p:txBody>
            <a:bodyPr wrap="none" lIns="0" rIns="0" tIns="0" bIns="0" anchor="ctr">
              <a:noAutofit/>
            </a:bodyPr>
            <a:lstStyle/>
            <a:p>
              <a:pPr algn="l">
                <a:spcBef>
                  <a:spcPts val="0"/>
                </a:spcBef>
                <a:spcAft>
                  <a:spcPts val="0"/>
                </a:spcAft>
              </a:pPr>
              <a:r>
                <a:rPr sz="1728" b="0" i="0" baseline="0" lang="en-US" dirty="0">
                  <a:solidFill>
                    <a:srgbClr val="233E5D"/>
                  </a:solidFill>
                  <a:latin typeface="Times New Roman"/>
                  <a:ea typeface="Times New Roman"/>
                  <a:cs typeface="Times New Roman"/>
                </a:rPr>
                <a:t>Inverse</a:t>
              </a:r>
            </a:p>
          </p:txBody>
        </p:sp>
        <p:sp>
          <p:nvSpPr>
            <p:cNvPr id="314" name="Text:  "/>
            <p:cNvSpPr txBox="1"/>
            <p:nvPr/>
          </p:nvSpPr>
          <p:spPr>
            <a:xfrm>
              <a:off x="7951886" y="6276441"/>
              <a:ext cx="68580" cy="237744"/>
            </a:xfrm>
            <a:prstGeom prst="rect">
              <a:avLst/>
            </a:prstGeom>
            <a:noFill/>
            <a:effectLst/>
          </p:spPr>
          <p:txBody>
            <a:bodyPr wrap="none" lIns="0" rIns="0" tIns="0" bIns="0" anchor="ctr">
              <a:noAutofit/>
            </a:bodyPr>
            <a:lstStyle/>
            <a:p>
              <a:pPr algn="l">
                <a:spcBef>
                  <a:spcPts val="0"/>
                </a:spcBef>
                <a:spcAft>
                  <a:spcPts val="0"/>
                </a:spcAft>
              </a:pPr>
              <a:r>
                <a:rPr sz="1728" b="0" i="1" baseline="0" lang="en-US" dirty="0">
                  <a:solidFill>
                    <a:srgbClr val="233E5D"/>
                  </a:solidFill>
                  <a:latin typeface="Times New Roman"/>
                  <a:ea typeface="Times New Roman"/>
                  <a:cs typeface="Times New Roman"/>
                </a:rPr>
                <a:t> </a:t>
              </a:r>
            </a:p>
          </p:txBody>
        </p:sp>
        <p:sp>
          <p:nvSpPr>
            <p:cNvPr id="315" name="Text: rotation"/>
            <p:cNvSpPr txBox="1"/>
            <p:nvPr/>
          </p:nvSpPr>
          <p:spPr>
            <a:xfrm>
              <a:off x="8006750" y="6276441"/>
              <a:ext cx="696301" cy="237744"/>
            </a:xfrm>
            <a:prstGeom prst="rect">
              <a:avLst/>
            </a:prstGeom>
            <a:noFill/>
            <a:effectLst/>
          </p:spPr>
          <p:txBody>
            <a:bodyPr wrap="none" lIns="0" rIns="0" tIns="0" bIns="0" anchor="ctr">
              <a:noAutofit/>
            </a:bodyPr>
            <a:lstStyle/>
            <a:p>
              <a:pPr algn="l">
                <a:spcBef>
                  <a:spcPts val="0"/>
                </a:spcBef>
                <a:spcAft>
                  <a:spcPts val="0"/>
                </a:spcAft>
              </a:pPr>
              <a:r>
                <a:rPr sz="1728" b="0" i="0" baseline="0" lang="en-US" dirty="0">
                  <a:solidFill>
                    <a:srgbClr val="233E5D"/>
                  </a:solidFill>
                  <a:latin typeface="Times New Roman"/>
                  <a:ea typeface="Times New Roman"/>
                  <a:cs typeface="Times New Roman"/>
                </a:rPr>
                <a:t>rotation</a:t>
              </a:r>
            </a:p>
          </p:txBody>
        </p:sp>
        <p:sp>
          <p:nvSpPr>
            <p:cNvPr id="316" name="Text:  "/>
            <p:cNvSpPr txBox="1"/>
            <p:nvPr/>
          </p:nvSpPr>
          <p:spPr>
            <a:xfrm>
              <a:off x="8689336" y="6276441"/>
              <a:ext cx="68580" cy="237744"/>
            </a:xfrm>
            <a:prstGeom prst="rect">
              <a:avLst/>
            </a:prstGeom>
            <a:noFill/>
            <a:effectLst/>
          </p:spPr>
          <p:txBody>
            <a:bodyPr wrap="none" lIns="0" rIns="0" tIns="0" bIns="0" anchor="ctr">
              <a:noAutofit/>
            </a:bodyPr>
            <a:lstStyle/>
            <a:p>
              <a:pPr algn="l">
                <a:spcBef>
                  <a:spcPts val="0"/>
                </a:spcBef>
                <a:spcAft>
                  <a:spcPts val="0"/>
                </a:spcAft>
              </a:pPr>
              <a:r>
                <a:rPr sz="1728" b="0" i="1" baseline="0" lang="en-US" dirty="0">
                  <a:solidFill>
                    <a:srgbClr val="233E5D"/>
                  </a:solidFill>
                  <a:latin typeface="Times New Roman"/>
                  <a:ea typeface="Times New Roman"/>
                  <a:cs typeface="Times New Roman"/>
                </a:rPr>
                <a:t> </a:t>
              </a:r>
            </a:p>
          </p:txBody>
        </p:sp>
        <p:sp>
          <p:nvSpPr>
            <p:cNvPr id="317" name="Text: and"/>
            <p:cNvSpPr txBox="1"/>
            <p:nvPr/>
          </p:nvSpPr>
          <p:spPr>
            <a:xfrm>
              <a:off x="8744200" y="6276441"/>
              <a:ext cx="330577" cy="237744"/>
            </a:xfrm>
            <a:prstGeom prst="rect">
              <a:avLst/>
            </a:prstGeom>
            <a:noFill/>
            <a:effectLst/>
          </p:spPr>
          <p:txBody>
            <a:bodyPr wrap="none" lIns="0" rIns="0" tIns="0" bIns="0" anchor="ctr">
              <a:noAutofit/>
            </a:bodyPr>
            <a:lstStyle/>
            <a:p>
              <a:pPr algn="l">
                <a:spcBef>
                  <a:spcPts val="0"/>
                </a:spcBef>
                <a:spcAft>
                  <a:spcPts val="0"/>
                </a:spcAft>
              </a:pPr>
              <a:r>
                <a:rPr sz="1728" b="0" i="0" baseline="0" lang="en-US" dirty="0">
                  <a:solidFill>
                    <a:srgbClr val="233E5D"/>
                  </a:solidFill>
                  <a:latin typeface="Times New Roman"/>
                  <a:ea typeface="Times New Roman"/>
                  <a:cs typeface="Times New Roman"/>
                </a:rPr>
                <a:t>and</a:t>
              </a:r>
            </a:p>
          </p:txBody>
        </p:sp>
        <p:sp>
          <p:nvSpPr>
            <p:cNvPr id="318" name="Text:  R"/>
            <p:cNvSpPr txBox="1"/>
            <p:nvPr/>
          </p:nvSpPr>
          <p:spPr>
            <a:xfrm>
              <a:off x="9061061" y="6276441"/>
              <a:ext cx="202632" cy="237744"/>
            </a:xfrm>
            <a:prstGeom prst="rect">
              <a:avLst/>
            </a:prstGeom>
            <a:noFill/>
            <a:effectLst/>
          </p:spPr>
          <p:txBody>
            <a:bodyPr wrap="none" lIns="0" rIns="0" tIns="0" bIns="0" anchor="ctr">
              <a:noAutofit/>
            </a:bodyPr>
            <a:lstStyle/>
            <a:p>
              <a:pPr algn="l">
                <a:spcBef>
                  <a:spcPts val="0"/>
                </a:spcBef>
                <a:spcAft>
                  <a:spcPts val="0"/>
                </a:spcAft>
              </a:pPr>
              <a:r>
                <a:rPr sz="1728" b="0" i="1" baseline="0" lang="en-US" dirty="0">
                  <a:solidFill>
                    <a:srgbClr val="233E5D"/>
                  </a:solidFill>
                  <a:latin typeface="Times New Roman"/>
                  <a:ea typeface="Times New Roman"/>
                  <a:cs typeface="Times New Roman"/>
                </a:rPr>
                <a:t> R</a:t>
              </a:r>
            </a:p>
          </p:txBody>
        </p:sp>
        <p:sp>
          <p:nvSpPr>
            <p:cNvPr id="319" name="Text: 1"/>
            <p:cNvSpPr txBox="1"/>
            <p:nvPr/>
          </p:nvSpPr>
          <p:spPr>
            <a:xfrm>
              <a:off x="9286553" y="6347106"/>
              <a:ext cx="133731" cy="237744"/>
            </a:xfrm>
            <a:prstGeom prst="rect">
              <a:avLst/>
            </a:prstGeom>
            <a:noFill/>
            <a:effectLst/>
          </p:spPr>
          <p:txBody>
            <a:bodyPr wrap="none" lIns="0" rIns="0" tIns="0" bIns="0" anchor="ctr">
              <a:noAutofit/>
            </a:bodyPr>
            <a:lstStyle/>
            <a:p>
              <a:pPr algn="l">
                <a:spcBef>
                  <a:spcPts val="0"/>
                </a:spcBef>
                <a:spcAft>
                  <a:spcPts val="0"/>
                </a:spcAft>
              </a:pPr>
              <a:r>
                <a:rPr sz="1313" b="0" i="0" baseline="0" lang="en-US" dirty="0">
                  <a:solidFill>
                    <a:srgbClr val="233E5D"/>
                  </a:solidFill>
                  <a:latin typeface="Times New Roman"/>
                  <a:ea typeface="Times New Roman"/>
                  <a:cs typeface="Times New Roman"/>
                </a:rPr>
                <a:t>1</a:t>
              </a:r>
            </a:p>
          </p:txBody>
        </p:sp>
        <p:sp>
          <p:nvSpPr>
            <p:cNvPr id="320" name="Text:  "/>
            <p:cNvSpPr txBox="1"/>
            <p:nvPr/>
          </p:nvSpPr>
          <p:spPr>
            <a:xfrm>
              <a:off x="9369992" y="6276441"/>
              <a:ext cx="68580" cy="237744"/>
            </a:xfrm>
            <a:prstGeom prst="rect">
              <a:avLst/>
            </a:prstGeom>
            <a:noFill/>
            <a:effectLst/>
          </p:spPr>
          <p:txBody>
            <a:bodyPr wrap="none" lIns="0" rIns="0" tIns="0" bIns="0" anchor="ctr">
              <a:noAutofit/>
            </a:bodyPr>
            <a:lstStyle/>
            <a:p>
              <a:pPr algn="l">
                <a:spcBef>
                  <a:spcPts val="0"/>
                </a:spcBef>
                <a:spcAft>
                  <a:spcPts val="0"/>
                </a:spcAft>
              </a:pPr>
              <a:r>
                <a:rPr sz="1728" b="0" i="1" baseline="0" lang="en-US" dirty="0">
                  <a:solidFill>
                    <a:srgbClr val="233E5D"/>
                  </a:solidFill>
                  <a:latin typeface="Times New Roman"/>
                  <a:ea typeface="Times New Roman"/>
                  <a:cs typeface="Times New Roman"/>
                </a:rPr>
                <a:t> </a:t>
              </a:r>
            </a:p>
          </p:txBody>
        </p:sp>
        <p:sp>
          <p:nvSpPr>
            <p:cNvPr id="321" name="Text: output"/>
            <p:cNvSpPr txBox="1"/>
            <p:nvPr/>
          </p:nvSpPr>
          <p:spPr>
            <a:xfrm>
              <a:off x="9424856" y="6276441"/>
              <a:ext cx="574571" cy="237744"/>
            </a:xfrm>
            <a:prstGeom prst="rect">
              <a:avLst/>
            </a:prstGeom>
            <a:noFill/>
            <a:effectLst/>
          </p:spPr>
          <p:txBody>
            <a:bodyPr wrap="none" lIns="0" rIns="0" tIns="0" bIns="0" anchor="ctr">
              <a:noAutofit/>
            </a:bodyPr>
            <a:lstStyle/>
            <a:p>
              <a:pPr algn="l">
                <a:spcBef>
                  <a:spcPts val="0"/>
                </a:spcBef>
                <a:spcAft>
                  <a:spcPts val="0"/>
                </a:spcAft>
              </a:pPr>
              <a:r>
                <a:rPr sz="1728" b="0" i="0" baseline="0" lang="en-US" dirty="0">
                  <a:solidFill>
                    <a:srgbClr val="233E5D"/>
                  </a:solidFill>
                  <a:latin typeface="Times New Roman"/>
                  <a:ea typeface="Times New Roman"/>
                  <a:cs typeface="Times New Roman"/>
                </a:rPr>
                <a:t>output</a:t>
              </a:r>
            </a:p>
          </p:txBody>
        </p:sp>
        <p:sp>
          <p:nvSpPr>
            <p:cNvPr id="322" name="Text:  "/>
            <p:cNvSpPr txBox="1"/>
            <p:nvPr/>
          </p:nvSpPr>
          <p:spPr>
            <a:xfrm>
              <a:off x="9985712" y="6276441"/>
              <a:ext cx="68580" cy="237744"/>
            </a:xfrm>
            <a:prstGeom prst="rect">
              <a:avLst/>
            </a:prstGeom>
            <a:noFill/>
            <a:effectLst/>
          </p:spPr>
          <p:txBody>
            <a:bodyPr wrap="none" lIns="0" rIns="0" tIns="0" bIns="0" anchor="ctr">
              <a:noAutofit/>
            </a:bodyPr>
            <a:lstStyle/>
            <a:p>
              <a:pPr algn="l">
                <a:spcBef>
                  <a:spcPts val="0"/>
                </a:spcBef>
                <a:spcAft>
                  <a:spcPts val="0"/>
                </a:spcAft>
              </a:pPr>
              <a:r>
                <a:rPr sz="1728" b="0" i="1" baseline="0" lang="en-US" dirty="0">
                  <a:solidFill>
                    <a:srgbClr val="233E5D"/>
                  </a:solidFill>
                  <a:latin typeface="Times New Roman"/>
                  <a:ea typeface="Times New Roman"/>
                  <a:cs typeface="Times New Roman"/>
                </a:rPr>
                <a:t> </a:t>
              </a:r>
            </a:p>
          </p:txBody>
        </p:sp>
        <p:sp>
          <p:nvSpPr>
            <p:cNvPr id="323" name="Text: basis"/>
            <p:cNvSpPr txBox="1"/>
            <p:nvPr/>
          </p:nvSpPr>
          <p:spPr>
            <a:xfrm>
              <a:off x="10040576" y="6276441"/>
              <a:ext cx="452628" cy="237744"/>
            </a:xfrm>
            <a:prstGeom prst="rect">
              <a:avLst/>
            </a:prstGeom>
            <a:noFill/>
            <a:effectLst/>
          </p:spPr>
          <p:txBody>
            <a:bodyPr wrap="none" lIns="0" rIns="0" tIns="0" bIns="0" anchor="ctr">
              <a:noAutofit/>
            </a:bodyPr>
            <a:lstStyle/>
            <a:p>
              <a:pPr algn="l">
                <a:spcBef>
                  <a:spcPts val="0"/>
                </a:spcBef>
                <a:spcAft>
                  <a:spcPts val="0"/>
                </a:spcAft>
              </a:pPr>
              <a:r>
                <a:rPr sz="1728" b="0" i="0" baseline="0" lang="en-US" dirty="0">
                  <a:solidFill>
                    <a:srgbClr val="233E5D"/>
                  </a:solidFill>
                  <a:latin typeface="Times New Roman"/>
                  <a:ea typeface="Times New Roman"/>
                  <a:cs typeface="Times New Roman"/>
                </a:rPr>
                <a:t>basis</a:t>
              </a:r>
            </a:p>
          </p:txBody>
        </p:sp>
        <p:sp>
          <p:nvSpPr>
            <p:cNvPr id="324" name="Text:  "/>
            <p:cNvSpPr txBox="1"/>
            <p:nvPr/>
          </p:nvSpPr>
          <p:spPr>
            <a:xfrm>
              <a:off x="10479488" y="6276441"/>
              <a:ext cx="68580" cy="237744"/>
            </a:xfrm>
            <a:prstGeom prst="rect">
              <a:avLst/>
            </a:prstGeom>
            <a:noFill/>
            <a:effectLst/>
          </p:spPr>
          <p:txBody>
            <a:bodyPr wrap="none" lIns="0" rIns="0" tIns="0" bIns="0" anchor="ctr">
              <a:noAutofit/>
            </a:bodyPr>
            <a:lstStyle/>
            <a:p>
              <a:pPr algn="l">
                <a:spcBef>
                  <a:spcPts val="0"/>
                </a:spcBef>
                <a:spcAft>
                  <a:spcPts val="0"/>
                </a:spcAft>
              </a:pPr>
              <a:r>
                <a:rPr sz="1728" b="0" i="1" baseline="0" lang="en-US" dirty="0">
                  <a:solidFill>
                    <a:srgbClr val="233E5D"/>
                  </a:solidFill>
                  <a:latin typeface="Times New Roman"/>
                  <a:ea typeface="Times New Roman"/>
                  <a:cs typeface="Times New Roman"/>
                </a:rPr>
                <a:t> </a:t>
              </a:r>
            </a:p>
          </p:txBody>
        </p:sp>
        <p:sp>
          <p:nvSpPr>
            <p:cNvPr id="325" name="Text: folded"/>
            <p:cNvSpPr txBox="1"/>
            <p:nvPr/>
          </p:nvSpPr>
          <p:spPr>
            <a:xfrm>
              <a:off x="10534352" y="6276441"/>
              <a:ext cx="574357" cy="237744"/>
            </a:xfrm>
            <a:prstGeom prst="rect">
              <a:avLst/>
            </a:prstGeom>
            <a:noFill/>
            <a:effectLst/>
          </p:spPr>
          <p:txBody>
            <a:bodyPr wrap="none" lIns="0" rIns="0" tIns="0" bIns="0" anchor="ctr">
              <a:noAutofit/>
            </a:bodyPr>
            <a:lstStyle/>
            <a:p>
              <a:pPr algn="l">
                <a:spcBef>
                  <a:spcPts val="0"/>
                </a:spcBef>
                <a:spcAft>
                  <a:spcPts val="0"/>
                </a:spcAft>
              </a:pPr>
              <a:r>
                <a:rPr sz="1728" b="0" i="0" baseline="0" lang="en-US" dirty="0">
                  <a:solidFill>
                    <a:srgbClr val="233E5D"/>
                  </a:solidFill>
                  <a:latin typeface="Times New Roman"/>
                  <a:ea typeface="Times New Roman"/>
                  <a:cs typeface="Times New Roman"/>
                </a:rPr>
                <a:t>folded</a:t>
              </a:r>
            </a:p>
          </p:txBody>
        </p:sp>
        <p:sp>
          <p:nvSpPr>
            <p:cNvPr id="326" name="Text:  "/>
            <p:cNvSpPr txBox="1"/>
            <p:nvPr/>
          </p:nvSpPr>
          <p:spPr>
            <a:xfrm>
              <a:off x="11094993" y="6276441"/>
              <a:ext cx="68580" cy="237744"/>
            </a:xfrm>
            <a:prstGeom prst="rect">
              <a:avLst/>
            </a:prstGeom>
            <a:noFill/>
            <a:effectLst/>
          </p:spPr>
          <p:txBody>
            <a:bodyPr wrap="none" lIns="0" rIns="0" tIns="0" bIns="0" anchor="ctr">
              <a:noAutofit/>
            </a:bodyPr>
            <a:lstStyle/>
            <a:p>
              <a:pPr algn="l">
                <a:spcBef>
                  <a:spcPts val="0"/>
                </a:spcBef>
                <a:spcAft>
                  <a:spcPts val="0"/>
                </a:spcAft>
              </a:pPr>
              <a:r>
                <a:rPr sz="1728" b="0" i="1" baseline="0" lang="en-US" dirty="0">
                  <a:solidFill>
                    <a:srgbClr val="233E5D"/>
                  </a:solidFill>
                  <a:latin typeface="Times New Roman"/>
                  <a:ea typeface="Times New Roman"/>
                  <a:cs typeface="Times New Roman"/>
                </a:rPr>
                <a:t> </a:t>
              </a:r>
            </a:p>
          </p:txBody>
        </p:sp>
        <p:sp>
          <p:nvSpPr>
            <p:cNvPr id="327" name="Text: into"/>
            <p:cNvSpPr txBox="1"/>
            <p:nvPr/>
          </p:nvSpPr>
          <p:spPr>
            <a:xfrm>
              <a:off x="11149857" y="6276441"/>
              <a:ext cx="355115" cy="237744"/>
            </a:xfrm>
            <a:prstGeom prst="rect">
              <a:avLst/>
            </a:prstGeom>
            <a:noFill/>
            <a:effectLst/>
          </p:spPr>
          <p:txBody>
            <a:bodyPr wrap="none" lIns="0" rIns="0" tIns="0" bIns="0" anchor="ctr">
              <a:noAutofit/>
            </a:bodyPr>
            <a:lstStyle/>
            <a:p>
              <a:pPr algn="l">
                <a:spcBef>
                  <a:spcPts val="0"/>
                </a:spcBef>
                <a:spcAft>
                  <a:spcPts val="0"/>
                </a:spcAft>
              </a:pPr>
              <a:r>
                <a:rPr sz="1728" b="0" i="0" baseline="0" lang="en-US" dirty="0">
                  <a:solidFill>
                    <a:srgbClr val="233E5D"/>
                  </a:solidFill>
                  <a:latin typeface="Times New Roman"/>
                  <a:ea typeface="Times New Roman"/>
                  <a:cs typeface="Times New Roman"/>
                </a:rPr>
                <a:t>into</a:t>
              </a:r>
            </a:p>
          </p:txBody>
        </p:sp>
        <p:sp>
          <p:nvSpPr>
            <p:cNvPr id="328" name="Text:  W"/>
            <p:cNvSpPr txBox="1"/>
            <p:nvPr/>
          </p:nvSpPr>
          <p:spPr>
            <a:xfrm>
              <a:off x="11491257" y="6276441"/>
              <a:ext cx="251388" cy="237744"/>
            </a:xfrm>
            <a:prstGeom prst="rect">
              <a:avLst/>
            </a:prstGeom>
            <a:noFill/>
            <a:effectLst/>
          </p:spPr>
          <p:txBody>
            <a:bodyPr wrap="none" lIns="0" rIns="0" tIns="0" bIns="0" anchor="ctr">
              <a:noAutofit/>
            </a:bodyPr>
            <a:lstStyle/>
            <a:p>
              <a:pPr algn="l">
                <a:spcBef>
                  <a:spcPts val="0"/>
                </a:spcBef>
                <a:spcAft>
                  <a:spcPts val="0"/>
                </a:spcAft>
              </a:pPr>
              <a:r>
                <a:rPr sz="1728" b="0" i="1" baseline="0" lang="en-US" dirty="0">
                  <a:solidFill>
                    <a:srgbClr val="233E5D"/>
                  </a:solidFill>
                  <a:latin typeface="Times New Roman"/>
                  <a:ea typeface="Times New Roman"/>
                  <a:cs typeface="Times New Roman"/>
                </a:rPr>
                <a:t> W</a:t>
              </a:r>
            </a:p>
          </p:txBody>
        </p:sp>
        <p:sp>
          <p:nvSpPr>
            <p:cNvPr id="329" name="Text: D"/>
            <p:cNvSpPr txBox="1"/>
            <p:nvPr/>
          </p:nvSpPr>
          <p:spPr>
            <a:xfrm>
              <a:off x="11765506" y="6347106"/>
              <a:ext cx="170807" cy="237744"/>
            </a:xfrm>
            <a:prstGeom prst="rect">
              <a:avLst/>
            </a:prstGeom>
            <a:noFill/>
            <a:effectLst/>
          </p:spPr>
          <p:txBody>
            <a:bodyPr wrap="none" lIns="0" rIns="0" tIns="0" bIns="0" anchor="ctr">
              <a:noAutofit/>
            </a:bodyPr>
            <a:lstStyle/>
            <a:p>
              <a:pPr algn="l">
                <a:spcBef>
                  <a:spcPts val="0"/>
                </a:spcBef>
                <a:spcAft>
                  <a:spcPts val="0"/>
                </a:spcAft>
              </a:pPr>
              <a:r>
                <a:rPr sz="1313" b="0" i="0" baseline="0" lang="en-US" dirty="0">
                  <a:solidFill>
                    <a:srgbClr val="233E5D"/>
                  </a:solidFill>
                  <a:latin typeface="Times New Roman"/>
                  <a:ea typeface="Times New Roman"/>
                  <a:cs typeface="Times New Roman"/>
                </a:rPr>
                <a:t>D</a:t>
              </a:r>
            </a:p>
          </p:txBody>
        </p:sp>
      </p:grpSp>
      <p:grpSp>
        <p:nvGrpSpPr>
          <p:cNvPr id="330" name="05 Legend"/>
          <p:cNvGrpSpPr/>
          <p:nvPr/>
        </p:nvGrpSpPr>
        <p:grpSpPr>
          <a:xfrm>
            <a:off x="219456" y="6766560"/>
            <a:ext cx="14191488" cy="435656"/>
            <a:chOff x="219456" y="6766560"/>
            <a:chExt cx="14191488" cy="435656"/>
          </a:xfrm>
        </p:grpSpPr>
        <p:cxnSp>
          <p:nvCxnSpPr>
            <p:cNvPr id="331" name="Connector 330"/>
            <p:cNvCxnSpPr/>
            <p:nvPr/>
          </p:nvCxnSpPr>
          <p:spPr>
            <a:xfrm>
              <a:off x="219456" y="6766560"/>
              <a:ext cx="14191488" cy="0"/>
            </a:xfrm>
            <a:prstGeom prst="line">
              <a:avLst/>
            </a:prstGeom>
            <a:ln w="8890">
              <a:solidFill>
                <a:srgbClr val="BBC6D2"/>
              </a:solidFill>
            </a:ln>
            <a:effectLst/>
          </p:spPr>
          <p:style>
            <a:lnRef idx="2">
              <a:schemeClr val="accent1"/>
            </a:lnRef>
            <a:fillRef idx="0">
              <a:schemeClr val="accent1"/>
            </a:fillRef>
            <a:effectRef idx="0">
              <a:schemeClr val="accent1"/>
            </a:effectRef>
            <a:fontRef idx="minor">
              <a:schemeClr val="tx1"/>
            </a:fontRef>
          </p:style>
        </p:cxnSp>
        <p:sp>
          <p:nvSpPr>
            <p:cNvPr id="332" name="Rounded Rectangle 331"/>
            <p:cNvSpPr/>
            <p:nvPr/>
          </p:nvSpPr>
          <p:spPr>
            <a:xfrm>
              <a:off x="246888" y="6894576"/>
              <a:ext cx="310896" cy="274320"/>
            </a:xfrm>
            <a:prstGeom prst="roundRect">
              <a:avLst>
                <a:gd name="adj" fmla="val 16666"/>
              </a:avLst>
            </a:prstGeom>
            <a:solidFill>
              <a:srgbClr val="EFEAF5"/>
            </a:solidFill>
            <a:ln w="12065">
              <a:solidFill>
                <a:srgbClr val="644A8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3" name="Text: R"/>
            <p:cNvSpPr txBox="1"/>
            <p:nvPr/>
          </p:nvSpPr>
          <p:spPr>
            <a:xfrm>
              <a:off x="324136" y="6865315"/>
              <a:ext cx="170114" cy="256032"/>
            </a:xfrm>
            <a:prstGeom prst="rect">
              <a:avLst/>
            </a:prstGeom>
            <a:noFill/>
            <a:effectLst/>
          </p:spPr>
          <p:txBody>
            <a:bodyPr wrap="none" lIns="0" rIns="0" tIns="0" bIns="0" anchor="ctr">
              <a:noAutofit/>
            </a:bodyPr>
            <a:lstStyle/>
            <a:p>
              <a:pPr algn="l">
                <a:spcBef>
                  <a:spcPts val="0"/>
                </a:spcBef>
                <a:spcAft>
                  <a:spcPts val="0"/>
                </a:spcAft>
              </a:pPr>
              <a:r>
                <a:rPr sz="2016" b="0" i="1" baseline="0" lang="en-US" dirty="0">
                  <a:solidFill>
                    <a:srgbClr val="644A86"/>
                  </a:solidFill>
                  <a:latin typeface="Times New Roman"/>
                  <a:ea typeface="Times New Roman"/>
                  <a:cs typeface="Times New Roman"/>
                </a:rPr>
                <a:t>R</a:t>
              </a:r>
            </a:p>
          </p:txBody>
        </p:sp>
        <p:sp>
          <p:nvSpPr>
            <p:cNvPr id="334" name="Text: aligned rotation"/>
            <p:cNvSpPr txBox="1"/>
            <p:nvPr/>
          </p:nvSpPr>
          <p:spPr>
            <a:xfrm>
              <a:off x="649224" y="6876288"/>
              <a:ext cx="1856231" cy="310896"/>
            </a:xfrm>
            <a:prstGeom prst="rect">
              <a:avLst/>
            </a:prstGeom>
            <a:noFill/>
            <a:effectLst/>
          </p:spPr>
          <p:txBody>
            <a:bodyPr wrap="none" lIns="0" rIns="0" tIns="0" bIns="0" anchor="ctr">
              <a:noAutofit/>
            </a:bodyPr>
            <a:lstStyle/>
            <a:p>
              <a:pPr algn="l">
                <a:spcBef>
                  <a:spcPts val="0"/>
                </a:spcBef>
                <a:spcAft>
                  <a:spcPts val="0"/>
                </a:spcAft>
              </a:pPr>
              <a:r>
                <a:rPr sz="1655" b="0" i="0" baseline="0" lang="en-US" dirty="0">
                  <a:solidFill>
                    <a:srgbClr val="233E5D"/>
                  </a:solidFill>
                  <a:latin typeface="Times New Roman"/>
                  <a:ea typeface="Times New Roman"/>
                  <a:cs typeface="Times New Roman"/>
                </a:rPr>
                <a:t>aligned rotation</a:t>
              </a:r>
            </a:p>
          </p:txBody>
        </p:sp>
        <p:sp>
          <p:nvSpPr>
            <p:cNvPr id="335" name="Rounded Rectangle 334"/>
            <p:cNvSpPr/>
            <p:nvPr/>
          </p:nvSpPr>
          <p:spPr>
            <a:xfrm>
              <a:off x="2688336" y="6894576"/>
              <a:ext cx="310896" cy="274320"/>
            </a:xfrm>
            <a:prstGeom prst="roundRect">
              <a:avLst>
                <a:gd name="adj" fmla="val 16666"/>
              </a:avLst>
            </a:prstGeom>
            <a:solidFill>
              <a:srgbClr val="A8DADC"/>
            </a:solidFill>
            <a:ln w="12065">
              <a:solidFill>
                <a:srgbClr val="477F9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6" name="Text: H"/>
            <p:cNvSpPr txBox="1"/>
            <p:nvPr/>
          </p:nvSpPr>
          <p:spPr>
            <a:xfrm>
              <a:off x="2757937" y="6868058"/>
              <a:ext cx="185408" cy="256032"/>
            </a:xfrm>
            <a:prstGeom prst="rect">
              <a:avLst/>
            </a:prstGeom>
            <a:noFill/>
            <a:effectLst/>
          </p:spPr>
          <p:txBody>
            <a:bodyPr wrap="none" lIns="0" rIns="0" tIns="0" bIns="0" anchor="ctr">
              <a:noAutofit/>
            </a:bodyPr>
            <a:lstStyle/>
            <a:p>
              <a:pPr algn="l">
                <a:spcBef>
                  <a:spcPts val="0"/>
                </a:spcBef>
                <a:spcAft>
                  <a:spcPts val="0"/>
                </a:spcAft>
              </a:pPr>
              <a:r>
                <a:rPr sz="1872" b="0" i="1" baseline="0" lang="en-US" dirty="0">
                  <a:solidFill>
                    <a:srgbClr val="233E5D"/>
                  </a:solidFill>
                  <a:latin typeface="Times New Roman"/>
                  <a:ea typeface="Times New Roman"/>
                  <a:cs typeface="Times New Roman"/>
                </a:rPr>
                <a:t>H</a:t>
              </a:r>
            </a:p>
          </p:txBody>
        </p:sp>
        <p:sp>
          <p:nvSpPr>
            <p:cNvPr id="337" name="Text: block Hadamard"/>
            <p:cNvSpPr txBox="1"/>
            <p:nvPr/>
          </p:nvSpPr>
          <p:spPr>
            <a:xfrm>
              <a:off x="3090672" y="6876288"/>
              <a:ext cx="1929384" cy="310896"/>
            </a:xfrm>
            <a:prstGeom prst="rect">
              <a:avLst/>
            </a:prstGeom>
            <a:noFill/>
            <a:effectLst/>
          </p:spPr>
          <p:txBody>
            <a:bodyPr wrap="none" lIns="0" rIns="0" tIns="0" bIns="0" anchor="ctr">
              <a:noAutofit/>
            </a:bodyPr>
            <a:lstStyle/>
            <a:p>
              <a:pPr algn="l">
                <a:spcBef>
                  <a:spcPts val="0"/>
                </a:spcBef>
                <a:spcAft>
                  <a:spcPts val="0"/>
                </a:spcAft>
              </a:pPr>
              <a:r>
                <a:rPr sz="1655" b="0" i="0" baseline="0" lang="en-US" dirty="0">
                  <a:solidFill>
                    <a:srgbClr val="233E5D"/>
                  </a:solidFill>
                  <a:latin typeface="Times New Roman"/>
                  <a:ea typeface="Times New Roman"/>
                  <a:cs typeface="Times New Roman"/>
                </a:rPr>
                <a:t>block Hadamard</a:t>
              </a:r>
            </a:p>
          </p:txBody>
        </p:sp>
        <p:sp>
          <p:nvSpPr>
            <p:cNvPr id="338" name="Rounded Rectangle 337"/>
            <p:cNvSpPr/>
            <p:nvPr/>
          </p:nvSpPr>
          <p:spPr>
            <a:xfrm>
              <a:off x="5148072" y="6894576"/>
              <a:ext cx="310896" cy="274320"/>
            </a:xfrm>
            <a:prstGeom prst="roundRect">
              <a:avLst>
                <a:gd name="adj" fmla="val 16666"/>
              </a:avLst>
            </a:prstGeom>
            <a:solidFill>
              <a:srgbClr val="F4F7ED"/>
            </a:solidFill>
            <a:ln w="12065">
              <a:solidFill>
                <a:srgbClr val="BBC6D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9" name="Text: W"/>
            <p:cNvSpPr txBox="1"/>
            <p:nvPr/>
          </p:nvSpPr>
          <p:spPr>
            <a:xfrm>
              <a:off x="5204496" y="6868058"/>
              <a:ext cx="211762" cy="256032"/>
            </a:xfrm>
            <a:prstGeom prst="rect">
              <a:avLst/>
            </a:prstGeom>
            <a:noFill/>
            <a:effectLst/>
          </p:spPr>
          <p:txBody>
            <a:bodyPr wrap="none" lIns="0" rIns="0" tIns="0" bIns="0" anchor="ctr">
              <a:noAutofit/>
            </a:bodyPr>
            <a:lstStyle/>
            <a:p>
              <a:pPr algn="l">
                <a:spcBef>
                  <a:spcPts val="0"/>
                </a:spcBef>
                <a:spcAft>
                  <a:spcPts val="0"/>
                </a:spcAft>
              </a:pPr>
              <a:r>
                <a:rPr sz="1872" b="0" i="1" baseline="0" lang="en-US" dirty="0">
                  <a:solidFill>
                    <a:srgbClr val="233E5D"/>
                  </a:solidFill>
                  <a:latin typeface="Times New Roman"/>
                  <a:ea typeface="Times New Roman"/>
                  <a:cs typeface="Times New Roman"/>
                </a:rPr>
                <a:t>W</a:t>
              </a:r>
            </a:p>
          </p:txBody>
        </p:sp>
        <p:sp>
          <p:nvSpPr>
            <p:cNvPr id="340" name="Text: folded weight"/>
            <p:cNvSpPr txBox="1"/>
            <p:nvPr/>
          </p:nvSpPr>
          <p:spPr>
            <a:xfrm>
              <a:off x="5559552" y="6876288"/>
              <a:ext cx="1600200" cy="310896"/>
            </a:xfrm>
            <a:prstGeom prst="rect">
              <a:avLst/>
            </a:prstGeom>
            <a:noFill/>
            <a:effectLst/>
          </p:spPr>
          <p:txBody>
            <a:bodyPr wrap="none" lIns="0" rIns="0" tIns="0" bIns="0" anchor="ctr">
              <a:noAutofit/>
            </a:bodyPr>
            <a:lstStyle/>
            <a:p>
              <a:pPr algn="l">
                <a:spcBef>
                  <a:spcPts val="0"/>
                </a:spcBef>
                <a:spcAft>
                  <a:spcPts val="0"/>
                </a:spcAft>
              </a:pPr>
              <a:r>
                <a:rPr sz="1655" b="0" i="0" baseline="0" lang="en-US" dirty="0">
                  <a:solidFill>
                    <a:srgbClr val="233E5D"/>
                  </a:solidFill>
                  <a:latin typeface="Times New Roman"/>
                  <a:ea typeface="Times New Roman"/>
                  <a:cs typeface="Times New Roman"/>
                </a:rPr>
                <a:t>folded weight</a:t>
              </a:r>
            </a:p>
          </p:txBody>
        </p:sp>
        <p:sp>
          <p:nvSpPr>
            <p:cNvPr id="341" name="Rounded Rectangle 340"/>
            <p:cNvSpPr/>
            <p:nvPr/>
          </p:nvSpPr>
          <p:spPr>
            <a:xfrm>
              <a:off x="7278624" y="6894576"/>
              <a:ext cx="374904" cy="274320"/>
            </a:xfrm>
            <a:prstGeom prst="roundRect">
              <a:avLst>
                <a:gd name="adj" fmla="val 16666"/>
              </a:avLst>
            </a:prstGeom>
            <a:solidFill>
              <a:srgbClr val="E7F1F6"/>
            </a:solidFill>
            <a:ln w="12065">
              <a:solidFill>
                <a:srgbClr val="477F9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2" name="Text: A"/>
            <p:cNvSpPr txBox="1"/>
            <p:nvPr/>
          </p:nvSpPr>
          <p:spPr>
            <a:xfrm>
              <a:off x="7325519" y="6866686"/>
              <a:ext cx="164527" cy="256032"/>
            </a:xfrm>
            <a:prstGeom prst="rect">
              <a:avLst/>
            </a:prstGeom>
            <a:noFill/>
            <a:effectLst/>
          </p:spPr>
          <p:txBody>
            <a:bodyPr wrap="none" lIns="0" rIns="0" tIns="0" bIns="0" anchor="ctr">
              <a:noAutofit/>
            </a:bodyPr>
            <a:lstStyle/>
            <a:p>
              <a:pPr algn="l">
                <a:spcBef>
                  <a:spcPts val="0"/>
                </a:spcBef>
                <a:spcAft>
                  <a:spcPts val="0"/>
                </a:spcAft>
              </a:pPr>
              <a:r>
                <a:rPr sz="1943" b="0" i="1" baseline="0" lang="en-US" dirty="0">
                  <a:solidFill>
                    <a:srgbClr val="477F9F"/>
                  </a:solidFill>
                  <a:latin typeface="Times New Roman"/>
                  <a:ea typeface="Times New Roman"/>
                  <a:cs typeface="Times New Roman"/>
                </a:rPr>
                <a:t>A</a:t>
              </a:r>
            </a:p>
          </p:txBody>
        </p:sp>
        <p:sp>
          <p:nvSpPr>
            <p:cNvPr id="343" name="Text: 4"/>
            <p:cNvSpPr txBox="1"/>
            <p:nvPr/>
          </p:nvSpPr>
          <p:spPr>
            <a:xfrm>
              <a:off x="7512906" y="6946184"/>
              <a:ext cx="144018" cy="256032"/>
            </a:xfrm>
            <a:prstGeom prst="rect">
              <a:avLst/>
            </a:prstGeom>
            <a:noFill/>
            <a:effectLst/>
          </p:spPr>
          <p:txBody>
            <a:bodyPr wrap="none" lIns="0" rIns="0" tIns="0" bIns="0" anchor="ctr">
              <a:noAutofit/>
            </a:bodyPr>
            <a:lstStyle/>
            <a:p>
              <a:pPr algn="l">
                <a:spcBef>
                  <a:spcPts val="0"/>
                </a:spcBef>
                <a:spcAft>
                  <a:spcPts val="0"/>
                </a:spcAft>
              </a:pPr>
              <a:r>
                <a:rPr sz="1477" b="0" i="0" baseline="0" lang="en-US" dirty="0">
                  <a:solidFill>
                    <a:srgbClr val="477F9F"/>
                  </a:solidFill>
                  <a:latin typeface="Times New Roman"/>
                  <a:ea typeface="Times New Roman"/>
                  <a:cs typeface="Times New Roman"/>
                </a:rPr>
                <a:t>4</a:t>
              </a:r>
            </a:p>
          </p:txBody>
        </p:sp>
        <p:sp>
          <p:nvSpPr>
            <p:cNvPr id="344" name="Text: activation quantization"/>
            <p:cNvSpPr txBox="1"/>
            <p:nvPr/>
          </p:nvSpPr>
          <p:spPr>
            <a:xfrm>
              <a:off x="7754112" y="6876288"/>
              <a:ext cx="2130552" cy="310896"/>
            </a:xfrm>
            <a:prstGeom prst="rect">
              <a:avLst/>
            </a:prstGeom>
            <a:noFill/>
            <a:effectLst/>
          </p:spPr>
          <p:txBody>
            <a:bodyPr wrap="none" lIns="0" rIns="0" tIns="0" bIns="0" anchor="ctr">
              <a:noAutofit/>
            </a:bodyPr>
            <a:lstStyle/>
            <a:p>
              <a:pPr algn="l">
                <a:spcBef>
                  <a:spcPts val="0"/>
                </a:spcBef>
                <a:spcAft>
                  <a:spcPts val="0"/>
                </a:spcAft>
              </a:pPr>
              <a:r>
                <a:rPr sz="1655" b="0" i="0" baseline="0" lang="en-US" dirty="0">
                  <a:solidFill>
                    <a:srgbClr val="233E5D"/>
                  </a:solidFill>
                  <a:latin typeface="Times New Roman"/>
                  <a:ea typeface="Times New Roman"/>
                  <a:cs typeface="Times New Roman"/>
                </a:rPr>
                <a:t>activation quantization</a:t>
              </a:r>
            </a:p>
          </p:txBody>
        </p:sp>
        <p:sp>
          <p:nvSpPr>
            <p:cNvPr id="345" name="Rounded Rectangle 344"/>
            <p:cNvSpPr/>
            <p:nvPr/>
          </p:nvSpPr>
          <p:spPr>
            <a:xfrm>
              <a:off x="10104120" y="6912864"/>
              <a:ext cx="667512" cy="237744"/>
            </a:xfrm>
            <a:prstGeom prst="roundRect">
              <a:avLst>
                <a:gd name="adj" fmla="val 19230"/>
              </a:avLst>
            </a:prstGeom>
            <a:solidFill>
              <a:srgbClr val="E7F1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6" name="Text: online"/>
            <p:cNvSpPr txBox="1"/>
            <p:nvPr/>
          </p:nvSpPr>
          <p:spPr>
            <a:xfrm>
              <a:off x="10104120" y="6912864"/>
              <a:ext cx="667512" cy="237744"/>
            </a:xfrm>
            <a:prstGeom prst="rect">
              <a:avLst/>
            </a:prstGeom>
            <a:noFill/>
            <a:effectLst/>
          </p:spPr>
          <p:txBody>
            <a:bodyPr wrap="none" lIns="0" rIns="0" tIns="0" bIns="0" anchor="ctr">
              <a:noAutofit/>
            </a:bodyPr>
            <a:lstStyle/>
            <a:p>
              <a:pPr algn="ctr">
                <a:spcBef>
                  <a:spcPts val="0"/>
                </a:spcBef>
                <a:spcAft>
                  <a:spcPts val="0"/>
                </a:spcAft>
              </a:pPr>
              <a:r>
                <a:rPr sz="1584" b="0" i="0" baseline="0" lang="en-US" dirty="0">
                  <a:solidFill>
                    <a:srgbClr val="477F9F"/>
                  </a:solidFill>
                  <a:latin typeface="Times New Roman"/>
                  <a:ea typeface="Times New Roman"/>
                  <a:cs typeface="Times New Roman"/>
                </a:rPr>
                <a:t>online</a:t>
              </a:r>
            </a:p>
          </p:txBody>
        </p:sp>
        <p:sp>
          <p:nvSpPr>
            <p:cNvPr id="347" name="Text: execution"/>
            <p:cNvSpPr txBox="1"/>
            <p:nvPr/>
          </p:nvSpPr>
          <p:spPr>
            <a:xfrm>
              <a:off x="10872216" y="6876288"/>
              <a:ext cx="1033271" cy="310896"/>
            </a:xfrm>
            <a:prstGeom prst="rect">
              <a:avLst/>
            </a:prstGeom>
            <a:noFill/>
            <a:effectLst/>
          </p:spPr>
          <p:txBody>
            <a:bodyPr wrap="none" lIns="0" rIns="0" tIns="0" bIns="0" anchor="ctr">
              <a:noAutofit/>
            </a:bodyPr>
            <a:lstStyle/>
            <a:p>
              <a:pPr algn="l">
                <a:spcBef>
                  <a:spcPts val="0"/>
                </a:spcBef>
                <a:spcAft>
                  <a:spcPts val="0"/>
                </a:spcAft>
              </a:pPr>
              <a:r>
                <a:rPr sz="1655" b="0" i="0" baseline="0" lang="en-US" dirty="0">
                  <a:solidFill>
                    <a:srgbClr val="233E5D"/>
                  </a:solidFill>
                  <a:latin typeface="Times New Roman"/>
                  <a:ea typeface="Times New Roman"/>
                  <a:cs typeface="Times New Roman"/>
                </a:rPr>
                <a:t>execution</a:t>
              </a:r>
            </a:p>
          </p:txBody>
        </p:sp>
        <p:sp>
          <p:nvSpPr>
            <p:cNvPr id="348" name="Rounded Rectangle 347"/>
            <p:cNvSpPr/>
            <p:nvPr/>
          </p:nvSpPr>
          <p:spPr>
            <a:xfrm>
              <a:off x="12070080" y="6894576"/>
              <a:ext cx="594360" cy="274320"/>
            </a:xfrm>
            <a:prstGeom prst="roundRect">
              <a:avLst>
                <a:gd name="adj" fmla="val 16666"/>
              </a:avLst>
            </a:prstGeom>
            <a:solidFill>
              <a:srgbClr val="F7E7DC"/>
            </a:solidFill>
            <a:ln w="12065">
              <a:solidFill>
                <a:srgbClr val="C38F7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9" name="Text: K / V"/>
            <p:cNvSpPr txBox="1"/>
            <p:nvPr/>
          </p:nvSpPr>
          <p:spPr>
            <a:xfrm>
              <a:off x="12097512" y="6903720"/>
              <a:ext cx="539496" cy="256032"/>
            </a:xfrm>
            <a:prstGeom prst="rect">
              <a:avLst/>
            </a:prstGeom>
            <a:noFill/>
            <a:effectLst/>
          </p:spPr>
          <p:txBody>
            <a:bodyPr wrap="none" lIns="0" rIns="0" tIns="0" bIns="0" anchor="ctr">
              <a:noAutofit/>
            </a:bodyPr>
            <a:lstStyle/>
            <a:p>
              <a:pPr algn="ctr">
                <a:spcBef>
                  <a:spcPts val="0"/>
                </a:spcBef>
                <a:spcAft>
                  <a:spcPts val="0"/>
                </a:spcAft>
              </a:pPr>
              <a:r>
                <a:rPr sz="1655" b="0" i="0" baseline="0" lang="en-US" dirty="0">
                  <a:solidFill>
                    <a:srgbClr val="233E5D"/>
                  </a:solidFill>
                  <a:latin typeface="Times New Roman"/>
                  <a:ea typeface="Times New Roman"/>
                  <a:cs typeface="Times New Roman"/>
                </a:rPr>
                <a:t>K / V</a:t>
              </a:r>
            </a:p>
          </p:txBody>
        </p:sp>
        <p:sp>
          <p:nvSpPr>
            <p:cNvPr id="350" name="Text: cache"/>
            <p:cNvSpPr txBox="1"/>
            <p:nvPr/>
          </p:nvSpPr>
          <p:spPr>
            <a:xfrm>
              <a:off x="12765024" y="6876288"/>
              <a:ext cx="1371600" cy="310896"/>
            </a:xfrm>
            <a:prstGeom prst="rect">
              <a:avLst/>
            </a:prstGeom>
            <a:noFill/>
            <a:effectLst/>
          </p:spPr>
          <p:txBody>
            <a:bodyPr wrap="none" lIns="0" rIns="0" tIns="0" bIns="0" anchor="ctr">
              <a:noAutofit/>
            </a:bodyPr>
            <a:lstStyle/>
            <a:p>
              <a:pPr algn="l">
                <a:spcBef>
                  <a:spcPts val="0"/>
                </a:spcBef>
                <a:spcAft>
                  <a:spcPts val="0"/>
                </a:spcAft>
              </a:pPr>
              <a:r>
                <a:rPr sz="1655" b="0" i="0" baseline="0" lang="en-US" dirty="0">
                  <a:solidFill>
                    <a:srgbClr val="233E5D"/>
                  </a:solidFill>
                  <a:latin typeface="Times New Roman"/>
                  <a:ea typeface="Times New Roman"/>
                  <a:cs typeface="Times New Roman"/>
                </a:rPr>
                <a:t>cache</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PrismQuant: aligned rotation and affine INT4 representation</dc:title>
  <dc:subject>Editable method schematic, refined from the supplied layout</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